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a57f3a11-7860-0b21-b610-d5400f3be00c}">
          <p14:sldIdLst>
            <p14:sldId id="256"/>
            <p14:sldId id="257"/>
            <p14:sldId id="258"/>
          </p14:sldIdLst>
        </p14:section>
        <p14:section name="구조와 범위" id="{c495edac-9993-52c3-00dc-7c642f8d7fac}">
          <p14:sldIdLst>
            <p14:sldId id="259"/>
            <p14:sldId id="260"/>
            <p14:sldId id="261"/>
          </p14:sldIdLst>
        </p14:section>
        <p14:section name="설계" id="{e7b5ca93-2a15-31fb-17e7-d8a8e9a1b7ff}">
          <p14:sldIdLst>
            <p14:sldId id="262"/>
            <p14:sldId id="263"/>
          </p14:sldIdLst>
        </p14:section>
        <p14:section name="데모와 문서" id="{8cae708d-eb01-cf23-27fc-584e30efc04a}">
          <p14:sldIdLst>
            <p14:sldId id="264"/>
            <p14:sldId id="265"/>
            <p14:sldId id="266"/>
          </p14:sldIdLst>
        </p14:section>
        <p14:section name="마무리" id="{2d32ef02-4048-ac7b-3874-e4ee8a8ecd0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○○○입니다. 오늘은 저희가 만들고 있는 Meerkit을 소개할게요. 한 줄로 말하면, 프로젝트가 뭐든 간에 밑에서 받쳐 주는 기반입니다. 지금까지 뭘 만들었는지 보여 드리고, 다음 주에는 이걸로 진짜 서비스를 하나 세워 보겠습니다.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새 프로젝트를 시작하면 이상하게 시작이 늘 똑같아요. 쇼핑몰이든, 커뮤니티든, AI 서비스든 제일 먼저 만드는 게 회원가입, 로그인, 비밀번호 찾기, 권한, 관리자 화면입니다. 정작 내가 만들고 싶은 핵심 기능은 한참 뒤에 나오죠. 게다가 이건 보안이랑 붙어 있어서, 매번 새로 만들 때마다 실수할 위험도 같이 따라옵니다. 저희도 이 시간이 꽤 아까웠어요. (실제 겪은 일을 한 문장 더하세요)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이 공통 부분을 통째로 템플릿으로 만들었어요. 이름이 Meerkit이에요. 먼저 오해 하나만 풀고 갈게요. 저희 주제에 AI가 들어 있어서 'AI 서비스 전용이구나' 하실 수 있는데, 전혀 아니에요. 로그인과 권한이 필요한 프로젝트라면 뭐든 쓸 수 있습니다. 쇼핑몰이든, 커뮤니티든, 사내 관리 도구든요. AI 부품은 '필요하면 붙이는 선택 상자' 정도로 생각해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구조는 건물 같아요. 맨 위에 내 서비스가 있고, 그 아래 바닥을 Meerkit이 깔아 줍니다. 가입, 로그인, 권한, 관리자 화면이 여기에 있어요. 그 밑은 서버와 데이터베이스고요. 중요한 건 킷 코드와 서비스 코드를 폴더로 딱 나눴다는 거예요. 그래서 개발자는 자기 서비스만 신경 쓰면 되고, 킷이 업데이트돼도 내 서비스가 깨지지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쓰는 사람은 세 부류예요. 킷을 가져다 쓰는 개발자, 그 서비스를 운영하는 관리자, 그리고 서비스를 이용하는 일반 사용자. 일반 사용자는 가입하고 로그인하고, 관리자는 멤버를 찾고 권한을 바꾸고, 개발자는 이 모든 걸 설정 파일 하나로 조절합니다.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범위는 세 칸으로 나눠서 말씀드릴게요. 왼쪽이 기본으로 들어 있는 것, 인증과 권한과 관리자 화면이에요. 가운데는 있으면 편한 선택 부품인데, AI 입력창이나 음성 입력 같은 게 여기 있어요. 이건 화면만 만든 거라 AI 호출은 서비스에서 연결합니다. 오른쪽은 일부러 뺀 것이에요. 소셜 로그인이나 세부 권한은 다음으로 미뤘습니다. 다 하려다 아무것도 못 끝내는 것보다, 끝까지 쓸 수 있는 범위를 먼저 완성하는 쪽을 골랐어요.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기획은 팀 회의에서 시작했어요. 화이트보드에 회원 테이블을 그리면서 세 가지를 정했습니다. 첫째, 로그인은 이메일이 아니라 아이디로. 둘째, 권한은 사용자 테이블에 박지 않고 roles 테이블로 분리. 셋째, 탈퇴는 진짜 지우지 않고 삭제 시각만 기록. 이유는 간단해요. 권한이 늘어도 사용자 테이블을 안 고쳐도 되고, 나중에 이력도 남길 수 있거든요.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지킨 원칙이 세 가지예요. 하나, 버튼을 숨기는 건 보호가 아니라서 권한은 항상 서버가 다시 검사해요. 둘, 토큰은 훔쳐 가기 어렵게 하나는 메모리에만, 하나는 자바스크립트가 못 읽는 쿠키에 둬요. 셋, 개발자가 코드를 뜯지 않고 설정 파일 하나로 잠금 횟수, 가입 항목, 테마, 로딩 모양까지 바꾸게 했어요.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데모 대본: 1) 웰컴에서 로그인/회원가입 버튼 → 모달. 2) docs/signup-form에서 닉네임, 주소, 이메일 인증을 켜고 끄기 — 이 버튼이 설정 파일의 한 줄. 3) docs/login-lockout에서 3번 틀려 잠금. 4) docs/member-directory에서 검색, 역할 필터, 페이지 이동. 5) 역할 변경 확인 창, 내 관리자 권한 낮추기 경고. 6) meerkit.config.ts 열기. 실패 대비: 미리 녹화한 영상으로 넘어갑니다.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아까 말한 선택 부품을 잠깐 보여 드릴게요. 이건 AI 입력창인데, 마이크를 누르면 말한 게 글로 들어가고 목소리에 따라 이렇게 파동이 일렁여요. 로딩 표시도 9가지 스타일이 있고요. 다만 솔직하게, 이건 화면만 만들었어요. 음성을 글로 바꾸거나 AI가 답하는 건 서비스에서 연결하는 몫이에요. AI 서비스를 만드시는 분께는 보너스고, 아니면 안 쓰셔도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킷은 쓰는 법을 모르면 소용없어서 설명서도 같이 만들었어요. shadcn 문서처럼 생겼고 41페이지예요. 컴포넌트마다 직접 눌러 볼 수 있는 미리보기, 복사해서 쓰는 코드, 속성 표가 있어요. 검색도 되고요. 개발자는 이 문서만 보고 기능을 켜고 끌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솔직하게 말씀드리면, 기획, 화면, 문서는 끝났고 서버 연동이랑 한 줄 세팅은 아직 안 했어요. 방금 보신 화면은 서버 없이 가짜 데이터로 돌아간 거예요. 대신 서버가 지켜야 할 API 약속은 문서에 이미 정해 뒀어서, 백엔드는 그 약속대로 만들면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 주에는 오늘 보신 기반 위에 가상의 서비스를 하나 올려서 보여 드릴게요. 정리하면, 어떤 프로젝트를 하시든 가입, 로그인, 권한 관리는 똑같이 필요하고, 그걸 매번 새로 만들지 않도록 Meerkit이 밑에서 받쳐 준다는 게 오늘 이야기의 전부예요.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Meerkit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erki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118872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182880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</a:rPr>
              <a:t>Meerkit</a:t>
            </a:r>
            <a:endParaRPr lang="en-US" sz="7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154680"/>
            <a:ext cx="6858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CBD2E1"/>
                </a:solidFill>
              </a:rPr>
              <a:t>어떤 프로젝트든 받쳐 주는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CBD2E1"/>
                </a:solidFill>
              </a:rPr>
              <a:t>인증·권한 스타터킷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760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</a:rPr>
              <a:t>1차 발표  ·  ○○○  ·  2026.10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프로젝트는 달라도, 시작은 늘 같다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653796" y="18288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bg"/>
          <p:cNvSpPr/>
          <p:nvPr/>
        </p:nvSpPr>
        <p:spPr>
          <a:xfrm>
            <a:off x="1202436" y="2148840"/>
            <a:ext cx="822960" cy="82296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3545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3796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회원가입</a:t>
            </a:r>
            <a:endParaRPr lang="en-US" sz="1800" dirty="0"/>
          </a:p>
        </p:txBody>
      </p:sp>
      <p:sp>
        <p:nvSpPr>
          <p:cNvPr id="7" name="card"/>
          <p:cNvSpPr/>
          <p:nvPr/>
        </p:nvSpPr>
        <p:spPr>
          <a:xfrm>
            <a:off x="2894076" y="18288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icon-bg"/>
          <p:cNvSpPr/>
          <p:nvPr/>
        </p:nvSpPr>
        <p:spPr>
          <a:xfrm>
            <a:off x="3442716" y="2148840"/>
            <a:ext cx="822960" cy="82296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9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3545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94076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로그인</a:t>
            </a:r>
            <a:endParaRPr lang="en-US" sz="1800" dirty="0"/>
          </a:p>
        </p:txBody>
      </p:sp>
      <p:sp>
        <p:nvSpPr>
          <p:cNvPr id="11" name="card"/>
          <p:cNvSpPr/>
          <p:nvPr/>
        </p:nvSpPr>
        <p:spPr>
          <a:xfrm>
            <a:off x="5134356" y="18288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icon-bg"/>
          <p:cNvSpPr/>
          <p:nvPr/>
        </p:nvSpPr>
        <p:spPr>
          <a:xfrm>
            <a:off x="5682996" y="2148840"/>
            <a:ext cx="822960" cy="82296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13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35458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34356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비밀번호 찾기</a:t>
            </a:r>
            <a:endParaRPr lang="en-US" sz="1800" dirty="0"/>
          </a:p>
        </p:txBody>
      </p:sp>
      <p:sp>
        <p:nvSpPr>
          <p:cNvPr id="15" name="card"/>
          <p:cNvSpPr/>
          <p:nvPr/>
        </p:nvSpPr>
        <p:spPr>
          <a:xfrm>
            <a:off x="7374636" y="18288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bg"/>
          <p:cNvSpPr/>
          <p:nvPr/>
        </p:nvSpPr>
        <p:spPr>
          <a:xfrm>
            <a:off x="7923276" y="2148840"/>
            <a:ext cx="822960" cy="82296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17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3545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74636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권한</a:t>
            </a:r>
            <a:endParaRPr lang="en-US" sz="1800" dirty="0"/>
          </a:p>
        </p:txBody>
      </p:sp>
      <p:sp>
        <p:nvSpPr>
          <p:cNvPr id="19" name="card"/>
          <p:cNvSpPr/>
          <p:nvPr/>
        </p:nvSpPr>
        <p:spPr>
          <a:xfrm>
            <a:off x="9614916" y="1828800"/>
            <a:ext cx="1920240" cy="2286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icon-bg"/>
          <p:cNvSpPr/>
          <p:nvPr/>
        </p:nvSpPr>
        <p:spPr>
          <a:xfrm>
            <a:off x="10163556" y="2148840"/>
            <a:ext cx="822960" cy="82296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21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235458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14916" y="3200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관리자 화면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640080" y="45262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B7280"/>
                </a:solidFill>
              </a:rPr>
              <a:t>서비스가 뭐든, 제일 먼저 만드는 건 이것들</a:t>
            </a:r>
            <a:endParaRPr lang="en-US" sz="20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430"/>
                </a:solidFill>
              </a:rPr>
              <a:t>정작 만들고 싶은 핵심 기능은 한참 뒤에 나온다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AI 서비스가 아니어도 됩니다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2E1"/>
                </a:solidFill>
              </a:rPr>
              <a:t>로그인과 권한이 필요한 프로젝트라면, 뭐든.</a:t>
            </a:r>
            <a:endParaRPr lang="en-US" sz="2000" dirty="0"/>
          </a:p>
        </p:txBody>
      </p:sp>
      <p:sp>
        <p:nvSpPr>
          <p:cNvPr id="4" name="use-card"/>
          <p:cNvSpPr/>
          <p:nvPr/>
        </p:nvSpPr>
        <p:spPr>
          <a:xfrm>
            <a:off x="653796" y="22860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5" name="icon-bg"/>
          <p:cNvSpPr/>
          <p:nvPr/>
        </p:nvSpPr>
        <p:spPr>
          <a:xfrm>
            <a:off x="1202436" y="2606040"/>
            <a:ext cx="822960" cy="8229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6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8176" y="28117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53796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쇼핑몰</a:t>
            </a:r>
            <a:endParaRPr lang="en-US" sz="1800" dirty="0"/>
          </a:p>
        </p:txBody>
      </p:sp>
      <p:sp>
        <p:nvSpPr>
          <p:cNvPr id="8" name="use-card"/>
          <p:cNvSpPr/>
          <p:nvPr/>
        </p:nvSpPr>
        <p:spPr>
          <a:xfrm>
            <a:off x="2894076" y="22860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9" name="icon-bg"/>
          <p:cNvSpPr/>
          <p:nvPr/>
        </p:nvSpPr>
        <p:spPr>
          <a:xfrm>
            <a:off x="3442716" y="2606040"/>
            <a:ext cx="822960" cy="8229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8456" y="281178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894076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커뮤니티</a:t>
            </a:r>
            <a:endParaRPr lang="en-US" sz="1800" dirty="0"/>
          </a:p>
        </p:txBody>
      </p:sp>
      <p:sp>
        <p:nvSpPr>
          <p:cNvPr id="12" name="use-card"/>
          <p:cNvSpPr/>
          <p:nvPr/>
        </p:nvSpPr>
        <p:spPr>
          <a:xfrm>
            <a:off x="5134356" y="22860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13" name="icon-bg"/>
          <p:cNvSpPr/>
          <p:nvPr/>
        </p:nvSpPr>
        <p:spPr>
          <a:xfrm>
            <a:off x="5682996" y="2606040"/>
            <a:ext cx="822960" cy="8229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4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8117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5134356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사내 도구</a:t>
            </a:r>
            <a:endParaRPr lang="en-US" sz="1800" dirty="0"/>
          </a:p>
        </p:txBody>
      </p:sp>
      <p:sp>
        <p:nvSpPr>
          <p:cNvPr id="16" name="use-card"/>
          <p:cNvSpPr/>
          <p:nvPr/>
        </p:nvSpPr>
        <p:spPr>
          <a:xfrm>
            <a:off x="7374636" y="22860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17" name="icon-bg"/>
          <p:cNvSpPr/>
          <p:nvPr/>
        </p:nvSpPr>
        <p:spPr>
          <a:xfrm>
            <a:off x="7923276" y="2606040"/>
            <a:ext cx="822960" cy="82296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18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9016" y="28117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374636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예약 서비스</a:t>
            </a:r>
            <a:endParaRPr lang="en-US" sz="1800" dirty="0"/>
          </a:p>
        </p:txBody>
      </p:sp>
      <p:sp>
        <p:nvSpPr>
          <p:cNvPr id="20" name="use-card"/>
          <p:cNvSpPr/>
          <p:nvPr/>
        </p:nvSpPr>
        <p:spPr>
          <a:xfrm>
            <a:off x="9614916" y="2286000"/>
            <a:ext cx="1920240" cy="2103120"/>
          </a:xfrm>
          <a:prstGeom prst="roundRect">
            <a:avLst>
              <a:gd name="adj" fmla="val 6667"/>
            </a:avLst>
          </a:prstGeom>
          <a:solidFill>
            <a:srgbClr val="20263A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21" name="icon-bg"/>
          <p:cNvSpPr/>
          <p:nvPr/>
        </p:nvSpPr>
        <p:spPr>
          <a:xfrm>
            <a:off x="10163556" y="2606040"/>
            <a:ext cx="822960" cy="822960"/>
          </a:xfrm>
          <a:prstGeom prst="ellipse">
            <a:avLst/>
          </a:prstGeom>
          <a:solidFill>
            <a:srgbClr val="3A4259"/>
          </a:solidFill>
          <a:ln w="12700">
            <a:solidFill>
              <a:srgbClr val="3A4259"/>
            </a:solidFill>
            <a:prstDash val="solid"/>
          </a:ln>
        </p:spPr>
      </p:sp>
      <p:pic>
        <p:nvPicPr>
          <p:cNvPr id="22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2811780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9614916" y="3611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AB2C5"/>
                </a:solidFill>
              </a:rPr>
              <a:t>AI 서비스</a:t>
            </a:r>
            <a:endParaRPr lang="en-US" sz="1800" dirty="0"/>
          </a:p>
        </p:txBody>
      </p:sp>
      <p:sp>
        <p:nvSpPr>
          <p:cNvPr id="24" name="Text 17"/>
          <p:cNvSpPr txBox="1"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AI 부품은 "필요하면 붙이는 선택 상자"</a:t>
            </a:r>
            <a:endParaRPr lang="en-US" sz="2400" dirty="0"/>
          </a:p>
        </p:txBody>
      </p:sp>
      <p:sp>
        <p:nvSpPr>
          <p:cNvPr id="25" name="Text 18"/>
          <p:cNvSpPr txBox="1"/>
          <p:nvPr/>
        </p:nvSpPr>
        <p:spPr>
          <a:xfrm>
            <a:off x="640080" y="55778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AB2C5"/>
                </a:solidFill>
              </a:rPr>
              <a:t>가입·로그인·권한은 템플릿으로 미리 만들어 두었습니다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Meerkit이 바닥을 깔고, 서비스는 그 위에 올린다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822960" y="1645920"/>
            <a:ext cx="7315200" cy="1234440"/>
          </a:xfrm>
          <a:prstGeom prst="roundRect">
            <a:avLst>
              <a:gd name="adj" fmla="val 10370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118872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내 서비스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22860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</a:rPr>
              <a:t>쇼핑몰 · 커뮤니티 · 사내 도구 …  개발자가 만드는 부분</a:t>
            </a:r>
            <a:endParaRPr lang="en-US" sz="1500" dirty="0"/>
          </a:p>
        </p:txBody>
      </p:sp>
      <p:sp>
        <p:nvSpPr>
          <p:cNvPr id="6" name="meerkit-layer"/>
          <p:cNvSpPr/>
          <p:nvPr/>
        </p:nvSpPr>
        <p:spPr>
          <a:xfrm>
            <a:off x="822960" y="3017520"/>
            <a:ext cx="7315200" cy="1783080"/>
          </a:xfrm>
          <a:prstGeom prst="roundRect">
            <a:avLst>
              <a:gd name="adj" fmla="val 7179"/>
            </a:avLst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188720" y="31546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Meerkit</a:t>
            </a:r>
            <a:endParaRPr lang="en-US" sz="2200" dirty="0"/>
          </a:p>
        </p:txBody>
      </p:sp>
      <p:sp>
        <p:nvSpPr>
          <p:cNvPr id="8" name="chip"/>
          <p:cNvSpPr/>
          <p:nvPr/>
        </p:nvSpPr>
        <p:spPr>
          <a:xfrm>
            <a:off x="1188720" y="3840480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3840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가입 · 로그인</a:t>
            </a:r>
            <a:endParaRPr lang="en-US" sz="1300" dirty="0"/>
          </a:p>
        </p:txBody>
      </p:sp>
      <p:sp>
        <p:nvSpPr>
          <p:cNvPr id="10" name="chip"/>
          <p:cNvSpPr/>
          <p:nvPr/>
        </p:nvSpPr>
        <p:spPr>
          <a:xfrm>
            <a:off x="2834640" y="3840480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34640" y="3840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역할 · 권한</a:t>
            </a:r>
            <a:endParaRPr lang="en-US" sz="1300" dirty="0"/>
          </a:p>
        </p:txBody>
      </p:sp>
      <p:sp>
        <p:nvSpPr>
          <p:cNvPr id="12" name="chip"/>
          <p:cNvSpPr/>
          <p:nvPr/>
        </p:nvSpPr>
        <p:spPr>
          <a:xfrm>
            <a:off x="4480560" y="3840480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80560" y="3840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관리자 화면</a:t>
            </a:r>
            <a:endParaRPr lang="en-US" sz="1300" dirty="0"/>
          </a:p>
        </p:txBody>
      </p:sp>
      <p:sp>
        <p:nvSpPr>
          <p:cNvPr id="14" name="chip"/>
          <p:cNvSpPr/>
          <p:nvPr/>
        </p:nvSpPr>
        <p:spPr>
          <a:xfrm>
            <a:off x="6126480" y="3840480"/>
            <a:ext cx="1508760" cy="640080"/>
          </a:xfrm>
          <a:prstGeom prst="roundRect">
            <a:avLst>
              <a:gd name="adj" fmla="val 50000"/>
            </a:avLst>
          </a:prstGeom>
          <a:solidFill>
            <a:srgbClr val="FFFFFF">
              <a:alpha val="18000"/>
            </a:srgbClr>
          </a:solidFill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384048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UI 부품 · 설정</a:t>
            </a:r>
            <a:endParaRPr lang="en-US" sz="1300" dirty="0"/>
          </a:p>
        </p:txBody>
      </p:sp>
      <p:sp>
        <p:nvSpPr>
          <p:cNvPr id="16" name="card"/>
          <p:cNvSpPr/>
          <p:nvPr/>
        </p:nvSpPr>
        <p:spPr>
          <a:xfrm>
            <a:off x="822960" y="4937760"/>
            <a:ext cx="7315200" cy="100584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1188720" y="4937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서버(FastAPI)  ·  DB(PostgreSQL)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595360" y="3520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F6BFF"/>
                </a:solidFill>
              </a:rPr>
              <a:t>우리가 제공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402336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킷 코드는 src/meerkit 폴더에만 있고, 서비스 코드와 분리됩니다.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그래서 킷이 업데이트돼도 내 서비스는 그대로예요.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쓰는 사람은 세 부류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653796" y="173736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bg"/>
          <p:cNvSpPr/>
          <p:nvPr/>
        </p:nvSpPr>
        <p:spPr>
          <a:xfrm>
            <a:off x="1110996" y="2103120"/>
            <a:ext cx="914400" cy="914400"/>
          </a:xfrm>
          <a:prstGeom prst="ellipse">
            <a:avLst/>
          </a:prstGeom>
          <a:solidFill>
            <a:srgbClr val="2F6BFF"/>
          </a:solidFill>
          <a:ln w="12700">
            <a:solidFill>
              <a:srgbClr val="2F6BFF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9596" y="2331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0996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개발자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110996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</a:rPr>
              <a:t>킷을 가져다 쓴다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110996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설정 파일 하나로 기능을 켜고 끈다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402836" y="173736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icon-bg"/>
          <p:cNvSpPr/>
          <p:nvPr/>
        </p:nvSpPr>
        <p:spPr>
          <a:xfrm>
            <a:off x="4860036" y="2103120"/>
            <a:ext cx="914400" cy="914400"/>
          </a:xfrm>
          <a:prstGeom prst="ellipse">
            <a:avLst/>
          </a:prstGeom>
          <a:solidFill>
            <a:srgbClr val="EFE6D6"/>
          </a:solidFill>
          <a:ln w="12700">
            <a:solidFill>
              <a:srgbClr val="EFE6D6"/>
            </a:solidFill>
            <a:prstDash val="solid"/>
          </a:ln>
        </p:spPr>
      </p:sp>
      <p:pic>
        <p:nvPicPr>
          <p:cNvPr id="11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636" y="23317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860036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관리자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4860036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</a:rPr>
              <a:t>서비스를 운영한다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860036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멤버를 찾고 권한을 바꾼다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8151876" y="1737360"/>
            <a:ext cx="3383280" cy="356616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icon-bg"/>
          <p:cNvSpPr/>
          <p:nvPr/>
        </p:nvSpPr>
        <p:spPr>
          <a:xfrm>
            <a:off x="8609076" y="2103120"/>
            <a:ext cx="914400" cy="914400"/>
          </a:xfrm>
          <a:prstGeom prst="ellipse">
            <a:avLst/>
          </a:prstGeom>
          <a:solidFill>
            <a:srgbClr val="EFE6D6"/>
          </a:solidFill>
          <a:ln w="12700">
            <a:solidFill>
              <a:srgbClr val="EFE6D6"/>
            </a:solidFill>
            <a:prstDash val="solid"/>
          </a:ln>
        </p:spPr>
      </p:sp>
      <p:pic>
        <p:nvPicPr>
          <p:cNvPr id="17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7676" y="2331720"/>
            <a:ext cx="457200" cy="4572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609076" y="329184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2430"/>
                </a:solidFill>
              </a:rPr>
              <a:t>사용자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8609076" y="39319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430"/>
                </a:solidFill>
              </a:rPr>
              <a:t>서비스를 이용한다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609076" y="44348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가입하고 로그인한다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끝까지 쓸 수 있는 범위를 먼저 완성했다</a:t>
            </a:r>
            <a:endParaRPr lang="en-US" sz="3200" dirty="0"/>
          </a:p>
        </p:txBody>
      </p:sp>
      <p:sp>
        <p:nvSpPr>
          <p:cNvPr id="3" name="scope-card"/>
          <p:cNvSpPr/>
          <p:nvPr/>
        </p:nvSpPr>
        <p:spPr>
          <a:xfrm>
            <a:off x="676656" y="1645920"/>
            <a:ext cx="3429000" cy="4297680"/>
          </a:xfrm>
          <a:prstGeom prst="roundRect">
            <a:avLst>
              <a:gd name="adj" fmla="val 3733"/>
            </a:avLst>
          </a:prstGeom>
          <a:solidFill>
            <a:srgbClr val="2F6BFF"/>
          </a:solidFill>
          <a:ln w="9525">
            <a:solidFill>
              <a:srgbClr val="2F6B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996696" y="1874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기본으로 들어 있는 것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996696" y="2560320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회원가입 · 로그인 · 비밀번호 재설정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역할 4종 (MASTER / OWNER / VIEWER / WRITER)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관리자: 멤버 검색 · 필터 · 역할 변경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로그인 잠금 · 약관 동의 · 이메일 인증(선택)</a:t>
            </a:r>
            <a:endParaRPr lang="en-US" sz="1500" dirty="0"/>
          </a:p>
        </p:txBody>
      </p:sp>
      <p:sp>
        <p:nvSpPr>
          <p:cNvPr id="6" name="scope-card"/>
          <p:cNvSpPr/>
          <p:nvPr/>
        </p:nvSpPr>
        <p:spPr>
          <a:xfrm>
            <a:off x="4379976" y="1645920"/>
            <a:ext cx="3429000" cy="4297680"/>
          </a:xfrm>
          <a:prstGeom prst="roundRect">
            <a:avLst>
              <a:gd name="adj" fmla="val 3733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700016" y="1874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선택 부품 (UI만)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700016" y="2560320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AI 입력창 · 생각 중 표시 · 음성 입력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멤버 AI 사용량 차트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로딩 9종 · 첨부파일 · 주소 검색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AI 호출 · 음성 변환은 서비스에서 연결</a:t>
            </a:r>
            <a:endParaRPr lang="en-US" sz="1500" dirty="0"/>
          </a:p>
        </p:txBody>
      </p:sp>
      <p:sp>
        <p:nvSpPr>
          <p:cNvPr id="9" name="scope-card"/>
          <p:cNvSpPr/>
          <p:nvPr/>
        </p:nvSpPr>
        <p:spPr>
          <a:xfrm>
            <a:off x="8083296" y="1645920"/>
            <a:ext cx="3429000" cy="4297680"/>
          </a:xfrm>
          <a:prstGeom prst="roundRect">
            <a:avLst>
              <a:gd name="adj" fmla="val 3733"/>
            </a:avLst>
          </a:prstGeom>
          <a:solidFill>
            <a:srgbClr val="ECE7DA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03336" y="187452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일부러 뺀 것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8403336" y="2560320"/>
            <a:ext cx="27889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소셜 로그인 · 2단계 인증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세부 권한(permission) 테이블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프로필 이미지 업로드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430"/>
                </a:solidFill>
              </a:rPr>
              <a:t>사용량 기록 · 한도 관리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기획은 화이트보드에서 시작했다</a:t>
            </a:r>
            <a:endParaRPr lang="en-US" sz="3200" dirty="0"/>
          </a:p>
        </p:txBody>
      </p:sp>
      <p:sp>
        <p:nvSpPr>
          <p:cNvPr id="3" name="step"/>
          <p:cNvSpPr/>
          <p:nvPr/>
        </p:nvSpPr>
        <p:spPr>
          <a:xfrm>
            <a:off x="658368" y="1600200"/>
            <a:ext cx="228600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58368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1  팀 회의</a:t>
            </a:r>
            <a:endParaRPr lang="en-US" sz="1700" dirty="0"/>
          </a:p>
        </p:txBody>
      </p:sp>
      <p:sp>
        <p:nvSpPr>
          <p:cNvPr id="5" name="arrow"/>
          <p:cNvSpPr/>
          <p:nvPr/>
        </p:nvSpPr>
        <p:spPr>
          <a:xfrm>
            <a:off x="3017520" y="2011680"/>
            <a:ext cx="429768" cy="0"/>
          </a:xfrm>
          <a:prstGeom prst="line">
            <a:avLst/>
          </a:prstGeom>
          <a:noFill/>
          <a:ln w="25400">
            <a:solidFill>
              <a:srgbClr val="C58A4B"/>
            </a:solidFill>
            <a:prstDash val="solid"/>
            <a:tailEnd type="triangle"/>
          </a:ln>
        </p:spPr>
      </p:sp>
      <p:sp>
        <p:nvSpPr>
          <p:cNvPr id="6" name="step"/>
          <p:cNvSpPr/>
          <p:nvPr/>
        </p:nvSpPr>
        <p:spPr>
          <a:xfrm>
            <a:off x="3520440" y="1600200"/>
            <a:ext cx="228600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20440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2  테이블 설계</a:t>
            </a:r>
            <a:endParaRPr lang="en-US" sz="1700" dirty="0"/>
          </a:p>
        </p:txBody>
      </p:sp>
      <p:sp>
        <p:nvSpPr>
          <p:cNvPr id="8" name="arrow"/>
          <p:cNvSpPr/>
          <p:nvPr/>
        </p:nvSpPr>
        <p:spPr>
          <a:xfrm>
            <a:off x="5879592" y="2011680"/>
            <a:ext cx="429768" cy="0"/>
          </a:xfrm>
          <a:prstGeom prst="line">
            <a:avLst/>
          </a:prstGeom>
          <a:noFill/>
          <a:ln w="25400">
            <a:solidFill>
              <a:srgbClr val="C58A4B"/>
            </a:solidFill>
            <a:prstDash val="solid"/>
            <a:tailEnd type="triangle"/>
          </a:ln>
        </p:spPr>
      </p:sp>
      <p:sp>
        <p:nvSpPr>
          <p:cNvPr id="9" name="step"/>
          <p:cNvSpPr/>
          <p:nvPr/>
        </p:nvSpPr>
        <p:spPr>
          <a:xfrm>
            <a:off x="6382512" y="1600200"/>
            <a:ext cx="228600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82512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3  구조 설계</a:t>
            </a:r>
            <a:endParaRPr lang="en-US" sz="1700" dirty="0"/>
          </a:p>
        </p:txBody>
      </p:sp>
      <p:sp>
        <p:nvSpPr>
          <p:cNvPr id="11" name="arrow"/>
          <p:cNvSpPr/>
          <p:nvPr/>
        </p:nvSpPr>
        <p:spPr>
          <a:xfrm>
            <a:off x="8741664" y="2011680"/>
            <a:ext cx="429768" cy="0"/>
          </a:xfrm>
          <a:prstGeom prst="line">
            <a:avLst/>
          </a:prstGeom>
          <a:noFill/>
          <a:ln w="25400">
            <a:solidFill>
              <a:srgbClr val="C58A4B"/>
            </a:solidFill>
            <a:prstDash val="solid"/>
            <a:tailEnd type="triangle"/>
          </a:ln>
        </p:spPr>
      </p:sp>
      <p:sp>
        <p:nvSpPr>
          <p:cNvPr id="12" name="step"/>
          <p:cNvSpPr/>
          <p:nvPr/>
        </p:nvSpPr>
        <p:spPr>
          <a:xfrm>
            <a:off x="9244584" y="1600200"/>
            <a:ext cx="2286000" cy="822960"/>
          </a:xfrm>
          <a:prstGeom prst="roundRect">
            <a:avLst>
              <a:gd name="adj" fmla="val 50000"/>
            </a:avLst>
          </a:prstGeom>
          <a:solidFill>
            <a:srgbClr val="2F6BFF"/>
          </a:solidFill>
          <a:ln w="9525">
            <a:solidFill>
              <a:srgbClr val="2F6BFF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244584" y="160020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4  프론트 구현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28803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회의에서 정한 세 가지</a:t>
            </a:r>
            <a:endParaRPr lang="en-US" sz="2000" dirty="0"/>
          </a:p>
        </p:txBody>
      </p:sp>
      <p:sp>
        <p:nvSpPr>
          <p:cNvPr id="15" name="card"/>
          <p:cNvSpPr/>
          <p:nvPr/>
        </p:nvSpPr>
        <p:spPr>
          <a:xfrm>
            <a:off x="653796" y="352044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19556" y="3703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6BFF"/>
                </a:solidFill>
              </a:rPr>
              <a:t>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1019556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로그인은 아이디로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019556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이메일은 가입할 때 따로 받는다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402836" y="352044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768596" y="3703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6BFF"/>
                </a:solidFill>
              </a:rPr>
              <a:t>2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4768596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권한은 roles 테이블로 분리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768596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권한이 늘어도 users 테이블을 고치지 않는다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151876" y="3520440"/>
            <a:ext cx="3383280" cy="2286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517636" y="37033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2F6BFF"/>
                </a:solidFill>
              </a:rPr>
              <a:t>3</a:t>
            </a:r>
            <a:endParaRPr lang="en-US" sz="4000" dirty="0"/>
          </a:p>
        </p:txBody>
      </p:sp>
      <p:sp>
        <p:nvSpPr>
          <p:cNvPr id="25" name="Text 23"/>
          <p:cNvSpPr txBox="1"/>
          <p:nvPr/>
        </p:nvSpPr>
        <p:spPr>
          <a:xfrm>
            <a:off x="8517636" y="45262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탈퇴는 삭제 시각만 기록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517636" y="5074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진짜 지우지 않아서 이력이 남는다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지킨 원칙은 세 가지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653796" y="164592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con-bg"/>
          <p:cNvSpPr/>
          <p:nvPr/>
        </p:nvSpPr>
        <p:spPr>
          <a:xfrm>
            <a:off x="1065276" y="2011680"/>
            <a:ext cx="868680" cy="86868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2446" y="2228850"/>
            <a:ext cx="434340" cy="4343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65276" y="3154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권한은 서버가 최종 판단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065276" y="402336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버튼을 숨기는 건 보호가 아니다.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화면은 편의, 검사는 항상 서버가 다시 한다.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402836" y="164592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icon-bg"/>
          <p:cNvSpPr/>
          <p:nvPr/>
        </p:nvSpPr>
        <p:spPr>
          <a:xfrm>
            <a:off x="4814316" y="2011680"/>
            <a:ext cx="868680" cy="86868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1486" y="2228850"/>
            <a:ext cx="434340" cy="4343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814316" y="3154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토큰은 메모리 + 쿠키</a:t>
            </a:r>
            <a:endParaRPr lang="en-US" sz="2000" dirty="0"/>
          </a:p>
        </p:txBody>
      </p:sp>
      <p:sp>
        <p:nvSpPr>
          <p:cNvPr id="12" name="Text 8"/>
          <p:cNvSpPr txBox="1"/>
          <p:nvPr/>
        </p:nvSpPr>
        <p:spPr>
          <a:xfrm>
            <a:off x="4814316" y="402336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액세스 토큰은 메모리에만,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리프레시 토큰은 읽을 수 없는 httpOnly 쿠키에.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8151876" y="1645920"/>
            <a:ext cx="3383280" cy="411480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icon-bg"/>
          <p:cNvSpPr/>
          <p:nvPr/>
        </p:nvSpPr>
        <p:spPr>
          <a:xfrm>
            <a:off x="8563356" y="2011680"/>
            <a:ext cx="868680" cy="86868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0526" y="2228850"/>
            <a:ext cx="434340" cy="4343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63356" y="315468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2430"/>
                </a:solidFill>
              </a:rPr>
              <a:t>설정은 파일 하나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8563356" y="4023360"/>
            <a:ext cx="25603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meerkit.config.ts 한 곳에서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잠금 횟수 · 가입 항목 · 테마 · 로딩 모양을 바꾼다.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데모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AAB2C5"/>
                </a:solidFill>
              </a:rPr>
              <a:t>약 3분 30초  ·  누르고 나서 말하기</a:t>
            </a:r>
            <a:endParaRPr lang="en-US" sz="1800" dirty="0"/>
          </a:p>
        </p:txBody>
      </p:sp>
      <p:sp>
        <p:nvSpPr>
          <p:cNvPr id="4" name="demo-card"/>
          <p:cNvSpPr/>
          <p:nvPr/>
        </p:nvSpPr>
        <p:spPr>
          <a:xfrm>
            <a:off x="676656" y="210312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9669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F9BFF"/>
                </a:solidFill>
              </a:rPr>
              <a:t>1</a:t>
            </a:r>
            <a:endParaRPr lang="en-US" sz="3200" dirty="0"/>
          </a:p>
        </p:txBody>
      </p:sp>
      <p:sp>
        <p:nvSpPr>
          <p:cNvPr id="6" name="Text 4"/>
          <p:cNvSpPr txBox="1"/>
          <p:nvPr/>
        </p:nvSpPr>
        <p:spPr>
          <a:xfrm>
            <a:off x="2871216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3A7"/>
                </a:solidFill>
              </a:rPr>
              <a:t>20초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96696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웰컴 화면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996696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2C5"/>
                </a:solidFill>
              </a:rPr>
              <a:t>로그인 · 회원가입 모달</a:t>
            </a:r>
            <a:endParaRPr lang="en-US" sz="1300" dirty="0"/>
          </a:p>
        </p:txBody>
      </p:sp>
      <p:sp>
        <p:nvSpPr>
          <p:cNvPr id="9" name="demo-card"/>
          <p:cNvSpPr/>
          <p:nvPr/>
        </p:nvSpPr>
        <p:spPr>
          <a:xfrm>
            <a:off x="4379976" y="210312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001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F9BFF"/>
                </a:solidFill>
              </a:rPr>
              <a:t>2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6574536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3A7"/>
                </a:solidFill>
              </a:rPr>
              <a:t>60초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700016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가입 폼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2C5"/>
                </a:solidFill>
              </a:rPr>
              <a:t>닉네임 · 주소 · 이메일 인증 토글</a:t>
            </a:r>
            <a:endParaRPr lang="en-US" sz="1300" dirty="0"/>
          </a:p>
        </p:txBody>
      </p:sp>
      <p:sp>
        <p:nvSpPr>
          <p:cNvPr id="14" name="demo-card"/>
          <p:cNvSpPr/>
          <p:nvPr/>
        </p:nvSpPr>
        <p:spPr>
          <a:xfrm>
            <a:off x="8083296" y="210312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403336" y="2331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F9BFF"/>
                </a:solidFill>
              </a:rPr>
              <a:t>3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10277856" y="242316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3A7"/>
                </a:solidFill>
              </a:rPr>
              <a:t>45초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403336" y="297180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로그인 잠금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8403336" y="338328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2C5"/>
                </a:solidFill>
              </a:rPr>
              <a:t>3번 틀리면 잠김, 새로고침해도 유지</a:t>
            </a:r>
            <a:endParaRPr lang="en-US" sz="1300" dirty="0"/>
          </a:p>
        </p:txBody>
      </p:sp>
      <p:sp>
        <p:nvSpPr>
          <p:cNvPr id="19" name="demo-card"/>
          <p:cNvSpPr/>
          <p:nvPr/>
        </p:nvSpPr>
        <p:spPr>
          <a:xfrm>
            <a:off x="676656" y="420624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96696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F9BFF"/>
                </a:solidFill>
              </a:rPr>
              <a:t>4</a:t>
            </a:r>
            <a:endParaRPr lang="en-US" sz="3200" dirty="0"/>
          </a:p>
        </p:txBody>
      </p:sp>
      <p:sp>
        <p:nvSpPr>
          <p:cNvPr id="21" name="Text 19"/>
          <p:cNvSpPr txBox="1"/>
          <p:nvPr/>
        </p:nvSpPr>
        <p:spPr>
          <a:xfrm>
            <a:off x="2871216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3A7"/>
                </a:solidFill>
              </a:rPr>
              <a:t>60초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96696" y="5074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멤버 목록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996696" y="5486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2C5"/>
                </a:solidFill>
              </a:rPr>
              <a:t>검색 · 역할 필터 · 페이지 이동</a:t>
            </a:r>
            <a:endParaRPr lang="en-US" sz="1300" dirty="0"/>
          </a:p>
        </p:txBody>
      </p:sp>
      <p:sp>
        <p:nvSpPr>
          <p:cNvPr id="24" name="demo-card"/>
          <p:cNvSpPr/>
          <p:nvPr/>
        </p:nvSpPr>
        <p:spPr>
          <a:xfrm>
            <a:off x="4379976" y="420624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00016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F9BFF"/>
                </a:solidFill>
              </a:rPr>
              <a:t>5</a:t>
            </a:r>
            <a:endParaRPr lang="en-US" sz="3200" dirty="0"/>
          </a:p>
        </p:txBody>
      </p:sp>
      <p:sp>
        <p:nvSpPr>
          <p:cNvPr id="26" name="Text 24"/>
          <p:cNvSpPr txBox="1"/>
          <p:nvPr/>
        </p:nvSpPr>
        <p:spPr>
          <a:xfrm>
            <a:off x="6574536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3A7"/>
                </a:solidFill>
              </a:rPr>
              <a:t>45초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4700016" y="5074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역할 변경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4700016" y="5486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2C5"/>
                </a:solidFill>
              </a:rPr>
              <a:t>확인 창, 내 권한 낮추기 경고</a:t>
            </a:r>
            <a:endParaRPr lang="en-US" sz="1300" dirty="0"/>
          </a:p>
        </p:txBody>
      </p:sp>
      <p:sp>
        <p:nvSpPr>
          <p:cNvPr id="29" name="demo-card"/>
          <p:cNvSpPr/>
          <p:nvPr/>
        </p:nvSpPr>
        <p:spPr>
          <a:xfrm>
            <a:off x="8083296" y="4206240"/>
            <a:ext cx="3429000" cy="1828800"/>
          </a:xfrm>
          <a:prstGeom prst="roundRect">
            <a:avLst>
              <a:gd name="adj" fmla="val 7000"/>
            </a:avLst>
          </a:prstGeom>
          <a:solidFill>
            <a:srgbClr val="272D3C"/>
          </a:solidFill>
          <a:ln w="9525">
            <a:solidFill>
              <a:srgbClr val="3A4259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403336" y="4434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6F9BFF"/>
                </a:solidFill>
              </a:rPr>
              <a:t>6</a:t>
            </a:r>
            <a:endParaRPr lang="en-US" sz="3200" dirty="0"/>
          </a:p>
        </p:txBody>
      </p:sp>
      <p:sp>
        <p:nvSpPr>
          <p:cNvPr id="31" name="Text 29"/>
          <p:cNvSpPr txBox="1"/>
          <p:nvPr/>
        </p:nvSpPr>
        <p:spPr>
          <a:xfrm>
            <a:off x="10277856" y="4526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8B93A7"/>
                </a:solidFill>
              </a:rPr>
              <a:t>20초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8403336" y="50749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설정 파일</a:t>
            </a:r>
            <a:endParaRPr lang="en-US" sz="1900" dirty="0"/>
          </a:p>
        </p:txBody>
      </p:sp>
      <p:sp>
        <p:nvSpPr>
          <p:cNvPr id="33" name="Text 31"/>
          <p:cNvSpPr txBox="1"/>
          <p:nvPr/>
        </p:nvSpPr>
        <p:spPr>
          <a:xfrm>
            <a:off x="8403336" y="5486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2C5"/>
                </a:solidFill>
              </a:rPr>
              <a:t>meerkit.config.ts 한 파일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AI 부품은 있으면 붙이는 선택 상자</a:t>
            </a:r>
            <a:endParaRPr lang="en-US" sz="3200" dirty="0"/>
          </a:p>
        </p:txBody>
      </p:sp>
      <p:sp>
        <p:nvSpPr>
          <p:cNvPr id="3" name="card"/>
          <p:cNvSpPr/>
          <p:nvPr/>
        </p:nvSpPr>
        <p:spPr>
          <a:xfrm>
            <a:off x="822960" y="1828800"/>
            <a:ext cx="5852160" cy="3291840"/>
          </a:xfrm>
          <a:prstGeom prst="roundRect">
            <a:avLst>
              <a:gd name="adj" fmla="val 3889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mock-input"/>
          <p:cNvSpPr/>
          <p:nvPr/>
        </p:nvSpPr>
        <p:spPr>
          <a:xfrm>
            <a:off x="1280160" y="2651760"/>
            <a:ext cx="4937760" cy="155448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5" name="wave0"/>
          <p:cNvSpPr/>
          <p:nvPr/>
        </p:nvSpPr>
        <p:spPr>
          <a:xfrm>
            <a:off x="1417320" y="3611880"/>
            <a:ext cx="2011680" cy="594360"/>
          </a:xfrm>
          <a:prstGeom prst="ellipse">
            <a:avLst/>
          </a:prstGeom>
          <a:solidFill>
            <a:srgbClr val="60A5FA">
              <a:alpha val="40000"/>
            </a:srgbClr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</p:sp>
      <p:sp>
        <p:nvSpPr>
          <p:cNvPr id="6" name="wave1"/>
          <p:cNvSpPr/>
          <p:nvPr/>
        </p:nvSpPr>
        <p:spPr>
          <a:xfrm>
            <a:off x="2651760" y="3429000"/>
            <a:ext cx="2011680" cy="594360"/>
          </a:xfrm>
          <a:prstGeom prst="ellipse">
            <a:avLst/>
          </a:prstGeom>
          <a:solidFill>
            <a:srgbClr val="A78BFA">
              <a:alpha val="40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7" name="wave2"/>
          <p:cNvSpPr/>
          <p:nvPr/>
        </p:nvSpPr>
        <p:spPr>
          <a:xfrm>
            <a:off x="4069080" y="3611880"/>
            <a:ext cx="2011680" cy="594360"/>
          </a:xfrm>
          <a:prstGeom prst="ellipse">
            <a:avLst/>
          </a:prstGeom>
          <a:solidFill>
            <a:srgbClr val="F472B6">
              <a:alpha val="40000"/>
            </a:srgbClr>
          </a:solidFill>
          <a:ln w="12700">
            <a:solidFill>
              <a:srgbClr val="F472B6">
                <a:alpha val="0"/>
              </a:srgbClr>
            </a:solidFill>
            <a:prstDash val="solid"/>
          </a:ln>
        </p:spPr>
      </p:sp>
      <p:sp>
        <p:nvSpPr>
          <p:cNvPr id="8" name="wave3"/>
          <p:cNvSpPr/>
          <p:nvPr/>
        </p:nvSpPr>
        <p:spPr>
          <a:xfrm>
            <a:off x="3200400" y="3611880"/>
            <a:ext cx="2194560" cy="594360"/>
          </a:xfrm>
          <a:prstGeom prst="ellipse">
            <a:avLst/>
          </a:prstGeom>
          <a:solidFill>
            <a:srgbClr val="2DD4BF">
              <a:alpha val="40000"/>
            </a:srgbClr>
          </a:solidFill>
          <a:ln w="12700">
            <a:solidFill>
              <a:srgbClr val="2DD4B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600200" y="2880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430"/>
                </a:solidFill>
              </a:rPr>
              <a:t>10분 타이머를 맞추고 화분에 물 주라고 알려 줘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34924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목소리 크기에 따라 파동이 일렁인다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13258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AI Prompt Input  ·  Voice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3258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</a:rPr>
              <a:t>로딩 9종</a:t>
            </a:r>
            <a:endParaRPr lang="en-US" sz="1800" dirty="0"/>
          </a:p>
        </p:txBody>
      </p:sp>
      <p:sp>
        <p:nvSpPr>
          <p:cNvPr id="13" name="chip"/>
          <p:cNvSpPr/>
          <p:nvPr/>
        </p:nvSpPr>
        <p:spPr>
          <a:xfrm>
            <a:off x="7315200" y="182880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ring</a:t>
            </a:r>
            <a:endParaRPr lang="en-US" sz="1200" dirty="0"/>
          </a:p>
        </p:txBody>
      </p:sp>
      <p:sp>
        <p:nvSpPr>
          <p:cNvPr id="15" name="chip"/>
          <p:cNvSpPr/>
          <p:nvPr/>
        </p:nvSpPr>
        <p:spPr>
          <a:xfrm>
            <a:off x="8732520" y="182880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73252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dash</a:t>
            </a:r>
            <a:endParaRPr lang="en-US" sz="1200" dirty="0"/>
          </a:p>
        </p:txBody>
      </p:sp>
      <p:sp>
        <p:nvSpPr>
          <p:cNvPr id="17" name="chip"/>
          <p:cNvSpPr/>
          <p:nvPr/>
        </p:nvSpPr>
        <p:spPr>
          <a:xfrm>
            <a:off x="10149840" y="182880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49840" y="1828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dots</a:t>
            </a:r>
            <a:endParaRPr lang="en-US" sz="1200" dirty="0"/>
          </a:p>
        </p:txBody>
      </p:sp>
      <p:sp>
        <p:nvSpPr>
          <p:cNvPr id="19" name="chip"/>
          <p:cNvSpPr/>
          <p:nvPr/>
        </p:nvSpPr>
        <p:spPr>
          <a:xfrm>
            <a:off x="7315200" y="26060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bars</a:t>
            </a:r>
            <a:endParaRPr lang="en-US" sz="1200" dirty="0"/>
          </a:p>
        </p:txBody>
      </p:sp>
      <p:sp>
        <p:nvSpPr>
          <p:cNvPr id="21" name="chip"/>
          <p:cNvSpPr/>
          <p:nvPr/>
        </p:nvSpPr>
        <p:spPr>
          <a:xfrm>
            <a:off x="8732520" y="26060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73252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pulse</a:t>
            </a:r>
            <a:endParaRPr lang="en-US" sz="1200" dirty="0"/>
          </a:p>
        </p:txBody>
      </p:sp>
      <p:sp>
        <p:nvSpPr>
          <p:cNvPr id="23" name="chip"/>
          <p:cNvSpPr/>
          <p:nvPr/>
        </p:nvSpPr>
        <p:spPr>
          <a:xfrm>
            <a:off x="10149840" y="260604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149840" y="26060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spokes</a:t>
            </a:r>
            <a:endParaRPr lang="en-US" sz="1200" dirty="0"/>
          </a:p>
        </p:txBody>
      </p:sp>
      <p:sp>
        <p:nvSpPr>
          <p:cNvPr id="25" name="chip"/>
          <p:cNvSpPr/>
          <p:nvPr/>
        </p:nvSpPr>
        <p:spPr>
          <a:xfrm>
            <a:off x="7315200" y="338328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grid</a:t>
            </a:r>
            <a:endParaRPr lang="en-US" sz="1200" dirty="0"/>
          </a:p>
        </p:txBody>
      </p:sp>
      <p:sp>
        <p:nvSpPr>
          <p:cNvPr id="27" name="chip"/>
          <p:cNvSpPr/>
          <p:nvPr/>
        </p:nvSpPr>
        <p:spPr>
          <a:xfrm>
            <a:off x="8732520" y="338328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73252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progress</a:t>
            </a:r>
            <a:endParaRPr lang="en-US" sz="1200" dirty="0"/>
          </a:p>
        </p:txBody>
      </p:sp>
      <p:sp>
        <p:nvSpPr>
          <p:cNvPr id="29" name="chip"/>
          <p:cNvSpPr/>
          <p:nvPr/>
        </p:nvSpPr>
        <p:spPr>
          <a:xfrm>
            <a:off x="10149840" y="3383280"/>
            <a:ext cx="1280160" cy="594360"/>
          </a:xfrm>
          <a:prstGeom prst="roundRect">
            <a:avLst>
              <a:gd name="adj" fmla="val 49231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149840" y="33832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morph</a:t>
            </a:r>
            <a:endParaRPr lang="en-US" sz="1200" dirty="0"/>
          </a:p>
        </p:txBody>
      </p:sp>
      <p:sp>
        <p:nvSpPr>
          <p:cNvPr id="31" name="ui-only"/>
          <p:cNvSpPr/>
          <p:nvPr/>
        </p:nvSpPr>
        <p:spPr>
          <a:xfrm>
            <a:off x="7315200" y="4343400"/>
            <a:ext cx="4206240" cy="868680"/>
          </a:xfrm>
          <a:prstGeom prst="roundRect">
            <a:avLst>
              <a:gd name="adj" fmla="val 14737"/>
            </a:avLst>
          </a:prstGeom>
          <a:solidFill>
            <a:srgbClr val="FFF4E0"/>
          </a:solidFill>
          <a:ln w="9525">
            <a:solidFill>
              <a:srgbClr val="C58A4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589520" y="4389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A5A1C"/>
                </a:solidFill>
              </a:rPr>
              <a:t>UI만 제공합니다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7589520" y="4754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5A1C"/>
                </a:solidFill>
              </a:rPr>
              <a:t>음성 변환 · AI 응답은 서비스에서 연결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설명서도 같이 만들었다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0" b="1" dirty="0">
                <a:solidFill>
                  <a:srgbClr val="2F6BFF"/>
                </a:solidFill>
              </a:rPr>
              <a:t>41</a:t>
            </a:r>
            <a:endParaRPr lang="en-US" sz="1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0690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F2430"/>
                </a:solidFill>
              </a:rPr>
              <a:t>페이지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7548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</a:rPr>
              <a:t>shadcn 문서 스타일</a:t>
            </a:r>
            <a:endParaRPr lang="en-US" sz="1600" dirty="0"/>
          </a:p>
        </p:txBody>
      </p:sp>
      <p:sp>
        <p:nvSpPr>
          <p:cNvPr id="6" name="card"/>
          <p:cNvSpPr/>
          <p:nvPr/>
        </p:nvSpPr>
        <p:spPr>
          <a:xfrm>
            <a:off x="6035040" y="1737360"/>
            <a:ext cx="548640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icon-bg"/>
          <p:cNvSpPr/>
          <p:nvPr/>
        </p:nvSpPr>
        <p:spPr>
          <a:xfrm>
            <a:off x="6263640" y="1874520"/>
            <a:ext cx="548640" cy="54864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8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011680"/>
            <a:ext cx="274320" cy="27432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086600" y="17373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직접 눌러 보는 미리보기</a:t>
            </a:r>
            <a:endParaRPr lang="en-US" sz="1700" dirty="0"/>
          </a:p>
        </p:txBody>
      </p:sp>
      <p:sp>
        <p:nvSpPr>
          <p:cNvPr id="10" name="card"/>
          <p:cNvSpPr/>
          <p:nvPr/>
        </p:nvSpPr>
        <p:spPr>
          <a:xfrm>
            <a:off x="6035040" y="2743200"/>
            <a:ext cx="548640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icon-bg"/>
          <p:cNvSpPr/>
          <p:nvPr/>
        </p:nvSpPr>
        <p:spPr>
          <a:xfrm>
            <a:off x="6263640" y="2880360"/>
            <a:ext cx="548640" cy="54864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12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01752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086600" y="2743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복사해서 쓰는 코드</a:t>
            </a:r>
            <a:endParaRPr lang="en-US" sz="1700" dirty="0"/>
          </a:p>
        </p:txBody>
      </p:sp>
      <p:sp>
        <p:nvSpPr>
          <p:cNvPr id="14" name="card"/>
          <p:cNvSpPr/>
          <p:nvPr/>
        </p:nvSpPr>
        <p:spPr>
          <a:xfrm>
            <a:off x="6035040" y="3749040"/>
            <a:ext cx="548640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icon-bg"/>
          <p:cNvSpPr/>
          <p:nvPr/>
        </p:nvSpPr>
        <p:spPr>
          <a:xfrm>
            <a:off x="6263640" y="3886200"/>
            <a:ext cx="548640" cy="54864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16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4023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7086600" y="3749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속성 표와 사용 안내</a:t>
            </a:r>
            <a:endParaRPr lang="en-US" sz="1700" dirty="0"/>
          </a:p>
        </p:txBody>
      </p:sp>
      <p:sp>
        <p:nvSpPr>
          <p:cNvPr id="18" name="card"/>
          <p:cNvSpPr/>
          <p:nvPr/>
        </p:nvSpPr>
        <p:spPr>
          <a:xfrm>
            <a:off x="6035040" y="4754880"/>
            <a:ext cx="5486400" cy="822960"/>
          </a:xfrm>
          <a:prstGeom prst="roundRect">
            <a:avLst>
              <a:gd name="adj" fmla="val 15556"/>
            </a:avLst>
          </a:prstGeom>
          <a:solidFill>
            <a:srgbClr val="FFFFFF"/>
          </a:solidFill>
          <a:ln w="9525">
            <a:solidFill>
              <a:srgbClr val="E3DED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icon-bg"/>
          <p:cNvSpPr/>
          <p:nvPr/>
        </p:nvSpPr>
        <p:spPr>
          <a:xfrm>
            <a:off x="6263640" y="4892040"/>
            <a:ext cx="548640" cy="548640"/>
          </a:xfrm>
          <a:prstGeom prst="ellipse">
            <a:avLst/>
          </a:prstGeom>
          <a:solidFill>
            <a:srgbClr val="E8EEFF"/>
          </a:solidFill>
          <a:ln w="12700">
            <a:solidFill>
              <a:srgbClr val="E8EEFF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502920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086600" y="47548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430"/>
                </a:solidFill>
              </a:rPr>
              <a:t>검색과 주제별 FAQ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2430"/>
                </a:solidFill>
              </a:rPr>
              <a:t>기획 · 화면 · 문서는 끝났고, 서버가 다음이다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45920"/>
          <a:ext cx="10515600" cy="914400"/>
        </p:xfrm>
        <a:graphic>
          <a:graphicData uri="http://schemas.openxmlformats.org/drawingml/2006/table">
            <a:tbl>
              <a:tblPr/>
              <a:tblGrid>
                <a:gridCol w="6675120"/>
                <a:gridCol w="384048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영역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6B728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상태</a:t>
                      </a:r>
                      <a:endParaRPr lang="en-US" sz="14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3EC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기획 · 테이블 설계 · 구조 설계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A0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 UI 컴포넌트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A0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문서(docs) 사이트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4A06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완료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백엔드 (인증 · 사용자 API)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6B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줄 세팅 (create-meerkit)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2F6B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다음 단계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F243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연결 (음성 변환 · 응답 · 사용량)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C58A4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서비스에서 연결 / 추후</a:t>
                      </a:r>
                      <a:endParaRPr lang="en-US" sz="17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82880" marR="182880" marT="0" marB="0" anchor="ctr">
                    <a:lnL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DE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지금 보신 화면은 서버 없이 가짜 데이터로 동작합니다. 서버가 지킬 API 약속은 문서에 이미 정해 두었습니다.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eerki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103120"/>
            <a:ext cx="10515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어떤 프로젝트를 하든,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가입 · 로그인 · 권한은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Meerkit이 밑에서 받쳐 준다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4846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BD2E1"/>
                </a:solidFill>
              </a:rPr>
              <a:t>다음 주  ·  이 기반 위에 가상의 서비스를 올려 보여 드립니다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8B93A7"/>
                </a:solidFill>
              </a:rPr>
              <a:t>감사합니다   |   github.com/sensibly00-glitch/meerkit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erkit">
  <a:themeElements>
    <a:clrScheme name="Meerkit">
      <a:dk1>
        <a:srgbClr val="1F2430"/>
      </a:dk1>
      <a:lt1>
        <a:srgbClr val="FFFFFF"/>
      </a:lt1>
      <a:dk2>
        <a:srgbClr val="2A3042"/>
      </a:dk2>
      <a:lt2>
        <a:srgbClr val="F6F3EC"/>
      </a:lt2>
      <a:accent1>
        <a:srgbClr val="2F6BFF"/>
      </a:accent1>
      <a:accent2>
        <a:srgbClr val="C58A4B"/>
      </a:accent2>
      <a:accent3>
        <a:srgbClr val="8B5CF6"/>
      </a:accent3>
      <a:accent4>
        <a:srgbClr val="EC4899"/>
      </a:accent4>
      <a:accent5>
        <a:srgbClr val="14B8A6"/>
      </a:accent5>
      <a:accent6>
        <a:srgbClr val="9AA0AE"/>
      </a:accent6>
      <a:hlink>
        <a:srgbClr val="2F6BFF"/>
      </a:hlink>
      <a:folHlink>
        <a:srgbClr val="8B5CF6"/>
      </a:folHlink>
    </a:clrScheme>
    <a:fontScheme name="Meerkit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Meerkit 1차 발표</dc:title>
  <dc:subject>PptxGenJS Presentation</dc:subject>
  <dc:creator>Meerkit</dc:creator>
  <cp:lastModifiedBy>Meerkit</cp:lastModifiedBy>
  <cp:revision>1</cp:revision>
  <dcterms:created xsi:type="dcterms:W3CDTF">2026-10-22T04:55:36Z</dcterms:created>
  <dcterms:modified xsi:type="dcterms:W3CDTF">2026-10-22T04:55:36Z</dcterms:modified>
</cp:coreProperties>
</file>