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ba3b3c0b-4d28-745a-4d8e-9adc8b5ccd49}">
          <p14:sldIdLst>
            <p14:sldId id="256"/>
            <p14:sldId id="257"/>
          </p14:sldIdLst>
        </p14:section>
        <p14:section name="배경과 목표" id="{1c67d9d1-e0f4-28af-db14-bb3bca04bd2b}">
          <p14:sldIdLst>
            <p14:sldId id="258"/>
            <p14:sldId id="259"/>
          </p14:sldIdLst>
        </p14:section>
        <p14:section name="타깃과 솔루션" id="{1a3ef8c8-080f-fbd8-9178-6707a58e8b25}">
          <p14:sldIdLst>
            <p14:sldId id="260"/>
            <p14:sldId id="261"/>
            <p14:sldId id="262"/>
            <p14:sldId id="263"/>
          </p14:sldIdLst>
        </p14:section>
        <p14:section name="한 줄 세팅" id="{1ff938b7-a5c8-8f6f-ba8a-1aa2f73539a4}">
          <p14:sldIdLst>
            <p14:sldId id="264"/>
            <p14:sldId id="265"/>
          </p14:sldIdLst>
        </p14:section>
        <p14:section name="AI 화면" id="{20f22c69-49e2-1c43-7d19-1f8e0ae5e53a}">
          <p14:sldIdLst>
            <p14:sldId id="266"/>
          </p14:sldIdLst>
        </p14:section>
        <p14:section name="서브 프로젝트" id="{17208bc9-2e15-a603-4961-a148a0111235}">
          <p14:sldIdLst>
            <p14:sldId id="267"/>
            <p14:sldId id="268"/>
            <p14:sldId id="269"/>
            <p14:sldId id="270"/>
          </p14:sldIdLst>
        </p14:section>
        <p14:section name="마무리" id="{14e1d7bd-7bc9-bd43-e94e-f25d8ccd1dc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(천천히, 웃으면서) 안녕하세요, ○○○입니다. 오늘 소개할 건 Meerkit입니다. 한 문장으로 먼저 말씀드릴게요. AI 서비스의 뼈대는 킷이 준비하고, 우리는 서비스 아이디어에만 집중한다. 이 한 문장만 들고 가시면 오늘 발표는 성공입니다. 그럼 시작해 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순서는 간단해요. 왜 만드는지, 무엇을 만드는지, 누구를 위한 건지, 그 안에 뭐가 들어 있는지. 그리고 제일 보여 드리고 싶은 npx 한 줄 세팅까지 본 다음에, 마지막으로 이 킷 위에 실제로 얹어 본 샘플 서비스, 매무새를 소개드리겠습니다. 먼저, 왜 만드는지부터 얘기해 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여러분, AI 서비스 아이디어가 떠올랐어요. 그러면 제일 먼저 뭘 만드세요? (잠깐 멈춤) 회원가입, 로그인, 비밀번호 찾기, 권한, 관리자 화면. 서비스마다 똑같은 이 기본기를 매번 처음부터 짜고 있습니다. 정작 만들고 싶었던 아이디어는 한참 뒤에 나오죠. 게다가 인증은 보안이랑 붙어 있어서, 매번 새로 만들 때마다 실수할 위험도 따라옵니다. 그래서 저희는 질문을 바꿔 봤어요. 이걸, 매번 새로 만들 필요가 있을까? 저희의 답은 '아니다'였고, 그 답이 곧 저희의 목표가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목표, 세 가지로 정리했습니다. 하나, 다시 짜지 않는다. 로그인, 권한 관리, AI 연동, 배포처럼 AI 서비스에 늘 필요한 기본기를 미리 갖춰 둡니다. 둘, 한 줄로 시작한다. 명령어 한 줄이면 프로젝트가 세팅돼요. 셋, 실제로 운영한다. 시연용으로 끝나지 않고, 진짜 배포해서 운영할 수 있는 수준을 목표로 합니다. 자, 목표는 이렇고요. 그럼 이 킷을, 누가 쓰게 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먼저 겨냥하는 건 서비스 개발자입니다. 서비스를 새로 만들 때마다 인증이나 권한 같은 공통 기능을 반복해서 만들어야 하는 분들이에요. 그다음은 그 서비스를 운영하는 관리자, 멤버를 검색하고 권한을 바꿀 화면이 필요하죠. 마지막은 서비스를 쓰는 이용자, 안전하고 익숙한 가입과 로그인이 필요합니다. 세 사람의 필요를 한 킷에서 채웁니다. 그럼 이 킷은, 어떤 서비스에 잘 맞을까요?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가장 먼저 그리는 건 AI 서비스지만, 로그인과 권한이 필요한 서비스라면 어디든 쓸 수 있어요. 쇼핑몰, 커뮤니티, 사내 관리 도구, 예약 서비스까지요. 그리고 소셜 로그인, 세부 권한 단위 제어, 2단계 인증 같은 것들은 확장팩을 통해 넓혀 갈 수 있도록 열어 뒀습니다. 지금은 구현 범위가 아니고, 이후 확장으로 가져갑니다. 자, 그럼 이 킷 안에는 정확히 뭐가 들어 있을까요? 구조부터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건물이에요. 맨 위가 내 서비스, 그 밑바닥을 Meerkit이 깔아 줍니다. 가입, 로그인, 권한, 관리자 화면, AI 화면 부품이 여기 들어 있고, 그 아래가 서버와 데이터베이스입니다. 포인트는 하나예요. 킷 코드와 서비스 코드가 서로 분리되어 있다는 것. 그래서 킷이 업데이트돼도 내 서비스는 그대로고, 개발자는 서비스 아이디어에만 집중할 수 있습니다. 그럼 이 바닥 안에, 구체적으로 뭐가 있는지 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가지입니다. 가입과 로그인, 비밀번호 재설정, 권한에 따른 역할 관리, 관리자 화면, 로그인 잠금, 그리고 이 모든 걸 한 곳에서 설정하고 관리하는 설정 관리. 닉네임이나 주소, 이메일 인증 같은 건 서비스마다 필요 여부가 다르니까 설정으로 고를 수 있게 했어요. 여기까지가 킷이 갖고 있는 기본기예요. 그런데, 이걸 어떻게 시작하느냐. 오늘 제일 보여 드리고 싶은 장면입니다.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박자 쉬고) 터미널을 엽니다. npx create-meerkit my-app. 한 줄. 프로젝트 구조가 만들어져요. 그리고 npx meerkit setup. 또 한 줄. 이 한 줄이 Node, Python, Docker 확인하고, 의존성 설치하고, 환경 변수랑 비밀키 만들고, 데이터베이스 띄우고, 마이그레이션에 관리자 계정까지 만들고, 서버를 켭니다. 그리고 끝나면, 오른쪽 화면이 열려요. 저희 웰컴 페이지입니다. 다시 실행해도 안전하고, 진행 상황은 단계마다 한 줄씩 보여요. 이 한 줄 세팅은 2차 목표로 이어서 구현해 갑니다. 동작 방식과 단계는 이미 정리해 뒀어요. 자, 세팅이 끝났어요. 그럼 그다음은요?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그다음은 설정 한 곳에서 관리하면 됩니다. 가입 폼에 닉네임, 주소, 이메일 인증을 넣고 싶다? 한 줄. 로그인을 몇 번 틀리면 몇 분 잠글지? 한 줄. 서비스 전체 로딩 모양도, 테마와 애니메이션도 한 줄이에요. 코드를 뜯지 않고, 설정으로 관리합니다. 여기까지가 기본이고요, AI 서비스를 만드시는 분들을 위해 준비한 화면도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서비스를 개발하는 분들을 위해, 저희가 화면부터 먼저 만들었어요. 이 점으로 이루어진 구슬, 보이시죠? Thinking Orb입니다. AI가 답을 준비할 때 작업 중, 찾는 중, 푸는 중, 연결 중… 아홉 가지 상태로 숨 쉬듯 움직여요. 그리고 AI 입력창, 아홉 가지 로딩 스타일까지. AI 연동은 각자의 서비스에 맞게 연결하시면 되고, 음성 입력이나 사용량 차트는 확장 기능으로 열어 뒀습니다. 자, 이렇게 킷을 소개해 드렸는데요. 이게 정말 쓸모 있는지, 저희가 직접 증명해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Meerkit 위에 샘플 서비스를 하나 얹어 봤어요. 이름은 매무새입니다. 고객이 준 두루뭉술한 요구사항 문서를 올리면, AI가 요구사항을 분류하고 정제해 줘요. 관리자가 확정하면, 그 요구사항으로 AI가 기능정의서까지 만들어 줍니다. 단정하게 매만진 모양새, 그래서 매무새예요. 그리고 중요한 건, 주인공은 매무새가 아니라는 점입니다. 주인공은 Meerkit이고, 매무새는 이 킷이 얼마나 탄탄한 공통 기반인지 보여 주는 서브 프로젝트예요. 말로만 하면 심심하니까, 맛보기로 화면을 잠깐 보여 드릴게요.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이게 매무새의 업무 화면입니다. 로그인하면 처음 만나는 화면이에요. (화면을 가리키며) 한눈에 보이시죠? 확정을 기다리는 요구사항이 몇 건인지, 지금 업무가 5단계 중 어디까지 왔는지, AI가 무슨 작업을 하고 있는지가 한 화면에 들어옵니다. 그리고 이 화면, 대부분을 Meerkit의 UI로 채웠어요. AI 입력창, 생각 중 표시, 파일 첨부 영역, 체크박스까지, 킷에서 가져다 쓴 부품들이에요. 지금은 임시 화면입니다. 화면부터 먼저 만들었고, 기능은 이어서 붙여 가고 있어요. 그럼 이 화면 뒤에서, 업무가 어떻게 흘러가는지 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화면에서 보신 다섯 단계를 조금 더 자세히 볼게요. 하나, 관리자가 프로젝트를 만들고 고객 문서를 올립니다. 텍스트를 붙여넣어도 되고 워드나 PDF도 돼요. 마크다운으로 변환해서 저장합니다. 둘, AI가 요구사항 후보를 뽑아서 기능, 비기능으로 분류하고, ID와 이름, 설명, 우선순위, 근거 문장을 붙여요. 모호한 건 확인 질문을 같이 달아 줍니다. 셋, 관리자가 필요한 항목을 체크하고 고쳐서 요구사항 정의서를 확정해요. 넷, 확정된 요구사항마다 AI가 기능정의서를 만듭니다. 기능 ID, 입력과 출력, 처리 규칙까지, 원래 요구사항과 연결해서요. 다섯, 웹 화면에서 보고, 표준 양식 엑셀로 내려받습니다. 자, 그럼 이 서비스에서 Meerkit은 어디에 쓰였을까요?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관리자만 프로젝트를 만들고 확정해야 하죠. 그건 가입, 로그인과 역할 관리가 맡습니다. 고객 문서를 올리는 건 첨부파일 영역, AI에게 분류와 생성을 요청하는 건 AI 입력창과 생각 중 표시가 있고요. 서비스를 운영하는 관리자 화면도 이미 있습니다. 그러니까 매무새는 인증과 권한, 화면을 처음부터 만들지 않았어요. 문서를 다듬는 일에만 집중했습니다. 이게 바로 Meerkit이 공통 기반으로서 하는 일이에요. 정리하면서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AI 서비스의 뼈대는 킷이 준비하고, 우리는 서비스 아이디어에만 집중한다. 이게 Meerkit입니다. 그리고 매무새는 이 킷 위에 얹은 서브 프로젝트로, Meerkit이 얼마나 완성도 있는 공통 기반인지 보여 드리는 사례예요. 들어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19088"/>
            <a:ext cx="5486400" cy="274320"/>
          </a:xfrm>
          <a:prstGeom prst="rect">
            <a:avLst/>
          </a:prstGeom>
          <a:noFill/>
          <a:ln/>
        </p:spPr>
        <p:txBody>
          <a:bodyPr wrap="square" lIns="0" tIns="0" rIns="0" bIns="0" rtlCol="0" anchor="ctr"/>
          <a:lstStyle/>
          <a:p>
            <a:pPr indent="0" marL="0">
              <a:buNone/>
            </a:pPr>
            <a:r>
              <a:rPr lang="en-US" sz="1000" dirty="0">
                <a:solidFill>
                  <a:srgbClr val="9AA5C0"/>
                </a:solidFill>
              </a:rPr>
              <a:t>Meerkit</a:t>
            </a:r>
            <a:endParaRPr lang="en-US" sz="10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eerkit logo">    </p:cNvPr>
          <p:cNvPicPr>
            <a:picLocks noChangeAspect="1"/>
          </p:cNvPicPr>
          <p:nvPr/>
        </p:nvPicPr>
        <p:blipFill>
          <a:blip r:embed="rId1"/>
          <a:stretch>
            <a:fillRect/>
          </a:stretch>
        </p:blipFill>
        <p:spPr>
          <a:xfrm>
            <a:off x="8229600" y="1463040"/>
            <a:ext cx="3291840" cy="3291840"/>
          </a:xfrm>
          <a:prstGeom prst="rect">
            <a:avLst/>
          </a:prstGeom>
        </p:spPr>
      </p:pic>
      <p:sp>
        <p:nvSpPr>
          <p:cNvPr id="3" name="Text 0"/>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400" kern="0" dirty="0">
                <a:solidFill>
                  <a:srgbClr val="2DD4BF"/>
                </a:solidFill>
              </a:rPr>
              <a:t>STARTER KIT</a:t>
            </a:r>
            <a:endParaRPr lang="en-US" sz="1400" dirty="0"/>
          </a:p>
        </p:txBody>
      </p:sp>
      <p:sp>
        <p:nvSpPr>
          <p:cNvPr id="4" name="Text 1"/>
          <p:cNvSpPr txBox="1"/>
          <p:nvPr/>
        </p:nvSpPr>
        <p:spPr>
          <a:xfrm>
            <a:off x="731520" y="1828800"/>
            <a:ext cx="7315200" cy="1280160"/>
          </a:xfrm>
          <a:prstGeom prst="rect">
            <a:avLst/>
          </a:prstGeom>
          <a:noFill/>
          <a:ln/>
        </p:spPr>
        <p:txBody>
          <a:bodyPr wrap="square" lIns="0" tIns="0" rIns="0" bIns="0" rtlCol="0" anchor="ctr"/>
          <a:lstStyle/>
          <a:p>
            <a:pPr indent="0" marL="0">
              <a:buNone/>
            </a:pPr>
            <a:r>
              <a:rPr lang="en-US" sz="8000" b="1" dirty="0">
                <a:solidFill>
                  <a:srgbClr val="F4F6FB"/>
                </a:solidFill>
              </a:rPr>
              <a:t>Meerkit</a:t>
            </a:r>
            <a:endParaRPr lang="en-US" sz="8000" dirty="0"/>
          </a:p>
        </p:txBody>
      </p:sp>
      <p:sp>
        <p:nvSpPr>
          <p:cNvPr id="5" name="Text 2"/>
          <p:cNvSpPr txBox="1"/>
          <p:nvPr/>
        </p:nvSpPr>
        <p:spPr>
          <a:xfrm>
            <a:off x="731520" y="3200400"/>
            <a:ext cx="7315200" cy="1097280"/>
          </a:xfrm>
          <a:prstGeom prst="rect">
            <a:avLst/>
          </a:prstGeom>
          <a:noFill/>
          <a:ln/>
        </p:spPr>
        <p:txBody>
          <a:bodyPr wrap="square" lIns="0" tIns="0" rIns="0" bIns="0" rtlCol="0" anchor="t"/>
          <a:lstStyle/>
          <a:p>
            <a:pPr indent="0" marL="0">
              <a:buNone/>
            </a:pPr>
            <a:r>
              <a:rPr lang="en-US" sz="2800" b="1" dirty="0">
                <a:solidFill>
                  <a:srgbClr val="F4F6FB"/>
                </a:solidFill>
              </a:rPr>
              <a:t>AI 서비스를 빠르게 시작하게 해 주는</a:t>
            </a:r>
            <a:endParaRPr lang="en-US" sz="2800" dirty="0"/>
          </a:p>
          <a:p>
            <a:pPr indent="0" marL="0">
              <a:buNone/>
            </a:pPr>
            <a:r>
              <a:rPr lang="en-US" sz="2800" b="1" dirty="0">
                <a:solidFill>
                  <a:srgbClr val="F4F6FB"/>
                </a:solidFill>
              </a:rPr>
              <a:t>스타터킷</a:t>
            </a:r>
            <a:endParaRPr lang="en-US" sz="2800" dirty="0"/>
          </a:p>
        </p:txBody>
      </p:sp>
      <p:sp>
        <p:nvSpPr>
          <p:cNvPr id="6" name="Text 3"/>
          <p:cNvSpPr txBox="1"/>
          <p:nvPr/>
        </p:nvSpPr>
        <p:spPr>
          <a:xfrm>
            <a:off x="731520" y="4526280"/>
            <a:ext cx="7315200" cy="914400"/>
          </a:xfrm>
          <a:prstGeom prst="rect">
            <a:avLst/>
          </a:prstGeom>
          <a:noFill/>
          <a:ln/>
        </p:spPr>
        <p:txBody>
          <a:bodyPr wrap="square" lIns="0" tIns="0" rIns="0" bIns="0" rtlCol="0" anchor="t"/>
          <a:lstStyle/>
          <a:p>
            <a:pPr indent="0" marL="0">
              <a:buNone/>
            </a:pPr>
            <a:r>
              <a:rPr lang="en-US" sz="1800" dirty="0">
                <a:solidFill>
                  <a:srgbClr val="C7D0E6"/>
                </a:solidFill>
              </a:rPr>
              <a:t>AI 서비스의 뼈대는 킷이 준비하고,</a:t>
            </a:r>
            <a:endParaRPr lang="en-US" sz="1800" dirty="0"/>
          </a:p>
          <a:p>
            <a:pPr indent="0" marL="0">
              <a:buNone/>
            </a:pPr>
            <a:r>
              <a:rPr lang="en-US" sz="1800" dirty="0">
                <a:solidFill>
                  <a:srgbClr val="C7D0E6"/>
                </a:solidFill>
              </a:rPr>
              <a:t>우리는 서비스 아이디어에만 집중한다.</a:t>
            </a:r>
            <a:endParaRPr lang="en-US" sz="1800" dirty="0"/>
          </a:p>
        </p:txBody>
      </p:sp>
      <p:sp>
        <p:nvSpPr>
          <p:cNvPr id="7" name="Text 4"/>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400" dirty="0">
                <a:solidFill>
                  <a:srgbClr val="9AA5C0"/>
                </a:solidFill>
              </a:rPr>
              <a:t>○○○   |   2026.10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cNvSpPr/>
          <p:nvPr/>
        </p:nvSpPr>
        <p:spPr>
          <a:xfrm>
            <a:off x="640080" y="411480"/>
            <a:ext cx="1133856" cy="347472"/>
          </a:xfrm>
          <a:prstGeom prst="roundRect">
            <a:avLst>
              <a:gd name="adj" fmla="val 50000"/>
            </a:avLst>
          </a:prstGeom>
          <a:solidFill>
            <a:srgbClr val="4F7CFF">
              <a:alpha val="20000"/>
            </a:srgbClr>
          </a:solidFill>
          <a:ln w="9525">
            <a:solidFill>
              <a:srgbClr val="4F7CFF">
                <a:alpha val="60000"/>
              </a:srgbClr>
            </a:solidFill>
            <a:prstDash val="solid"/>
          </a:ln>
        </p:spPr>
      </p:sp>
      <p:sp>
        <p:nvSpPr>
          <p:cNvPr id="3" name="Text 1"/>
          <p:cNvSpPr txBox="1"/>
          <p:nvPr/>
        </p:nvSpPr>
        <p:spPr>
          <a:xfrm>
            <a:off x="640080" y="411480"/>
            <a:ext cx="1133856" cy="347472"/>
          </a:xfrm>
          <a:prstGeom prst="rect">
            <a:avLst/>
          </a:prstGeom>
          <a:noFill/>
          <a:ln/>
        </p:spPr>
        <p:txBody>
          <a:bodyPr wrap="square" lIns="0" tIns="0" rIns="0" bIns="0" rtlCol="0" anchor="ctr"/>
          <a:lstStyle/>
          <a:p>
            <a:pPr algn="ctr" indent="0" marL="0">
              <a:buNone/>
            </a:pPr>
            <a:r>
              <a:rPr lang="en-US" sz="1200" b="1" spc="200" kern="0" dirty="0">
                <a:solidFill>
                  <a:srgbClr val="4F7CFF"/>
                </a:solidFill>
              </a:rPr>
              <a:t>AGENDA</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오늘 말씀드릴 여섯 가지</a:t>
            </a:r>
            <a:endParaRPr lang="en-US" sz="3800" dirty="0"/>
          </a:p>
        </p:txBody>
      </p:sp>
      <p:sp>
        <p:nvSpPr>
          <p:cNvPr id="5" name="card"/>
          <p:cNvSpPr/>
          <p:nvPr/>
        </p:nvSpPr>
        <p:spPr>
          <a:xfrm>
            <a:off x="640080" y="2194560"/>
            <a:ext cx="3474720" cy="1737360"/>
          </a:xfrm>
          <a:prstGeom prst="roundRect">
            <a:avLst>
              <a:gd name="adj" fmla="val 842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960120" y="2423160"/>
            <a:ext cx="1371600" cy="640080"/>
          </a:xfrm>
          <a:prstGeom prst="rect">
            <a:avLst/>
          </a:prstGeom>
          <a:noFill/>
          <a:ln/>
        </p:spPr>
        <p:txBody>
          <a:bodyPr wrap="square" lIns="0" tIns="0" rIns="0" bIns="0" rtlCol="0" anchor="t"/>
          <a:lstStyle/>
          <a:p>
            <a:pPr indent="0" marL="0">
              <a:buNone/>
            </a:pPr>
            <a:r>
              <a:rPr lang="en-US" sz="3400" b="1" dirty="0">
                <a:solidFill>
                  <a:srgbClr val="4F7CFF"/>
                </a:solidFill>
              </a:rPr>
              <a:t>01</a:t>
            </a:r>
            <a:endParaRPr lang="en-US" sz="3400" dirty="0"/>
          </a:p>
        </p:txBody>
      </p:sp>
      <p:sp>
        <p:nvSpPr>
          <p:cNvPr id="7" name="Text 5"/>
          <p:cNvSpPr txBox="1"/>
          <p:nvPr/>
        </p:nvSpPr>
        <p:spPr>
          <a:xfrm>
            <a:off x="960120" y="3108960"/>
            <a:ext cx="2834640" cy="411480"/>
          </a:xfrm>
          <a:prstGeom prst="rect">
            <a:avLst/>
          </a:prstGeom>
          <a:noFill/>
          <a:ln/>
        </p:spPr>
        <p:txBody>
          <a:bodyPr wrap="square" lIns="0" tIns="0" rIns="0" bIns="0" rtlCol="0" anchor="t"/>
          <a:lstStyle/>
          <a:p>
            <a:pPr indent="0" marL="0">
              <a:buNone/>
            </a:pPr>
            <a:r>
              <a:rPr lang="en-US" sz="2000" b="1" dirty="0">
                <a:solidFill>
                  <a:srgbClr val="F4F6FB"/>
                </a:solidFill>
              </a:rPr>
              <a:t>배경</a:t>
            </a:r>
            <a:endParaRPr lang="en-US" sz="2000" dirty="0"/>
          </a:p>
        </p:txBody>
      </p:sp>
      <p:sp>
        <p:nvSpPr>
          <p:cNvPr id="8" name="Text 6"/>
          <p:cNvSpPr txBox="1"/>
          <p:nvPr/>
        </p:nvSpPr>
        <p:spPr>
          <a:xfrm>
            <a:off x="960120" y="3520440"/>
            <a:ext cx="2834640" cy="320040"/>
          </a:xfrm>
          <a:prstGeom prst="rect">
            <a:avLst/>
          </a:prstGeom>
          <a:noFill/>
          <a:ln/>
        </p:spPr>
        <p:txBody>
          <a:bodyPr wrap="square" lIns="0" tIns="0" rIns="0" bIns="0" rtlCol="0" anchor="t"/>
          <a:lstStyle/>
          <a:p>
            <a:pPr indent="0" marL="0">
              <a:buNone/>
            </a:pPr>
            <a:r>
              <a:rPr lang="en-US" sz="1400" dirty="0">
                <a:solidFill>
                  <a:srgbClr val="9AA5C0"/>
                </a:solidFill>
              </a:rPr>
              <a:t>왜 만드나</a:t>
            </a:r>
            <a:endParaRPr lang="en-US" sz="1400" dirty="0"/>
          </a:p>
        </p:txBody>
      </p:sp>
      <p:sp>
        <p:nvSpPr>
          <p:cNvPr id="9" name="card"/>
          <p:cNvSpPr/>
          <p:nvPr/>
        </p:nvSpPr>
        <p:spPr>
          <a:xfrm>
            <a:off x="4343400" y="2194560"/>
            <a:ext cx="3474720" cy="1737360"/>
          </a:xfrm>
          <a:prstGeom prst="roundRect">
            <a:avLst>
              <a:gd name="adj" fmla="val 842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0" name="Text 8"/>
          <p:cNvSpPr txBox="1"/>
          <p:nvPr/>
        </p:nvSpPr>
        <p:spPr>
          <a:xfrm>
            <a:off x="4663440" y="2423160"/>
            <a:ext cx="1371600" cy="640080"/>
          </a:xfrm>
          <a:prstGeom prst="rect">
            <a:avLst/>
          </a:prstGeom>
          <a:noFill/>
          <a:ln/>
        </p:spPr>
        <p:txBody>
          <a:bodyPr wrap="square" lIns="0" tIns="0" rIns="0" bIns="0" rtlCol="0" anchor="t"/>
          <a:lstStyle/>
          <a:p>
            <a:pPr indent="0" marL="0">
              <a:buNone/>
            </a:pPr>
            <a:r>
              <a:rPr lang="en-US" sz="3400" b="1" dirty="0">
                <a:solidFill>
                  <a:srgbClr val="8B5CF6"/>
                </a:solidFill>
              </a:rPr>
              <a:t>02</a:t>
            </a:r>
            <a:endParaRPr lang="en-US" sz="3400" dirty="0"/>
          </a:p>
        </p:txBody>
      </p:sp>
      <p:sp>
        <p:nvSpPr>
          <p:cNvPr id="11" name="Text 9"/>
          <p:cNvSpPr txBox="1"/>
          <p:nvPr/>
        </p:nvSpPr>
        <p:spPr>
          <a:xfrm>
            <a:off x="4663440" y="3108960"/>
            <a:ext cx="2834640" cy="411480"/>
          </a:xfrm>
          <a:prstGeom prst="rect">
            <a:avLst/>
          </a:prstGeom>
          <a:noFill/>
          <a:ln/>
        </p:spPr>
        <p:txBody>
          <a:bodyPr wrap="square" lIns="0" tIns="0" rIns="0" bIns="0" rtlCol="0" anchor="t"/>
          <a:lstStyle/>
          <a:p>
            <a:pPr indent="0" marL="0">
              <a:buNone/>
            </a:pPr>
            <a:r>
              <a:rPr lang="en-US" sz="2000" b="1" dirty="0">
                <a:solidFill>
                  <a:srgbClr val="F4F6FB"/>
                </a:solidFill>
              </a:rPr>
              <a:t>목표</a:t>
            </a:r>
            <a:endParaRPr lang="en-US" sz="2000" dirty="0"/>
          </a:p>
        </p:txBody>
      </p:sp>
      <p:sp>
        <p:nvSpPr>
          <p:cNvPr id="12" name="Text 10"/>
          <p:cNvSpPr txBox="1"/>
          <p:nvPr/>
        </p:nvSpPr>
        <p:spPr>
          <a:xfrm>
            <a:off x="4663440" y="3520440"/>
            <a:ext cx="2834640" cy="320040"/>
          </a:xfrm>
          <a:prstGeom prst="rect">
            <a:avLst/>
          </a:prstGeom>
          <a:noFill/>
          <a:ln/>
        </p:spPr>
        <p:txBody>
          <a:bodyPr wrap="square" lIns="0" tIns="0" rIns="0" bIns="0" rtlCol="0" anchor="t"/>
          <a:lstStyle/>
          <a:p>
            <a:pPr indent="0" marL="0">
              <a:buNone/>
            </a:pPr>
            <a:r>
              <a:rPr lang="en-US" sz="1400" dirty="0">
                <a:solidFill>
                  <a:srgbClr val="9AA5C0"/>
                </a:solidFill>
              </a:rPr>
              <a:t>무엇을 만드나</a:t>
            </a:r>
            <a:endParaRPr lang="en-US" sz="1400" dirty="0"/>
          </a:p>
        </p:txBody>
      </p:sp>
      <p:sp>
        <p:nvSpPr>
          <p:cNvPr id="13" name="card"/>
          <p:cNvSpPr/>
          <p:nvPr/>
        </p:nvSpPr>
        <p:spPr>
          <a:xfrm>
            <a:off x="8046720" y="2194560"/>
            <a:ext cx="3474720" cy="1737360"/>
          </a:xfrm>
          <a:prstGeom prst="roundRect">
            <a:avLst>
              <a:gd name="adj" fmla="val 842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4" name="Text 12"/>
          <p:cNvSpPr txBox="1"/>
          <p:nvPr/>
        </p:nvSpPr>
        <p:spPr>
          <a:xfrm>
            <a:off x="8366760" y="2423160"/>
            <a:ext cx="1371600" cy="640080"/>
          </a:xfrm>
          <a:prstGeom prst="rect">
            <a:avLst/>
          </a:prstGeom>
          <a:noFill/>
          <a:ln/>
        </p:spPr>
        <p:txBody>
          <a:bodyPr wrap="square" lIns="0" tIns="0" rIns="0" bIns="0" rtlCol="0" anchor="t"/>
          <a:lstStyle/>
          <a:p>
            <a:pPr indent="0" marL="0">
              <a:buNone/>
            </a:pPr>
            <a:r>
              <a:rPr lang="en-US" sz="3400" b="1" dirty="0">
                <a:solidFill>
                  <a:srgbClr val="F472B6"/>
                </a:solidFill>
              </a:rPr>
              <a:t>03</a:t>
            </a:r>
            <a:endParaRPr lang="en-US" sz="3400" dirty="0"/>
          </a:p>
        </p:txBody>
      </p:sp>
      <p:sp>
        <p:nvSpPr>
          <p:cNvPr id="15" name="Text 13"/>
          <p:cNvSpPr txBox="1"/>
          <p:nvPr/>
        </p:nvSpPr>
        <p:spPr>
          <a:xfrm>
            <a:off x="8366760" y="3108960"/>
            <a:ext cx="2834640" cy="411480"/>
          </a:xfrm>
          <a:prstGeom prst="rect">
            <a:avLst/>
          </a:prstGeom>
          <a:noFill/>
          <a:ln/>
        </p:spPr>
        <p:txBody>
          <a:bodyPr wrap="square" lIns="0" tIns="0" rIns="0" bIns="0" rtlCol="0" anchor="t"/>
          <a:lstStyle/>
          <a:p>
            <a:pPr indent="0" marL="0">
              <a:buNone/>
            </a:pPr>
            <a:r>
              <a:rPr lang="en-US" sz="2000" b="1" dirty="0">
                <a:solidFill>
                  <a:srgbClr val="F4F6FB"/>
                </a:solidFill>
              </a:rPr>
              <a:t>타깃</a:t>
            </a:r>
            <a:endParaRPr lang="en-US" sz="2000" dirty="0"/>
          </a:p>
        </p:txBody>
      </p:sp>
      <p:sp>
        <p:nvSpPr>
          <p:cNvPr id="16" name="Text 14"/>
          <p:cNvSpPr txBox="1"/>
          <p:nvPr/>
        </p:nvSpPr>
        <p:spPr>
          <a:xfrm>
            <a:off x="8366760" y="3520440"/>
            <a:ext cx="2834640" cy="320040"/>
          </a:xfrm>
          <a:prstGeom prst="rect">
            <a:avLst/>
          </a:prstGeom>
          <a:noFill/>
          <a:ln/>
        </p:spPr>
        <p:txBody>
          <a:bodyPr wrap="square" lIns="0" tIns="0" rIns="0" bIns="0" rtlCol="0" anchor="t"/>
          <a:lstStyle/>
          <a:p>
            <a:pPr indent="0" marL="0">
              <a:buNone/>
            </a:pPr>
            <a:r>
              <a:rPr lang="en-US" sz="1400" dirty="0">
                <a:solidFill>
                  <a:srgbClr val="9AA5C0"/>
                </a:solidFill>
              </a:rPr>
              <a:t>누구를 위한가</a:t>
            </a:r>
            <a:endParaRPr lang="en-US" sz="1400" dirty="0"/>
          </a:p>
        </p:txBody>
      </p:sp>
      <p:sp>
        <p:nvSpPr>
          <p:cNvPr id="17" name="card"/>
          <p:cNvSpPr/>
          <p:nvPr/>
        </p:nvSpPr>
        <p:spPr>
          <a:xfrm>
            <a:off x="640080" y="4206240"/>
            <a:ext cx="3474720" cy="1737360"/>
          </a:xfrm>
          <a:prstGeom prst="roundRect">
            <a:avLst>
              <a:gd name="adj" fmla="val 842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8" name="Text 16"/>
          <p:cNvSpPr txBox="1"/>
          <p:nvPr/>
        </p:nvSpPr>
        <p:spPr>
          <a:xfrm>
            <a:off x="960120" y="4434840"/>
            <a:ext cx="1371600" cy="640080"/>
          </a:xfrm>
          <a:prstGeom prst="rect">
            <a:avLst/>
          </a:prstGeom>
          <a:noFill/>
          <a:ln/>
        </p:spPr>
        <p:txBody>
          <a:bodyPr wrap="square" lIns="0" tIns="0" rIns="0" bIns="0" rtlCol="0" anchor="t"/>
          <a:lstStyle/>
          <a:p>
            <a:pPr indent="0" marL="0">
              <a:buNone/>
            </a:pPr>
            <a:r>
              <a:rPr lang="en-US" sz="3400" b="1" dirty="0">
                <a:solidFill>
                  <a:srgbClr val="2DD4BF"/>
                </a:solidFill>
              </a:rPr>
              <a:t>04</a:t>
            </a:r>
            <a:endParaRPr lang="en-US" sz="3400" dirty="0"/>
          </a:p>
        </p:txBody>
      </p:sp>
      <p:sp>
        <p:nvSpPr>
          <p:cNvPr id="19" name="Text 17"/>
          <p:cNvSpPr txBox="1"/>
          <p:nvPr/>
        </p:nvSpPr>
        <p:spPr>
          <a:xfrm>
            <a:off x="960120" y="5120640"/>
            <a:ext cx="2834640" cy="411480"/>
          </a:xfrm>
          <a:prstGeom prst="rect">
            <a:avLst/>
          </a:prstGeom>
          <a:noFill/>
          <a:ln/>
        </p:spPr>
        <p:txBody>
          <a:bodyPr wrap="square" lIns="0" tIns="0" rIns="0" bIns="0" rtlCol="0" anchor="t"/>
          <a:lstStyle/>
          <a:p>
            <a:pPr indent="0" marL="0">
              <a:buNone/>
            </a:pPr>
            <a:r>
              <a:rPr lang="en-US" sz="2000" b="1" dirty="0">
                <a:solidFill>
                  <a:srgbClr val="F4F6FB"/>
                </a:solidFill>
              </a:rPr>
              <a:t>솔루션</a:t>
            </a:r>
            <a:endParaRPr lang="en-US" sz="2000" dirty="0"/>
          </a:p>
        </p:txBody>
      </p:sp>
      <p:sp>
        <p:nvSpPr>
          <p:cNvPr id="20" name="Text 18"/>
          <p:cNvSpPr txBox="1"/>
          <p:nvPr/>
        </p:nvSpPr>
        <p:spPr>
          <a:xfrm>
            <a:off x="960120" y="5532120"/>
            <a:ext cx="2834640" cy="320040"/>
          </a:xfrm>
          <a:prstGeom prst="rect">
            <a:avLst/>
          </a:prstGeom>
          <a:noFill/>
          <a:ln/>
        </p:spPr>
        <p:txBody>
          <a:bodyPr wrap="square" lIns="0" tIns="0" rIns="0" bIns="0" rtlCol="0" anchor="t"/>
          <a:lstStyle/>
          <a:p>
            <a:pPr indent="0" marL="0">
              <a:buNone/>
            </a:pPr>
            <a:r>
              <a:rPr lang="en-US" sz="1400" dirty="0">
                <a:solidFill>
                  <a:srgbClr val="9AA5C0"/>
                </a:solidFill>
              </a:rPr>
              <a:t>무엇이 들어 있나</a:t>
            </a:r>
            <a:endParaRPr lang="en-US" sz="1400" dirty="0"/>
          </a:p>
        </p:txBody>
      </p:sp>
      <p:sp>
        <p:nvSpPr>
          <p:cNvPr id="21" name="card"/>
          <p:cNvSpPr/>
          <p:nvPr/>
        </p:nvSpPr>
        <p:spPr>
          <a:xfrm>
            <a:off x="4343400" y="4206240"/>
            <a:ext cx="3474720" cy="1737360"/>
          </a:xfrm>
          <a:prstGeom prst="roundRect">
            <a:avLst>
              <a:gd name="adj" fmla="val 842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2" name="Text 20"/>
          <p:cNvSpPr txBox="1"/>
          <p:nvPr/>
        </p:nvSpPr>
        <p:spPr>
          <a:xfrm>
            <a:off x="4663440" y="4434840"/>
            <a:ext cx="1371600" cy="640080"/>
          </a:xfrm>
          <a:prstGeom prst="rect">
            <a:avLst/>
          </a:prstGeom>
          <a:noFill/>
          <a:ln/>
        </p:spPr>
        <p:txBody>
          <a:bodyPr wrap="square" lIns="0" tIns="0" rIns="0" bIns="0" rtlCol="0" anchor="t"/>
          <a:lstStyle/>
          <a:p>
            <a:pPr indent="0" marL="0">
              <a:buNone/>
            </a:pPr>
            <a:r>
              <a:rPr lang="en-US" sz="3400" b="1" dirty="0">
                <a:solidFill>
                  <a:srgbClr val="FBBF24"/>
                </a:solidFill>
              </a:rPr>
              <a:t>05</a:t>
            </a:r>
            <a:endParaRPr lang="en-US" sz="3400" dirty="0"/>
          </a:p>
        </p:txBody>
      </p:sp>
      <p:sp>
        <p:nvSpPr>
          <p:cNvPr id="23" name="Text 21"/>
          <p:cNvSpPr txBox="1"/>
          <p:nvPr/>
        </p:nvSpPr>
        <p:spPr>
          <a:xfrm>
            <a:off x="4663440" y="5120640"/>
            <a:ext cx="2834640" cy="411480"/>
          </a:xfrm>
          <a:prstGeom prst="rect">
            <a:avLst/>
          </a:prstGeom>
          <a:noFill/>
          <a:ln/>
        </p:spPr>
        <p:txBody>
          <a:bodyPr wrap="square" lIns="0" tIns="0" rIns="0" bIns="0" rtlCol="0" anchor="t"/>
          <a:lstStyle/>
          <a:p>
            <a:pPr indent="0" marL="0">
              <a:buNone/>
            </a:pPr>
            <a:r>
              <a:rPr lang="en-US" sz="2000" b="1" dirty="0">
                <a:solidFill>
                  <a:srgbClr val="F4F6FB"/>
                </a:solidFill>
              </a:rPr>
              <a:t>한 줄 세팅</a:t>
            </a:r>
            <a:endParaRPr lang="en-US" sz="2000" dirty="0"/>
          </a:p>
        </p:txBody>
      </p:sp>
      <p:sp>
        <p:nvSpPr>
          <p:cNvPr id="24" name="Text 22"/>
          <p:cNvSpPr txBox="1"/>
          <p:nvPr/>
        </p:nvSpPr>
        <p:spPr>
          <a:xfrm>
            <a:off x="4663440" y="5532120"/>
            <a:ext cx="2834640" cy="320040"/>
          </a:xfrm>
          <a:prstGeom prst="rect">
            <a:avLst/>
          </a:prstGeom>
          <a:noFill/>
          <a:ln/>
        </p:spPr>
        <p:txBody>
          <a:bodyPr wrap="square" lIns="0" tIns="0" rIns="0" bIns="0" rtlCol="0" anchor="t"/>
          <a:lstStyle/>
          <a:p>
            <a:pPr indent="0" marL="0">
              <a:buNone/>
            </a:pPr>
            <a:r>
              <a:rPr lang="en-US" sz="1400" dirty="0">
                <a:solidFill>
                  <a:srgbClr val="9AA5C0"/>
                </a:solidFill>
              </a:rPr>
              <a:t>npx 한 줄로 시작</a:t>
            </a:r>
            <a:endParaRPr lang="en-US" sz="1400" dirty="0"/>
          </a:p>
        </p:txBody>
      </p:sp>
      <p:sp>
        <p:nvSpPr>
          <p:cNvPr id="25" name="card"/>
          <p:cNvSpPr/>
          <p:nvPr/>
        </p:nvSpPr>
        <p:spPr>
          <a:xfrm>
            <a:off x="8046720" y="4206240"/>
            <a:ext cx="3474720" cy="1737360"/>
          </a:xfrm>
          <a:prstGeom prst="roundRect">
            <a:avLst>
              <a:gd name="adj" fmla="val 842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6" name="Text 24"/>
          <p:cNvSpPr txBox="1"/>
          <p:nvPr/>
        </p:nvSpPr>
        <p:spPr>
          <a:xfrm>
            <a:off x="8366760" y="4434840"/>
            <a:ext cx="1371600" cy="640080"/>
          </a:xfrm>
          <a:prstGeom prst="rect">
            <a:avLst/>
          </a:prstGeom>
          <a:noFill/>
          <a:ln/>
        </p:spPr>
        <p:txBody>
          <a:bodyPr wrap="square" lIns="0" tIns="0" rIns="0" bIns="0" rtlCol="0" anchor="t"/>
          <a:lstStyle/>
          <a:p>
            <a:pPr indent="0" marL="0">
              <a:buNone/>
            </a:pPr>
            <a:r>
              <a:rPr lang="en-US" sz="3400" b="1" dirty="0">
                <a:solidFill>
                  <a:srgbClr val="34D399"/>
                </a:solidFill>
              </a:rPr>
              <a:t>06</a:t>
            </a:r>
            <a:endParaRPr lang="en-US" sz="3400" dirty="0"/>
          </a:p>
        </p:txBody>
      </p:sp>
      <p:sp>
        <p:nvSpPr>
          <p:cNvPr id="27" name="Text 25"/>
          <p:cNvSpPr txBox="1"/>
          <p:nvPr/>
        </p:nvSpPr>
        <p:spPr>
          <a:xfrm>
            <a:off x="8366760" y="5120640"/>
            <a:ext cx="2834640" cy="411480"/>
          </a:xfrm>
          <a:prstGeom prst="rect">
            <a:avLst/>
          </a:prstGeom>
          <a:noFill/>
          <a:ln/>
        </p:spPr>
        <p:txBody>
          <a:bodyPr wrap="square" lIns="0" tIns="0" rIns="0" bIns="0" rtlCol="0" anchor="t"/>
          <a:lstStyle/>
          <a:p>
            <a:pPr indent="0" marL="0">
              <a:buNone/>
            </a:pPr>
            <a:r>
              <a:rPr lang="en-US" sz="2000" b="1" dirty="0">
                <a:solidFill>
                  <a:srgbClr val="F4F6FB"/>
                </a:solidFill>
              </a:rPr>
              <a:t>서브 프로젝트</a:t>
            </a:r>
            <a:endParaRPr lang="en-US" sz="2000" dirty="0"/>
          </a:p>
        </p:txBody>
      </p:sp>
      <p:sp>
        <p:nvSpPr>
          <p:cNvPr id="28" name="Text 26"/>
          <p:cNvSpPr txBox="1"/>
          <p:nvPr/>
        </p:nvSpPr>
        <p:spPr>
          <a:xfrm>
            <a:off x="8366760" y="5532120"/>
            <a:ext cx="2834640" cy="320040"/>
          </a:xfrm>
          <a:prstGeom prst="rect">
            <a:avLst/>
          </a:prstGeom>
          <a:noFill/>
          <a:ln/>
        </p:spPr>
        <p:txBody>
          <a:bodyPr wrap="square" lIns="0" tIns="0" rIns="0" bIns="0" rtlCol="0" anchor="t"/>
          <a:lstStyle/>
          <a:p>
            <a:pPr indent="0" marL="0">
              <a:buNone/>
            </a:pPr>
            <a:r>
              <a:rPr lang="en-US" sz="1400" dirty="0">
                <a:solidFill>
                  <a:srgbClr val="9AA5C0"/>
                </a:solidFill>
              </a:rPr>
              <a:t>킷 위에 얹은 매무새</a:t>
            </a:r>
            <a:endParaRPr lang="en-US" sz="14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cNvSpPr/>
          <p:nvPr/>
        </p:nvSpPr>
        <p:spPr>
          <a:xfrm>
            <a:off x="640080" y="411480"/>
            <a:ext cx="2286000" cy="347472"/>
          </a:xfrm>
          <a:prstGeom prst="roundRect">
            <a:avLst>
              <a:gd name="adj" fmla="val 50000"/>
            </a:avLst>
          </a:prstGeom>
          <a:solidFill>
            <a:srgbClr val="F472B6">
              <a:alpha val="20000"/>
            </a:srgbClr>
          </a:solidFill>
          <a:ln w="9525">
            <a:solidFill>
              <a:srgbClr val="F472B6">
                <a:alpha val="60000"/>
              </a:srgbClr>
            </a:solidFill>
            <a:prstDash val="solid"/>
          </a:ln>
        </p:spPr>
      </p:sp>
      <p:sp>
        <p:nvSpPr>
          <p:cNvPr id="3" name="Text 1"/>
          <p:cNvSpPr txBox="1"/>
          <p:nvPr/>
        </p:nvSpPr>
        <p:spPr>
          <a:xfrm>
            <a:off x="640080" y="411480"/>
            <a:ext cx="2286000" cy="347472"/>
          </a:xfrm>
          <a:prstGeom prst="rect">
            <a:avLst/>
          </a:prstGeom>
          <a:noFill/>
          <a:ln/>
        </p:spPr>
        <p:txBody>
          <a:bodyPr wrap="square" lIns="0" tIns="0" rIns="0" bIns="0" rtlCol="0" anchor="ctr"/>
          <a:lstStyle/>
          <a:p>
            <a:pPr algn="ctr" indent="0" marL="0">
              <a:buNone/>
            </a:pPr>
            <a:r>
              <a:rPr lang="en-US" sz="1200" b="1" spc="200" kern="0" dirty="0">
                <a:solidFill>
                  <a:srgbClr val="F472B6"/>
                </a:solidFill>
              </a:rPr>
              <a:t>01 · BACKGROUND</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AI 서비스를 만들 때도, 시작은 늘 같다</a:t>
            </a:r>
            <a:endParaRPr lang="en-US" sz="3800" dirty="0"/>
          </a:p>
        </p:txBody>
      </p:sp>
      <p:sp>
        <p:nvSpPr>
          <p:cNvPr id="5" name="card"/>
          <p:cNvSpPr/>
          <p:nvPr/>
        </p:nvSpPr>
        <p:spPr>
          <a:xfrm>
            <a:off x="640080" y="2194560"/>
            <a:ext cx="2011680" cy="21031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icon-bg"/>
          <p:cNvSpPr/>
          <p:nvPr/>
        </p:nvSpPr>
        <p:spPr>
          <a:xfrm>
            <a:off x="1234440" y="2468880"/>
            <a:ext cx="822960" cy="822960"/>
          </a:xfrm>
          <a:prstGeom prst="ellipse">
            <a:avLst/>
          </a:prstGeom>
          <a:solidFill>
            <a:srgbClr val="26305A"/>
          </a:solidFill>
          <a:ln w="12700">
            <a:solidFill>
              <a:srgbClr val="26305A"/>
            </a:solidFill>
            <a:prstDash val="solid"/>
          </a:ln>
        </p:spPr>
      </p:sp>
      <p:pic>
        <p:nvPicPr>
          <p:cNvPr id="7" name="Image 0" descr="icon">    </p:cNvPr>
          <p:cNvPicPr>
            <a:picLocks noChangeAspect="1"/>
          </p:cNvPicPr>
          <p:nvPr/>
        </p:nvPicPr>
        <p:blipFill>
          <a:blip r:embed="rId1"/>
          <a:stretch>
            <a:fillRect/>
          </a:stretch>
        </p:blipFill>
        <p:spPr>
          <a:xfrm>
            <a:off x="1440180" y="2674620"/>
            <a:ext cx="411480" cy="411480"/>
          </a:xfrm>
          <a:prstGeom prst="rect">
            <a:avLst/>
          </a:prstGeom>
        </p:spPr>
      </p:pic>
      <p:sp>
        <p:nvSpPr>
          <p:cNvPr id="8" name="Text 5"/>
          <p:cNvSpPr txBox="1"/>
          <p:nvPr/>
        </p:nvSpPr>
        <p:spPr>
          <a:xfrm>
            <a:off x="640080" y="3474720"/>
            <a:ext cx="2011680" cy="457200"/>
          </a:xfrm>
          <a:prstGeom prst="rect">
            <a:avLst/>
          </a:prstGeom>
          <a:noFill/>
          <a:ln/>
        </p:spPr>
        <p:txBody>
          <a:bodyPr wrap="square" lIns="0" tIns="0" rIns="0" bIns="0" rtlCol="0" anchor="t"/>
          <a:lstStyle/>
          <a:p>
            <a:pPr algn="ctr" indent="0" marL="0">
              <a:buNone/>
            </a:pPr>
            <a:r>
              <a:rPr lang="en-US" sz="1800" b="1" dirty="0">
                <a:solidFill>
                  <a:srgbClr val="F4F6FB"/>
                </a:solidFill>
              </a:rPr>
              <a:t>회원가입</a:t>
            </a:r>
            <a:endParaRPr lang="en-US" sz="1800" dirty="0"/>
          </a:p>
        </p:txBody>
      </p:sp>
      <p:sp>
        <p:nvSpPr>
          <p:cNvPr id="9" name="card"/>
          <p:cNvSpPr/>
          <p:nvPr/>
        </p:nvSpPr>
        <p:spPr>
          <a:xfrm>
            <a:off x="2862072" y="2194560"/>
            <a:ext cx="2011680" cy="21031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0" name="icon-bg"/>
          <p:cNvSpPr/>
          <p:nvPr/>
        </p:nvSpPr>
        <p:spPr>
          <a:xfrm>
            <a:off x="3456432" y="2468880"/>
            <a:ext cx="822960" cy="822960"/>
          </a:xfrm>
          <a:prstGeom prst="ellipse">
            <a:avLst/>
          </a:prstGeom>
          <a:solidFill>
            <a:srgbClr val="26305A"/>
          </a:solidFill>
          <a:ln w="12700">
            <a:solidFill>
              <a:srgbClr val="26305A"/>
            </a:solidFill>
            <a:prstDash val="solid"/>
          </a:ln>
        </p:spPr>
      </p:sp>
      <p:pic>
        <p:nvPicPr>
          <p:cNvPr id="11" name="Image 1" descr="icon">    </p:cNvPr>
          <p:cNvPicPr>
            <a:picLocks noChangeAspect="1"/>
          </p:cNvPicPr>
          <p:nvPr/>
        </p:nvPicPr>
        <p:blipFill>
          <a:blip r:embed="rId2"/>
          <a:stretch>
            <a:fillRect/>
          </a:stretch>
        </p:blipFill>
        <p:spPr>
          <a:xfrm>
            <a:off x="3662172" y="2674620"/>
            <a:ext cx="411480" cy="411480"/>
          </a:xfrm>
          <a:prstGeom prst="rect">
            <a:avLst/>
          </a:prstGeom>
        </p:spPr>
      </p:pic>
      <p:sp>
        <p:nvSpPr>
          <p:cNvPr id="12" name="Text 8"/>
          <p:cNvSpPr txBox="1"/>
          <p:nvPr/>
        </p:nvSpPr>
        <p:spPr>
          <a:xfrm>
            <a:off x="2862072" y="3474720"/>
            <a:ext cx="2011680" cy="457200"/>
          </a:xfrm>
          <a:prstGeom prst="rect">
            <a:avLst/>
          </a:prstGeom>
          <a:noFill/>
          <a:ln/>
        </p:spPr>
        <p:txBody>
          <a:bodyPr wrap="square" lIns="0" tIns="0" rIns="0" bIns="0" rtlCol="0" anchor="t"/>
          <a:lstStyle/>
          <a:p>
            <a:pPr algn="ctr" indent="0" marL="0">
              <a:buNone/>
            </a:pPr>
            <a:r>
              <a:rPr lang="en-US" sz="1800" b="1" dirty="0">
                <a:solidFill>
                  <a:srgbClr val="F4F6FB"/>
                </a:solidFill>
              </a:rPr>
              <a:t>로그인</a:t>
            </a:r>
            <a:endParaRPr lang="en-US" sz="1800" dirty="0"/>
          </a:p>
        </p:txBody>
      </p:sp>
      <p:sp>
        <p:nvSpPr>
          <p:cNvPr id="13" name="card"/>
          <p:cNvSpPr/>
          <p:nvPr/>
        </p:nvSpPr>
        <p:spPr>
          <a:xfrm>
            <a:off x="5084064" y="2194560"/>
            <a:ext cx="2011680" cy="21031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4" name="icon-bg"/>
          <p:cNvSpPr/>
          <p:nvPr/>
        </p:nvSpPr>
        <p:spPr>
          <a:xfrm>
            <a:off x="5678424" y="2468880"/>
            <a:ext cx="822960" cy="822960"/>
          </a:xfrm>
          <a:prstGeom prst="ellipse">
            <a:avLst/>
          </a:prstGeom>
          <a:solidFill>
            <a:srgbClr val="26305A"/>
          </a:solidFill>
          <a:ln w="12700">
            <a:solidFill>
              <a:srgbClr val="26305A"/>
            </a:solidFill>
            <a:prstDash val="solid"/>
          </a:ln>
        </p:spPr>
      </p:sp>
      <p:pic>
        <p:nvPicPr>
          <p:cNvPr id="15" name="Image 2" descr="icon">    </p:cNvPr>
          <p:cNvPicPr>
            <a:picLocks noChangeAspect="1"/>
          </p:cNvPicPr>
          <p:nvPr/>
        </p:nvPicPr>
        <p:blipFill>
          <a:blip r:embed="rId3"/>
          <a:stretch>
            <a:fillRect/>
          </a:stretch>
        </p:blipFill>
        <p:spPr>
          <a:xfrm>
            <a:off x="5884164" y="2674620"/>
            <a:ext cx="411480" cy="411480"/>
          </a:xfrm>
          <a:prstGeom prst="rect">
            <a:avLst/>
          </a:prstGeom>
        </p:spPr>
      </p:pic>
      <p:sp>
        <p:nvSpPr>
          <p:cNvPr id="16" name="Text 11"/>
          <p:cNvSpPr txBox="1"/>
          <p:nvPr/>
        </p:nvSpPr>
        <p:spPr>
          <a:xfrm>
            <a:off x="5084064" y="3474720"/>
            <a:ext cx="2011680" cy="457200"/>
          </a:xfrm>
          <a:prstGeom prst="rect">
            <a:avLst/>
          </a:prstGeom>
          <a:noFill/>
          <a:ln/>
        </p:spPr>
        <p:txBody>
          <a:bodyPr wrap="square" lIns="0" tIns="0" rIns="0" bIns="0" rtlCol="0" anchor="t"/>
          <a:lstStyle/>
          <a:p>
            <a:pPr algn="ctr" indent="0" marL="0">
              <a:buNone/>
            </a:pPr>
            <a:r>
              <a:rPr lang="en-US" sz="1800" b="1" dirty="0">
                <a:solidFill>
                  <a:srgbClr val="F4F6FB"/>
                </a:solidFill>
              </a:rPr>
              <a:t>비밀번호 찾기</a:t>
            </a:r>
            <a:endParaRPr lang="en-US" sz="1800" dirty="0"/>
          </a:p>
        </p:txBody>
      </p:sp>
      <p:sp>
        <p:nvSpPr>
          <p:cNvPr id="17" name="card"/>
          <p:cNvSpPr/>
          <p:nvPr/>
        </p:nvSpPr>
        <p:spPr>
          <a:xfrm>
            <a:off x="7306056" y="2194560"/>
            <a:ext cx="2011680" cy="21031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8" name="icon-bg"/>
          <p:cNvSpPr/>
          <p:nvPr/>
        </p:nvSpPr>
        <p:spPr>
          <a:xfrm>
            <a:off x="7900416" y="2468880"/>
            <a:ext cx="822960" cy="822960"/>
          </a:xfrm>
          <a:prstGeom prst="ellipse">
            <a:avLst/>
          </a:prstGeom>
          <a:solidFill>
            <a:srgbClr val="26305A"/>
          </a:solidFill>
          <a:ln w="12700">
            <a:solidFill>
              <a:srgbClr val="26305A"/>
            </a:solidFill>
            <a:prstDash val="solid"/>
          </a:ln>
        </p:spPr>
      </p:sp>
      <p:pic>
        <p:nvPicPr>
          <p:cNvPr id="19" name="Image 3" descr="icon">    </p:cNvPr>
          <p:cNvPicPr>
            <a:picLocks noChangeAspect="1"/>
          </p:cNvPicPr>
          <p:nvPr/>
        </p:nvPicPr>
        <p:blipFill>
          <a:blip r:embed="rId4"/>
          <a:stretch>
            <a:fillRect/>
          </a:stretch>
        </p:blipFill>
        <p:spPr>
          <a:xfrm>
            <a:off x="8106156" y="2674620"/>
            <a:ext cx="411480" cy="411480"/>
          </a:xfrm>
          <a:prstGeom prst="rect">
            <a:avLst/>
          </a:prstGeom>
        </p:spPr>
      </p:pic>
      <p:sp>
        <p:nvSpPr>
          <p:cNvPr id="20" name="Text 14"/>
          <p:cNvSpPr txBox="1"/>
          <p:nvPr/>
        </p:nvSpPr>
        <p:spPr>
          <a:xfrm>
            <a:off x="7306056" y="3474720"/>
            <a:ext cx="2011680" cy="457200"/>
          </a:xfrm>
          <a:prstGeom prst="rect">
            <a:avLst/>
          </a:prstGeom>
          <a:noFill/>
          <a:ln/>
        </p:spPr>
        <p:txBody>
          <a:bodyPr wrap="square" lIns="0" tIns="0" rIns="0" bIns="0" rtlCol="0" anchor="t"/>
          <a:lstStyle/>
          <a:p>
            <a:pPr algn="ctr" indent="0" marL="0">
              <a:buNone/>
            </a:pPr>
            <a:r>
              <a:rPr lang="en-US" sz="1800" b="1" dirty="0">
                <a:solidFill>
                  <a:srgbClr val="F4F6FB"/>
                </a:solidFill>
              </a:rPr>
              <a:t>권한 관리</a:t>
            </a:r>
            <a:endParaRPr lang="en-US" sz="1800" dirty="0"/>
          </a:p>
        </p:txBody>
      </p:sp>
      <p:sp>
        <p:nvSpPr>
          <p:cNvPr id="21" name="card"/>
          <p:cNvSpPr/>
          <p:nvPr/>
        </p:nvSpPr>
        <p:spPr>
          <a:xfrm>
            <a:off x="9528048" y="2194560"/>
            <a:ext cx="2011680" cy="21031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2" name="icon-bg"/>
          <p:cNvSpPr/>
          <p:nvPr/>
        </p:nvSpPr>
        <p:spPr>
          <a:xfrm>
            <a:off x="10122408" y="2468880"/>
            <a:ext cx="822960" cy="822960"/>
          </a:xfrm>
          <a:prstGeom prst="ellipse">
            <a:avLst/>
          </a:prstGeom>
          <a:solidFill>
            <a:srgbClr val="26305A"/>
          </a:solidFill>
          <a:ln w="12700">
            <a:solidFill>
              <a:srgbClr val="26305A"/>
            </a:solidFill>
            <a:prstDash val="solid"/>
          </a:ln>
        </p:spPr>
      </p:sp>
      <p:pic>
        <p:nvPicPr>
          <p:cNvPr id="23" name="Image 4" descr="icon">    </p:cNvPr>
          <p:cNvPicPr>
            <a:picLocks noChangeAspect="1"/>
          </p:cNvPicPr>
          <p:nvPr/>
        </p:nvPicPr>
        <p:blipFill>
          <a:blip r:embed="rId5"/>
          <a:stretch>
            <a:fillRect/>
          </a:stretch>
        </p:blipFill>
        <p:spPr>
          <a:xfrm>
            <a:off x="10328148" y="2674620"/>
            <a:ext cx="411480" cy="411480"/>
          </a:xfrm>
          <a:prstGeom prst="rect">
            <a:avLst/>
          </a:prstGeom>
        </p:spPr>
      </p:pic>
      <p:sp>
        <p:nvSpPr>
          <p:cNvPr id="24" name="Text 17"/>
          <p:cNvSpPr txBox="1"/>
          <p:nvPr/>
        </p:nvSpPr>
        <p:spPr>
          <a:xfrm>
            <a:off x="9528048" y="3474720"/>
            <a:ext cx="2011680" cy="457200"/>
          </a:xfrm>
          <a:prstGeom prst="rect">
            <a:avLst/>
          </a:prstGeom>
          <a:noFill/>
          <a:ln/>
        </p:spPr>
        <p:txBody>
          <a:bodyPr wrap="square" lIns="0" tIns="0" rIns="0" bIns="0" rtlCol="0" anchor="t"/>
          <a:lstStyle/>
          <a:p>
            <a:pPr algn="ctr" indent="0" marL="0">
              <a:buNone/>
            </a:pPr>
            <a:r>
              <a:rPr lang="en-US" sz="1800" b="1" dirty="0">
                <a:solidFill>
                  <a:srgbClr val="F4F6FB"/>
                </a:solidFill>
              </a:rPr>
              <a:t>관리자 화면</a:t>
            </a:r>
            <a:endParaRPr lang="en-US" sz="1800" dirty="0"/>
          </a:p>
        </p:txBody>
      </p:sp>
      <p:sp>
        <p:nvSpPr>
          <p:cNvPr id="25" name="card"/>
          <p:cNvSpPr/>
          <p:nvPr/>
        </p:nvSpPr>
        <p:spPr>
          <a:xfrm>
            <a:off x="640080" y="4663440"/>
            <a:ext cx="10908792" cy="1280160"/>
          </a:xfrm>
          <a:prstGeom prst="roundRect">
            <a:avLst>
              <a:gd name="adj" fmla="val 11429"/>
            </a:avLst>
          </a:prstGeom>
          <a:solidFill>
            <a:srgbClr val="1A234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6" name="Text 19"/>
          <p:cNvSpPr txBox="1"/>
          <p:nvPr/>
        </p:nvSpPr>
        <p:spPr>
          <a:xfrm>
            <a:off x="1005840" y="4828032"/>
            <a:ext cx="10149840" cy="457200"/>
          </a:xfrm>
          <a:prstGeom prst="rect">
            <a:avLst/>
          </a:prstGeom>
          <a:noFill/>
          <a:ln/>
        </p:spPr>
        <p:txBody>
          <a:bodyPr wrap="square" lIns="0" tIns="0" rIns="0" bIns="0" rtlCol="0" anchor="t"/>
          <a:lstStyle/>
          <a:p>
            <a:pPr indent="0" marL="0">
              <a:buNone/>
            </a:pPr>
            <a:r>
              <a:rPr lang="en-US" sz="1800" dirty="0">
                <a:solidFill>
                  <a:srgbClr val="9AA5C0"/>
                </a:solidFill>
              </a:rPr>
              <a:t>아이디어는 AI 서비스인데, 가장 먼저 만드는 건 이것들</a:t>
            </a:r>
            <a:endParaRPr lang="en-US" sz="1800" dirty="0"/>
          </a:p>
        </p:txBody>
      </p:sp>
      <p:sp>
        <p:nvSpPr>
          <p:cNvPr id="27" name="Text 20"/>
          <p:cNvSpPr txBox="1"/>
          <p:nvPr/>
        </p:nvSpPr>
        <p:spPr>
          <a:xfrm>
            <a:off x="1005840" y="5285232"/>
            <a:ext cx="10149840" cy="548640"/>
          </a:xfrm>
          <a:prstGeom prst="rect">
            <a:avLst/>
          </a:prstGeom>
          <a:noFill/>
          <a:ln/>
        </p:spPr>
        <p:txBody>
          <a:bodyPr wrap="square" lIns="0" tIns="0" rIns="0" bIns="0" rtlCol="0" anchor="t"/>
          <a:lstStyle/>
          <a:p>
            <a:pPr indent="0" marL="0">
              <a:buNone/>
            </a:pPr>
            <a:r>
              <a:rPr lang="en-US" sz="2000" b="1" dirty="0">
                <a:solidFill>
                  <a:srgbClr val="F4F6FB"/>
                </a:solidFill>
              </a:rPr>
              <a:t>서비스마다 똑같은 기본기를 처음부터 다시 짜느라, 정작 서비스 아이디어는 한참 뒤로 밀린다.</a:t>
            </a:r>
            <a:endParaRPr lang="en-US" sz="20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p:nvPr/>
        </p:nvSpPr>
        <p:spPr>
          <a:xfrm>
            <a:off x="640080" y="411480"/>
            <a:ext cx="1517904" cy="347472"/>
          </a:xfrm>
          <a:prstGeom prst="roundRect">
            <a:avLst>
              <a:gd name="adj" fmla="val 50000"/>
            </a:avLst>
          </a:prstGeom>
          <a:solidFill>
            <a:srgbClr val="8B5CF6">
              <a:alpha val="20000"/>
            </a:srgbClr>
          </a:solidFill>
          <a:ln w="9525">
            <a:solidFill>
              <a:srgbClr val="8B5CF6">
                <a:alpha val="60000"/>
              </a:srgbClr>
            </a:solidFill>
            <a:prstDash val="solid"/>
          </a:ln>
        </p:spPr>
      </p:sp>
      <p:sp>
        <p:nvSpPr>
          <p:cNvPr id="3" name="Text 1"/>
          <p:cNvSpPr txBox="1"/>
          <p:nvPr/>
        </p:nvSpPr>
        <p:spPr>
          <a:xfrm>
            <a:off x="640080" y="411480"/>
            <a:ext cx="1517904" cy="347472"/>
          </a:xfrm>
          <a:prstGeom prst="rect">
            <a:avLst/>
          </a:prstGeom>
          <a:noFill/>
          <a:ln/>
        </p:spPr>
        <p:txBody>
          <a:bodyPr wrap="square" lIns="0" tIns="0" rIns="0" bIns="0" rtlCol="0" anchor="ctr"/>
          <a:lstStyle/>
          <a:p>
            <a:pPr algn="ctr" indent="0" marL="0">
              <a:buNone/>
            </a:pPr>
            <a:r>
              <a:rPr lang="en-US" sz="1200" b="1" spc="200" kern="0" dirty="0">
                <a:solidFill>
                  <a:srgbClr val="8B5CF6"/>
                </a:solidFill>
              </a:rPr>
              <a:t>02 · GOAL</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AI 서비스에 필요한 기본기를 미리 갖춰 둔다</a:t>
            </a:r>
            <a:endParaRPr lang="en-US" sz="3800" dirty="0"/>
          </a:p>
        </p:txBody>
      </p:sp>
      <p:sp>
        <p:nvSpPr>
          <p:cNvPr id="5" name="card"/>
          <p:cNvSpPr/>
          <p:nvPr/>
        </p:nvSpPr>
        <p:spPr>
          <a:xfrm>
            <a:off x="640080" y="2194560"/>
            <a:ext cx="3474720" cy="3749040"/>
          </a:xfrm>
          <a:prstGeom prst="roundRect">
            <a:avLst>
              <a:gd name="adj" fmla="val 421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1005840" y="2468880"/>
            <a:ext cx="2743200" cy="320040"/>
          </a:xfrm>
          <a:prstGeom prst="rect">
            <a:avLst/>
          </a:prstGeom>
          <a:noFill/>
          <a:ln/>
        </p:spPr>
        <p:txBody>
          <a:bodyPr wrap="square" lIns="0" tIns="0" rIns="0" bIns="0" rtlCol="0" anchor="t"/>
          <a:lstStyle/>
          <a:p>
            <a:pPr indent="0" marL="0">
              <a:buNone/>
            </a:pPr>
            <a:r>
              <a:rPr lang="en-US" sz="1200" b="1" spc="300" kern="0" dirty="0">
                <a:solidFill>
                  <a:srgbClr val="4F7CFF"/>
                </a:solidFill>
              </a:rPr>
              <a:t>GOAL 1</a:t>
            </a:r>
            <a:endParaRPr lang="en-US" sz="1200" dirty="0"/>
          </a:p>
        </p:txBody>
      </p:sp>
      <p:sp>
        <p:nvSpPr>
          <p:cNvPr id="7" name="icon-bg"/>
          <p:cNvSpPr/>
          <p:nvPr/>
        </p:nvSpPr>
        <p:spPr>
          <a:xfrm>
            <a:off x="1005840" y="2926080"/>
            <a:ext cx="868680" cy="868680"/>
          </a:xfrm>
          <a:prstGeom prst="ellipse">
            <a:avLst/>
          </a:prstGeom>
          <a:solidFill>
            <a:srgbClr val="4F7CFF"/>
          </a:solidFill>
          <a:ln w="12700">
            <a:solidFill>
              <a:srgbClr val="4F7CFF"/>
            </a:solidFill>
            <a:prstDash val="solid"/>
          </a:ln>
        </p:spPr>
      </p:sp>
      <p:pic>
        <p:nvPicPr>
          <p:cNvPr id="8" name="Image 0" descr="icon">    </p:cNvPr>
          <p:cNvPicPr>
            <a:picLocks noChangeAspect="1"/>
          </p:cNvPicPr>
          <p:nvPr/>
        </p:nvPicPr>
        <p:blipFill>
          <a:blip r:embed="rId1"/>
          <a:stretch>
            <a:fillRect/>
          </a:stretch>
        </p:blipFill>
        <p:spPr>
          <a:xfrm>
            <a:off x="1223010" y="3143250"/>
            <a:ext cx="434340" cy="434340"/>
          </a:xfrm>
          <a:prstGeom prst="rect">
            <a:avLst/>
          </a:prstGeom>
        </p:spPr>
      </p:pic>
      <p:sp>
        <p:nvSpPr>
          <p:cNvPr id="9" name="Text 6"/>
          <p:cNvSpPr txBox="1"/>
          <p:nvPr/>
        </p:nvSpPr>
        <p:spPr>
          <a:xfrm>
            <a:off x="1005840" y="3977640"/>
            <a:ext cx="2743200" cy="548640"/>
          </a:xfrm>
          <a:prstGeom prst="rect">
            <a:avLst/>
          </a:prstGeom>
          <a:noFill/>
          <a:ln/>
        </p:spPr>
        <p:txBody>
          <a:bodyPr wrap="square" lIns="0" tIns="0" rIns="0" bIns="0" rtlCol="0" anchor="t"/>
          <a:lstStyle/>
          <a:p>
            <a:pPr indent="0" marL="0">
              <a:buNone/>
            </a:pPr>
            <a:r>
              <a:rPr lang="en-US" sz="2200" b="1" dirty="0">
                <a:solidFill>
                  <a:srgbClr val="F4F6FB"/>
                </a:solidFill>
              </a:rPr>
              <a:t>다시 짜지 않는다</a:t>
            </a:r>
            <a:endParaRPr lang="en-US" sz="2200" dirty="0"/>
          </a:p>
        </p:txBody>
      </p:sp>
      <p:sp>
        <p:nvSpPr>
          <p:cNvPr id="10" name="Text 7"/>
          <p:cNvSpPr txBox="1"/>
          <p:nvPr/>
        </p:nvSpPr>
        <p:spPr>
          <a:xfrm>
            <a:off x="1005840" y="4617720"/>
            <a:ext cx="2743200" cy="1188720"/>
          </a:xfrm>
          <a:prstGeom prst="rect">
            <a:avLst/>
          </a:prstGeom>
          <a:noFill/>
          <a:ln/>
        </p:spPr>
        <p:txBody>
          <a:bodyPr wrap="square" lIns="0" tIns="0" rIns="0" bIns="0" rtlCol="0" anchor="t"/>
          <a:lstStyle/>
          <a:p>
            <a:pPr indent="0" marL="0">
              <a:buNone/>
            </a:pPr>
            <a:r>
              <a:rPr lang="en-US" sz="1400" dirty="0">
                <a:solidFill>
                  <a:srgbClr val="9AA5C0"/>
                </a:solidFill>
              </a:rPr>
              <a:t>로그인 · 권한 관리 · AI 연동 · 배포처럼 AI 서비스에 늘 필요한 기본기를 미리 갖춰 둔다</a:t>
            </a:r>
            <a:endParaRPr lang="en-US" sz="1400" dirty="0"/>
          </a:p>
        </p:txBody>
      </p:sp>
      <p:sp>
        <p:nvSpPr>
          <p:cNvPr id="11" name="card"/>
          <p:cNvSpPr/>
          <p:nvPr/>
        </p:nvSpPr>
        <p:spPr>
          <a:xfrm>
            <a:off x="4343400" y="2194560"/>
            <a:ext cx="3474720" cy="3749040"/>
          </a:xfrm>
          <a:prstGeom prst="roundRect">
            <a:avLst>
              <a:gd name="adj" fmla="val 421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2" name="Text 9"/>
          <p:cNvSpPr txBox="1"/>
          <p:nvPr/>
        </p:nvSpPr>
        <p:spPr>
          <a:xfrm>
            <a:off x="4709160" y="2468880"/>
            <a:ext cx="2743200" cy="320040"/>
          </a:xfrm>
          <a:prstGeom prst="rect">
            <a:avLst/>
          </a:prstGeom>
          <a:noFill/>
          <a:ln/>
        </p:spPr>
        <p:txBody>
          <a:bodyPr wrap="square" lIns="0" tIns="0" rIns="0" bIns="0" rtlCol="0" anchor="t"/>
          <a:lstStyle/>
          <a:p>
            <a:pPr indent="0" marL="0">
              <a:buNone/>
            </a:pPr>
            <a:r>
              <a:rPr lang="en-US" sz="1200" b="1" spc="300" kern="0" dirty="0">
                <a:solidFill>
                  <a:srgbClr val="8B5CF6"/>
                </a:solidFill>
              </a:rPr>
              <a:t>GOAL 2</a:t>
            </a:r>
            <a:endParaRPr lang="en-US" sz="1200" dirty="0"/>
          </a:p>
        </p:txBody>
      </p:sp>
      <p:sp>
        <p:nvSpPr>
          <p:cNvPr id="13" name="icon-bg"/>
          <p:cNvSpPr/>
          <p:nvPr/>
        </p:nvSpPr>
        <p:spPr>
          <a:xfrm>
            <a:off x="4709160" y="2926080"/>
            <a:ext cx="868680" cy="868680"/>
          </a:xfrm>
          <a:prstGeom prst="ellipse">
            <a:avLst/>
          </a:prstGeom>
          <a:solidFill>
            <a:srgbClr val="8B5CF6"/>
          </a:solidFill>
          <a:ln w="12700">
            <a:solidFill>
              <a:srgbClr val="8B5CF6"/>
            </a:solidFill>
            <a:prstDash val="solid"/>
          </a:ln>
        </p:spPr>
      </p:sp>
      <p:pic>
        <p:nvPicPr>
          <p:cNvPr id="14" name="Image 1" descr="icon">    </p:cNvPr>
          <p:cNvPicPr>
            <a:picLocks noChangeAspect="1"/>
          </p:cNvPicPr>
          <p:nvPr/>
        </p:nvPicPr>
        <p:blipFill>
          <a:blip r:embed="rId2"/>
          <a:stretch>
            <a:fillRect/>
          </a:stretch>
        </p:blipFill>
        <p:spPr>
          <a:xfrm>
            <a:off x="4926330" y="3143250"/>
            <a:ext cx="434340" cy="434340"/>
          </a:xfrm>
          <a:prstGeom prst="rect">
            <a:avLst/>
          </a:prstGeom>
        </p:spPr>
      </p:pic>
      <p:sp>
        <p:nvSpPr>
          <p:cNvPr id="15" name="Text 11"/>
          <p:cNvSpPr txBox="1"/>
          <p:nvPr/>
        </p:nvSpPr>
        <p:spPr>
          <a:xfrm>
            <a:off x="4709160" y="3977640"/>
            <a:ext cx="2743200" cy="548640"/>
          </a:xfrm>
          <a:prstGeom prst="rect">
            <a:avLst/>
          </a:prstGeom>
          <a:noFill/>
          <a:ln/>
        </p:spPr>
        <p:txBody>
          <a:bodyPr wrap="square" lIns="0" tIns="0" rIns="0" bIns="0" rtlCol="0" anchor="t"/>
          <a:lstStyle/>
          <a:p>
            <a:pPr indent="0" marL="0">
              <a:buNone/>
            </a:pPr>
            <a:r>
              <a:rPr lang="en-US" sz="2200" b="1" dirty="0">
                <a:solidFill>
                  <a:srgbClr val="F4F6FB"/>
                </a:solidFill>
              </a:rPr>
              <a:t>한 줄로 시작한다</a:t>
            </a:r>
            <a:endParaRPr lang="en-US" sz="2200" dirty="0"/>
          </a:p>
        </p:txBody>
      </p:sp>
      <p:sp>
        <p:nvSpPr>
          <p:cNvPr id="16" name="Text 12"/>
          <p:cNvSpPr txBox="1"/>
          <p:nvPr/>
        </p:nvSpPr>
        <p:spPr>
          <a:xfrm>
            <a:off x="4709160" y="4617720"/>
            <a:ext cx="2743200" cy="1188720"/>
          </a:xfrm>
          <a:prstGeom prst="rect">
            <a:avLst/>
          </a:prstGeom>
          <a:noFill/>
          <a:ln/>
        </p:spPr>
        <p:txBody>
          <a:bodyPr wrap="square" lIns="0" tIns="0" rIns="0" bIns="0" rtlCol="0" anchor="t"/>
          <a:lstStyle/>
          <a:p>
            <a:pPr indent="0" marL="0">
              <a:buNone/>
            </a:pPr>
            <a:r>
              <a:rPr lang="en-US" sz="1400" dirty="0">
                <a:solidFill>
                  <a:srgbClr val="9AA5C0"/>
                </a:solidFill>
              </a:rPr>
              <a:t>명령어 한 줄이면 프로젝트가 세팅된다</a:t>
            </a:r>
            <a:endParaRPr lang="en-US" sz="1400" dirty="0"/>
          </a:p>
        </p:txBody>
      </p:sp>
      <p:sp>
        <p:nvSpPr>
          <p:cNvPr id="17" name="card"/>
          <p:cNvSpPr/>
          <p:nvPr/>
        </p:nvSpPr>
        <p:spPr>
          <a:xfrm>
            <a:off x="8046720" y="2194560"/>
            <a:ext cx="3474720" cy="3749040"/>
          </a:xfrm>
          <a:prstGeom prst="roundRect">
            <a:avLst>
              <a:gd name="adj" fmla="val 421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8" name="Text 14"/>
          <p:cNvSpPr txBox="1"/>
          <p:nvPr/>
        </p:nvSpPr>
        <p:spPr>
          <a:xfrm>
            <a:off x="8412480" y="2468880"/>
            <a:ext cx="2743200" cy="320040"/>
          </a:xfrm>
          <a:prstGeom prst="rect">
            <a:avLst/>
          </a:prstGeom>
          <a:noFill/>
          <a:ln/>
        </p:spPr>
        <p:txBody>
          <a:bodyPr wrap="square" lIns="0" tIns="0" rIns="0" bIns="0" rtlCol="0" anchor="t"/>
          <a:lstStyle/>
          <a:p>
            <a:pPr indent="0" marL="0">
              <a:buNone/>
            </a:pPr>
            <a:r>
              <a:rPr lang="en-US" sz="1200" b="1" spc="300" kern="0" dirty="0">
                <a:solidFill>
                  <a:srgbClr val="F472B6"/>
                </a:solidFill>
              </a:rPr>
              <a:t>GOAL 3</a:t>
            </a:r>
            <a:endParaRPr lang="en-US" sz="1200" dirty="0"/>
          </a:p>
        </p:txBody>
      </p:sp>
      <p:sp>
        <p:nvSpPr>
          <p:cNvPr id="19" name="icon-bg"/>
          <p:cNvSpPr/>
          <p:nvPr/>
        </p:nvSpPr>
        <p:spPr>
          <a:xfrm>
            <a:off x="8412480" y="2926080"/>
            <a:ext cx="868680" cy="868680"/>
          </a:xfrm>
          <a:prstGeom prst="ellipse">
            <a:avLst/>
          </a:prstGeom>
          <a:solidFill>
            <a:srgbClr val="F472B6"/>
          </a:solidFill>
          <a:ln w="12700">
            <a:solidFill>
              <a:srgbClr val="F472B6"/>
            </a:solidFill>
            <a:prstDash val="solid"/>
          </a:ln>
        </p:spPr>
      </p:sp>
      <p:pic>
        <p:nvPicPr>
          <p:cNvPr id="20" name="Image 2" descr="icon">    </p:cNvPr>
          <p:cNvPicPr>
            <a:picLocks noChangeAspect="1"/>
          </p:cNvPicPr>
          <p:nvPr/>
        </p:nvPicPr>
        <p:blipFill>
          <a:blip r:embed="rId3"/>
          <a:stretch>
            <a:fillRect/>
          </a:stretch>
        </p:blipFill>
        <p:spPr>
          <a:xfrm>
            <a:off x="8629650" y="3143250"/>
            <a:ext cx="434340" cy="434340"/>
          </a:xfrm>
          <a:prstGeom prst="rect">
            <a:avLst/>
          </a:prstGeom>
        </p:spPr>
      </p:pic>
      <p:sp>
        <p:nvSpPr>
          <p:cNvPr id="21" name="Text 16"/>
          <p:cNvSpPr txBox="1"/>
          <p:nvPr/>
        </p:nvSpPr>
        <p:spPr>
          <a:xfrm>
            <a:off x="8412480" y="3977640"/>
            <a:ext cx="2743200" cy="548640"/>
          </a:xfrm>
          <a:prstGeom prst="rect">
            <a:avLst/>
          </a:prstGeom>
          <a:noFill/>
          <a:ln/>
        </p:spPr>
        <p:txBody>
          <a:bodyPr wrap="square" lIns="0" tIns="0" rIns="0" bIns="0" rtlCol="0" anchor="t"/>
          <a:lstStyle/>
          <a:p>
            <a:pPr indent="0" marL="0">
              <a:buNone/>
            </a:pPr>
            <a:r>
              <a:rPr lang="en-US" sz="2200" b="1" dirty="0">
                <a:solidFill>
                  <a:srgbClr val="F4F6FB"/>
                </a:solidFill>
              </a:rPr>
              <a:t>실제로 운영한다</a:t>
            </a:r>
            <a:endParaRPr lang="en-US" sz="2200" dirty="0"/>
          </a:p>
        </p:txBody>
      </p:sp>
      <p:sp>
        <p:nvSpPr>
          <p:cNvPr id="22" name="Text 17"/>
          <p:cNvSpPr txBox="1"/>
          <p:nvPr/>
        </p:nvSpPr>
        <p:spPr>
          <a:xfrm>
            <a:off x="8412480" y="4617720"/>
            <a:ext cx="2743200" cy="1188720"/>
          </a:xfrm>
          <a:prstGeom prst="rect">
            <a:avLst/>
          </a:prstGeom>
          <a:noFill/>
          <a:ln/>
        </p:spPr>
        <p:txBody>
          <a:bodyPr wrap="square" lIns="0" tIns="0" rIns="0" bIns="0" rtlCol="0" anchor="t"/>
          <a:lstStyle/>
          <a:p>
            <a:pPr indent="0" marL="0">
              <a:buNone/>
            </a:pPr>
            <a:r>
              <a:rPr lang="en-US" sz="1400" dirty="0">
                <a:solidFill>
                  <a:srgbClr val="9AA5C0"/>
                </a:solidFill>
              </a:rPr>
              <a:t>시연용으로 끝나지 않고, 배포해서 운영할 수 있는 수준을 목표로 한다</a:t>
            </a:r>
            <a:endParaRPr lang="en-US" sz="14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p:cNvSpPr/>
          <p:nvPr/>
        </p:nvSpPr>
        <p:spPr>
          <a:xfrm>
            <a:off x="640080" y="411480"/>
            <a:ext cx="1773936" cy="347472"/>
          </a:xfrm>
          <a:prstGeom prst="roundRect">
            <a:avLst>
              <a:gd name="adj" fmla="val 50000"/>
            </a:avLst>
          </a:prstGeom>
          <a:solidFill>
            <a:srgbClr val="2DD4BF">
              <a:alpha val="20000"/>
            </a:srgbClr>
          </a:solidFill>
          <a:ln w="9525">
            <a:solidFill>
              <a:srgbClr val="2DD4BF">
                <a:alpha val="60000"/>
              </a:srgbClr>
            </a:solidFill>
            <a:prstDash val="solid"/>
          </a:ln>
        </p:spPr>
      </p:sp>
      <p:sp>
        <p:nvSpPr>
          <p:cNvPr id="3" name="Text 1"/>
          <p:cNvSpPr txBox="1"/>
          <p:nvPr/>
        </p:nvSpPr>
        <p:spPr>
          <a:xfrm>
            <a:off x="640080" y="411480"/>
            <a:ext cx="1773936" cy="347472"/>
          </a:xfrm>
          <a:prstGeom prst="rect">
            <a:avLst/>
          </a:prstGeom>
          <a:noFill/>
          <a:ln/>
        </p:spPr>
        <p:txBody>
          <a:bodyPr wrap="square" lIns="0" tIns="0" rIns="0" bIns="0" rtlCol="0" anchor="ctr"/>
          <a:lstStyle/>
          <a:p>
            <a:pPr algn="ctr" indent="0" marL="0">
              <a:buNone/>
            </a:pPr>
            <a:r>
              <a:rPr lang="en-US" sz="1200" b="1" spc="200" kern="0" dirty="0">
                <a:solidFill>
                  <a:srgbClr val="2DD4BF"/>
                </a:solidFill>
              </a:rPr>
              <a:t>03 · TARGET</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누구를 위한 킷인가</a:t>
            </a:r>
            <a:endParaRPr lang="en-US" sz="3800" dirty="0"/>
          </a:p>
        </p:txBody>
      </p:sp>
      <p:sp>
        <p:nvSpPr>
          <p:cNvPr id="5" name="card"/>
          <p:cNvSpPr/>
          <p:nvPr/>
        </p:nvSpPr>
        <p:spPr>
          <a:xfrm>
            <a:off x="640080" y="2103120"/>
            <a:ext cx="3474720" cy="4023360"/>
          </a:xfrm>
          <a:prstGeom prst="roundRect">
            <a:avLst>
              <a:gd name="adj" fmla="val 4211"/>
            </a:avLst>
          </a:prstGeom>
          <a:solidFill>
            <a:srgbClr val="1A2340"/>
          </a:solidFill>
          <a:ln w="9525">
            <a:solidFill>
              <a:srgbClr val="4F7CFF"/>
            </a:solidFill>
            <a:prstDash val="solid"/>
          </a:ln>
          <a:effectLst>
            <a:outerShdw sx="100000" sy="100000" kx="0" ky="0" algn="bl" rotWithShape="0" blurRad="152400" dist="38100" dir="5400000">
              <a:srgbClr val="000000">
                <a:alpha val="35000"/>
              </a:srgbClr>
            </a:outerShdw>
          </a:effectLst>
        </p:spPr>
      </p:sp>
      <p:sp>
        <p:nvSpPr>
          <p:cNvPr id="6" name="icon-bg"/>
          <p:cNvSpPr/>
          <p:nvPr/>
        </p:nvSpPr>
        <p:spPr>
          <a:xfrm>
            <a:off x="960120" y="2331720"/>
            <a:ext cx="685800" cy="685800"/>
          </a:xfrm>
          <a:prstGeom prst="ellipse">
            <a:avLst/>
          </a:prstGeom>
          <a:solidFill>
            <a:srgbClr val="4F7CFF"/>
          </a:solidFill>
          <a:ln w="12700">
            <a:solidFill>
              <a:srgbClr val="4F7CFF"/>
            </a:solidFill>
            <a:prstDash val="solid"/>
          </a:ln>
        </p:spPr>
      </p:sp>
      <p:pic>
        <p:nvPicPr>
          <p:cNvPr id="7" name="Image 0" descr="icon">    </p:cNvPr>
          <p:cNvPicPr>
            <a:picLocks noChangeAspect="1"/>
          </p:cNvPicPr>
          <p:nvPr/>
        </p:nvPicPr>
        <p:blipFill>
          <a:blip r:embed="rId1"/>
          <a:stretch>
            <a:fillRect/>
          </a:stretch>
        </p:blipFill>
        <p:spPr>
          <a:xfrm>
            <a:off x="1131570" y="2503170"/>
            <a:ext cx="342900" cy="342900"/>
          </a:xfrm>
          <a:prstGeom prst="rect">
            <a:avLst/>
          </a:prstGeom>
        </p:spPr>
      </p:pic>
      <p:sp>
        <p:nvSpPr>
          <p:cNvPr id="8" name="Text 5"/>
          <p:cNvSpPr txBox="1"/>
          <p:nvPr/>
        </p:nvSpPr>
        <p:spPr>
          <a:xfrm>
            <a:off x="1828800" y="2395728"/>
            <a:ext cx="2103120" cy="274320"/>
          </a:xfrm>
          <a:prstGeom prst="rect">
            <a:avLst/>
          </a:prstGeom>
          <a:noFill/>
          <a:ln/>
        </p:spPr>
        <p:txBody>
          <a:bodyPr wrap="square" lIns="0" tIns="0" rIns="0" bIns="0" rtlCol="0" anchor="t"/>
          <a:lstStyle/>
          <a:p>
            <a:pPr indent="0" marL="0">
              <a:buNone/>
            </a:pPr>
            <a:r>
              <a:rPr lang="en-US" sz="1100" b="1" spc="200" kern="0" dirty="0">
                <a:solidFill>
                  <a:srgbClr val="4F7CFF"/>
                </a:solidFill>
              </a:rPr>
              <a:t>1차 타깃</a:t>
            </a:r>
            <a:endParaRPr lang="en-US" sz="1100" dirty="0"/>
          </a:p>
        </p:txBody>
      </p:sp>
      <p:sp>
        <p:nvSpPr>
          <p:cNvPr id="9" name="Text 6"/>
          <p:cNvSpPr txBox="1"/>
          <p:nvPr/>
        </p:nvSpPr>
        <p:spPr>
          <a:xfrm>
            <a:off x="1828800" y="2670048"/>
            <a:ext cx="2194560" cy="411480"/>
          </a:xfrm>
          <a:prstGeom prst="rect">
            <a:avLst/>
          </a:prstGeom>
          <a:noFill/>
          <a:ln/>
        </p:spPr>
        <p:txBody>
          <a:bodyPr wrap="square" lIns="0" tIns="0" rIns="0" bIns="0" rtlCol="0" anchor="t"/>
          <a:lstStyle/>
          <a:p>
            <a:pPr indent="0" marL="0">
              <a:buNone/>
            </a:pPr>
            <a:r>
              <a:rPr lang="en-US" sz="1900" b="1" dirty="0">
                <a:solidFill>
                  <a:srgbClr val="F4F6FB"/>
                </a:solidFill>
              </a:rPr>
              <a:t>서비스 개발자</a:t>
            </a:r>
            <a:endParaRPr lang="en-US" sz="1900" dirty="0"/>
          </a:p>
        </p:txBody>
      </p:sp>
      <p:sp>
        <p:nvSpPr>
          <p:cNvPr id="10" name="Text 7"/>
          <p:cNvSpPr txBox="1"/>
          <p:nvPr/>
        </p:nvSpPr>
        <p:spPr>
          <a:xfrm>
            <a:off x="960120" y="33832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누구</a:t>
            </a:r>
            <a:endParaRPr lang="en-US" sz="1100" dirty="0"/>
          </a:p>
        </p:txBody>
      </p:sp>
      <p:sp>
        <p:nvSpPr>
          <p:cNvPr id="11" name="Text 8"/>
          <p:cNvSpPr txBox="1"/>
          <p:nvPr/>
        </p:nvSpPr>
        <p:spPr>
          <a:xfrm>
            <a:off x="960120" y="3639312"/>
            <a:ext cx="2834640" cy="594360"/>
          </a:xfrm>
          <a:prstGeom prst="rect">
            <a:avLst/>
          </a:prstGeom>
          <a:noFill/>
          <a:ln/>
        </p:spPr>
        <p:txBody>
          <a:bodyPr wrap="square" lIns="0" tIns="0" rIns="0" bIns="0" rtlCol="0" anchor="t"/>
          <a:lstStyle/>
          <a:p>
            <a:pPr indent="0" marL="0">
              <a:buNone/>
            </a:pPr>
            <a:r>
              <a:rPr lang="en-US" sz="1300" dirty="0">
                <a:solidFill>
                  <a:srgbClr val="F4F6FB"/>
                </a:solidFill>
              </a:rPr>
              <a:t>새 서비스를 만들 때마다 공통 기능을 반복해서 만들어야 하는 사람</a:t>
            </a:r>
            <a:endParaRPr lang="en-US" sz="1300" dirty="0"/>
          </a:p>
        </p:txBody>
      </p:sp>
      <p:sp>
        <p:nvSpPr>
          <p:cNvPr id="12" name="Text 9"/>
          <p:cNvSpPr txBox="1"/>
          <p:nvPr/>
        </p:nvSpPr>
        <p:spPr>
          <a:xfrm>
            <a:off x="960120" y="42976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겪는 문제</a:t>
            </a:r>
            <a:endParaRPr lang="en-US" sz="1100" dirty="0"/>
          </a:p>
        </p:txBody>
      </p:sp>
      <p:sp>
        <p:nvSpPr>
          <p:cNvPr id="13" name="Text 10"/>
          <p:cNvSpPr txBox="1"/>
          <p:nvPr/>
        </p:nvSpPr>
        <p:spPr>
          <a:xfrm>
            <a:off x="960120" y="4553712"/>
            <a:ext cx="2834640" cy="594360"/>
          </a:xfrm>
          <a:prstGeom prst="rect">
            <a:avLst/>
          </a:prstGeom>
          <a:noFill/>
          <a:ln/>
        </p:spPr>
        <p:txBody>
          <a:bodyPr wrap="square" lIns="0" tIns="0" rIns="0" bIns="0" rtlCol="0" anchor="t"/>
          <a:lstStyle/>
          <a:p>
            <a:pPr indent="0" marL="0">
              <a:buNone/>
            </a:pPr>
            <a:r>
              <a:rPr lang="en-US" sz="1300" dirty="0">
                <a:solidFill>
                  <a:srgbClr val="F4F6FB"/>
                </a:solidFill>
              </a:rPr>
              <a:t>인증 · 권한 같은 공통 기능을 서비스마다 처음부터 다시 만든다</a:t>
            </a:r>
            <a:endParaRPr lang="en-US" sz="1300" dirty="0"/>
          </a:p>
        </p:txBody>
      </p:sp>
      <p:sp>
        <p:nvSpPr>
          <p:cNvPr id="14" name="Text 11"/>
          <p:cNvSpPr txBox="1"/>
          <p:nvPr/>
        </p:nvSpPr>
        <p:spPr>
          <a:xfrm>
            <a:off x="960120" y="52120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Meerkit이 주는 것</a:t>
            </a:r>
            <a:endParaRPr lang="en-US" sz="1100" dirty="0"/>
          </a:p>
        </p:txBody>
      </p:sp>
      <p:sp>
        <p:nvSpPr>
          <p:cNvPr id="15" name="Text 12"/>
          <p:cNvSpPr txBox="1"/>
          <p:nvPr/>
        </p:nvSpPr>
        <p:spPr>
          <a:xfrm>
            <a:off x="960120" y="5468112"/>
            <a:ext cx="2834640" cy="594360"/>
          </a:xfrm>
          <a:prstGeom prst="rect">
            <a:avLst/>
          </a:prstGeom>
          <a:noFill/>
          <a:ln/>
        </p:spPr>
        <p:txBody>
          <a:bodyPr wrap="square" lIns="0" tIns="0" rIns="0" bIns="0" rtlCol="0" anchor="t"/>
          <a:lstStyle/>
          <a:p>
            <a:pPr indent="0" marL="0">
              <a:buNone/>
            </a:pPr>
            <a:r>
              <a:rPr lang="en-US" sz="1300" dirty="0">
                <a:solidFill>
                  <a:srgbClr val="F4F6FB"/>
                </a:solidFill>
              </a:rPr>
              <a:t>가져다 쓰는 템플릿 + 한 곳에서 하는 설정 + 사용 가이드</a:t>
            </a:r>
            <a:endParaRPr lang="en-US" sz="1300" dirty="0"/>
          </a:p>
        </p:txBody>
      </p:sp>
      <p:sp>
        <p:nvSpPr>
          <p:cNvPr id="16" name="card"/>
          <p:cNvSpPr/>
          <p:nvPr/>
        </p:nvSpPr>
        <p:spPr>
          <a:xfrm>
            <a:off x="4343400" y="2103120"/>
            <a:ext cx="3474720" cy="4023360"/>
          </a:xfrm>
          <a:prstGeom prst="roundRect">
            <a:avLst>
              <a:gd name="adj" fmla="val 421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7" name="icon-bg"/>
          <p:cNvSpPr/>
          <p:nvPr/>
        </p:nvSpPr>
        <p:spPr>
          <a:xfrm>
            <a:off x="4663440" y="2331720"/>
            <a:ext cx="685800" cy="685800"/>
          </a:xfrm>
          <a:prstGeom prst="ellipse">
            <a:avLst/>
          </a:prstGeom>
          <a:solidFill>
            <a:srgbClr val="8B5CF6"/>
          </a:solidFill>
          <a:ln w="12700">
            <a:solidFill>
              <a:srgbClr val="8B5CF6"/>
            </a:solidFill>
            <a:prstDash val="solid"/>
          </a:ln>
        </p:spPr>
      </p:sp>
      <p:pic>
        <p:nvPicPr>
          <p:cNvPr id="18" name="Image 1" descr="icon">    </p:cNvPr>
          <p:cNvPicPr>
            <a:picLocks noChangeAspect="1"/>
          </p:cNvPicPr>
          <p:nvPr/>
        </p:nvPicPr>
        <p:blipFill>
          <a:blip r:embed="rId2"/>
          <a:stretch>
            <a:fillRect/>
          </a:stretch>
        </p:blipFill>
        <p:spPr>
          <a:xfrm>
            <a:off x="4834890" y="2503170"/>
            <a:ext cx="342900" cy="342900"/>
          </a:xfrm>
          <a:prstGeom prst="rect">
            <a:avLst/>
          </a:prstGeom>
        </p:spPr>
      </p:pic>
      <p:sp>
        <p:nvSpPr>
          <p:cNvPr id="19" name="Text 15"/>
          <p:cNvSpPr txBox="1"/>
          <p:nvPr/>
        </p:nvSpPr>
        <p:spPr>
          <a:xfrm>
            <a:off x="5532120" y="2395728"/>
            <a:ext cx="2103120" cy="274320"/>
          </a:xfrm>
          <a:prstGeom prst="rect">
            <a:avLst/>
          </a:prstGeom>
          <a:noFill/>
          <a:ln/>
        </p:spPr>
        <p:txBody>
          <a:bodyPr wrap="square" lIns="0" tIns="0" rIns="0" bIns="0" rtlCol="0" anchor="t"/>
          <a:lstStyle/>
          <a:p>
            <a:pPr indent="0" marL="0">
              <a:buNone/>
            </a:pPr>
            <a:r>
              <a:rPr lang="en-US" sz="1100" b="1" spc="200" kern="0" dirty="0">
                <a:solidFill>
                  <a:srgbClr val="8B5CF6"/>
                </a:solidFill>
              </a:rPr>
              <a:t>운영</a:t>
            </a:r>
            <a:endParaRPr lang="en-US" sz="1100" dirty="0"/>
          </a:p>
        </p:txBody>
      </p:sp>
      <p:sp>
        <p:nvSpPr>
          <p:cNvPr id="20" name="Text 16"/>
          <p:cNvSpPr txBox="1"/>
          <p:nvPr/>
        </p:nvSpPr>
        <p:spPr>
          <a:xfrm>
            <a:off x="5532120" y="2670048"/>
            <a:ext cx="2194560" cy="411480"/>
          </a:xfrm>
          <a:prstGeom prst="rect">
            <a:avLst/>
          </a:prstGeom>
          <a:noFill/>
          <a:ln/>
        </p:spPr>
        <p:txBody>
          <a:bodyPr wrap="square" lIns="0" tIns="0" rIns="0" bIns="0" rtlCol="0" anchor="t"/>
          <a:lstStyle/>
          <a:p>
            <a:pPr indent="0" marL="0">
              <a:buNone/>
            </a:pPr>
            <a:r>
              <a:rPr lang="en-US" sz="1900" b="1" dirty="0">
                <a:solidFill>
                  <a:srgbClr val="F4F6FB"/>
                </a:solidFill>
              </a:rPr>
              <a:t>서비스 관리자</a:t>
            </a:r>
            <a:endParaRPr lang="en-US" sz="1900" dirty="0"/>
          </a:p>
        </p:txBody>
      </p:sp>
      <p:sp>
        <p:nvSpPr>
          <p:cNvPr id="21" name="Text 17"/>
          <p:cNvSpPr txBox="1"/>
          <p:nvPr/>
        </p:nvSpPr>
        <p:spPr>
          <a:xfrm>
            <a:off x="4663440" y="33832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누구</a:t>
            </a:r>
            <a:endParaRPr lang="en-US" sz="1100" dirty="0"/>
          </a:p>
        </p:txBody>
      </p:sp>
      <p:sp>
        <p:nvSpPr>
          <p:cNvPr id="22" name="Text 18"/>
          <p:cNvSpPr txBox="1"/>
          <p:nvPr/>
        </p:nvSpPr>
        <p:spPr>
          <a:xfrm>
            <a:off x="4663440" y="3639312"/>
            <a:ext cx="2834640" cy="594360"/>
          </a:xfrm>
          <a:prstGeom prst="rect">
            <a:avLst/>
          </a:prstGeom>
          <a:noFill/>
          <a:ln/>
        </p:spPr>
        <p:txBody>
          <a:bodyPr wrap="square" lIns="0" tIns="0" rIns="0" bIns="0" rtlCol="0" anchor="t"/>
          <a:lstStyle/>
          <a:p>
            <a:pPr indent="0" marL="0">
              <a:buNone/>
            </a:pPr>
            <a:r>
              <a:rPr lang="en-US" sz="1300" dirty="0">
                <a:solidFill>
                  <a:srgbClr val="F4F6FB"/>
                </a:solidFill>
              </a:rPr>
              <a:t>개발자가 만든 서비스를 운영하는 사람</a:t>
            </a:r>
            <a:endParaRPr lang="en-US" sz="1300" dirty="0"/>
          </a:p>
        </p:txBody>
      </p:sp>
      <p:sp>
        <p:nvSpPr>
          <p:cNvPr id="23" name="Text 19"/>
          <p:cNvSpPr txBox="1"/>
          <p:nvPr/>
        </p:nvSpPr>
        <p:spPr>
          <a:xfrm>
            <a:off x="4663440" y="42976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겪는 문제</a:t>
            </a:r>
            <a:endParaRPr lang="en-US" sz="1100" dirty="0"/>
          </a:p>
        </p:txBody>
      </p:sp>
      <p:sp>
        <p:nvSpPr>
          <p:cNvPr id="24" name="Text 20"/>
          <p:cNvSpPr txBox="1"/>
          <p:nvPr/>
        </p:nvSpPr>
        <p:spPr>
          <a:xfrm>
            <a:off x="4663440" y="4553712"/>
            <a:ext cx="2834640" cy="594360"/>
          </a:xfrm>
          <a:prstGeom prst="rect">
            <a:avLst/>
          </a:prstGeom>
          <a:noFill/>
          <a:ln/>
        </p:spPr>
        <p:txBody>
          <a:bodyPr wrap="square" lIns="0" tIns="0" rIns="0" bIns="0" rtlCol="0" anchor="t"/>
          <a:lstStyle/>
          <a:p>
            <a:pPr indent="0" marL="0">
              <a:buNone/>
            </a:pPr>
            <a:r>
              <a:rPr lang="en-US" sz="1300" dirty="0">
                <a:solidFill>
                  <a:srgbClr val="F4F6FB"/>
                </a:solidFill>
              </a:rPr>
              <a:t>멤버를 찾고 권한을 바꿀 화면이 없다</a:t>
            </a:r>
            <a:endParaRPr lang="en-US" sz="1300" dirty="0"/>
          </a:p>
        </p:txBody>
      </p:sp>
      <p:sp>
        <p:nvSpPr>
          <p:cNvPr id="25" name="Text 21"/>
          <p:cNvSpPr txBox="1"/>
          <p:nvPr/>
        </p:nvSpPr>
        <p:spPr>
          <a:xfrm>
            <a:off x="4663440" y="52120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Meerkit이 주는 것</a:t>
            </a:r>
            <a:endParaRPr lang="en-US" sz="1100" dirty="0"/>
          </a:p>
        </p:txBody>
      </p:sp>
      <p:sp>
        <p:nvSpPr>
          <p:cNvPr id="26" name="Text 22"/>
          <p:cNvSpPr txBox="1"/>
          <p:nvPr/>
        </p:nvSpPr>
        <p:spPr>
          <a:xfrm>
            <a:off x="4663440" y="5468112"/>
            <a:ext cx="2834640" cy="594360"/>
          </a:xfrm>
          <a:prstGeom prst="rect">
            <a:avLst/>
          </a:prstGeom>
          <a:noFill/>
          <a:ln/>
        </p:spPr>
        <p:txBody>
          <a:bodyPr wrap="square" lIns="0" tIns="0" rIns="0" bIns="0" rtlCol="0" anchor="t"/>
          <a:lstStyle/>
          <a:p>
            <a:pPr indent="0" marL="0">
              <a:buNone/>
            </a:pPr>
            <a:r>
              <a:rPr lang="en-US" sz="1300" dirty="0">
                <a:solidFill>
                  <a:srgbClr val="F4F6FB"/>
                </a:solidFill>
              </a:rPr>
              <a:t>검색 · 필터 · 역할 변경이 되는 관리자 화면</a:t>
            </a:r>
            <a:endParaRPr lang="en-US" sz="1300" dirty="0"/>
          </a:p>
        </p:txBody>
      </p:sp>
      <p:sp>
        <p:nvSpPr>
          <p:cNvPr id="27" name="card"/>
          <p:cNvSpPr/>
          <p:nvPr/>
        </p:nvSpPr>
        <p:spPr>
          <a:xfrm>
            <a:off x="8046720" y="2103120"/>
            <a:ext cx="3474720" cy="4023360"/>
          </a:xfrm>
          <a:prstGeom prst="roundRect">
            <a:avLst>
              <a:gd name="adj" fmla="val 421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8" name="icon-bg"/>
          <p:cNvSpPr/>
          <p:nvPr/>
        </p:nvSpPr>
        <p:spPr>
          <a:xfrm>
            <a:off x="8366760" y="2331720"/>
            <a:ext cx="685800" cy="685800"/>
          </a:xfrm>
          <a:prstGeom prst="ellipse">
            <a:avLst/>
          </a:prstGeom>
          <a:solidFill>
            <a:srgbClr val="F472B6"/>
          </a:solidFill>
          <a:ln w="12700">
            <a:solidFill>
              <a:srgbClr val="F472B6"/>
            </a:solidFill>
            <a:prstDash val="solid"/>
          </a:ln>
        </p:spPr>
      </p:sp>
      <p:pic>
        <p:nvPicPr>
          <p:cNvPr id="29" name="Image 2" descr="icon">    </p:cNvPr>
          <p:cNvPicPr>
            <a:picLocks noChangeAspect="1"/>
          </p:cNvPicPr>
          <p:nvPr/>
        </p:nvPicPr>
        <p:blipFill>
          <a:blip r:embed="rId3"/>
          <a:stretch>
            <a:fillRect/>
          </a:stretch>
        </p:blipFill>
        <p:spPr>
          <a:xfrm>
            <a:off x="8538210" y="2503170"/>
            <a:ext cx="342900" cy="342900"/>
          </a:xfrm>
          <a:prstGeom prst="rect">
            <a:avLst/>
          </a:prstGeom>
        </p:spPr>
      </p:pic>
      <p:sp>
        <p:nvSpPr>
          <p:cNvPr id="30" name="Text 25"/>
          <p:cNvSpPr txBox="1"/>
          <p:nvPr/>
        </p:nvSpPr>
        <p:spPr>
          <a:xfrm>
            <a:off x="9235440" y="2395728"/>
            <a:ext cx="2103120" cy="274320"/>
          </a:xfrm>
          <a:prstGeom prst="rect">
            <a:avLst/>
          </a:prstGeom>
          <a:noFill/>
          <a:ln/>
        </p:spPr>
        <p:txBody>
          <a:bodyPr wrap="square" lIns="0" tIns="0" rIns="0" bIns="0" rtlCol="0" anchor="t"/>
          <a:lstStyle/>
          <a:p>
            <a:pPr indent="0" marL="0">
              <a:buNone/>
            </a:pPr>
            <a:r>
              <a:rPr lang="en-US" sz="1100" b="1" spc="200" kern="0" dirty="0">
                <a:solidFill>
                  <a:srgbClr val="F472B6"/>
                </a:solidFill>
              </a:rPr>
              <a:t>최종 사용자</a:t>
            </a:r>
            <a:endParaRPr lang="en-US" sz="1100" dirty="0"/>
          </a:p>
        </p:txBody>
      </p:sp>
      <p:sp>
        <p:nvSpPr>
          <p:cNvPr id="31" name="Text 26"/>
          <p:cNvSpPr txBox="1"/>
          <p:nvPr/>
        </p:nvSpPr>
        <p:spPr>
          <a:xfrm>
            <a:off x="9235440" y="2670048"/>
            <a:ext cx="2194560" cy="411480"/>
          </a:xfrm>
          <a:prstGeom prst="rect">
            <a:avLst/>
          </a:prstGeom>
          <a:noFill/>
          <a:ln/>
        </p:spPr>
        <p:txBody>
          <a:bodyPr wrap="square" lIns="0" tIns="0" rIns="0" bIns="0" rtlCol="0" anchor="t"/>
          <a:lstStyle/>
          <a:p>
            <a:pPr indent="0" marL="0">
              <a:buNone/>
            </a:pPr>
            <a:r>
              <a:rPr lang="en-US" sz="1900" b="1" dirty="0">
                <a:solidFill>
                  <a:srgbClr val="F4F6FB"/>
                </a:solidFill>
              </a:rPr>
              <a:t>서비스 이용자</a:t>
            </a:r>
            <a:endParaRPr lang="en-US" sz="1900" dirty="0"/>
          </a:p>
        </p:txBody>
      </p:sp>
      <p:sp>
        <p:nvSpPr>
          <p:cNvPr id="32" name="Text 27"/>
          <p:cNvSpPr txBox="1"/>
          <p:nvPr/>
        </p:nvSpPr>
        <p:spPr>
          <a:xfrm>
            <a:off x="8366760" y="33832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누구</a:t>
            </a:r>
            <a:endParaRPr lang="en-US" sz="1100" dirty="0"/>
          </a:p>
        </p:txBody>
      </p:sp>
      <p:sp>
        <p:nvSpPr>
          <p:cNvPr id="33" name="Text 28"/>
          <p:cNvSpPr txBox="1"/>
          <p:nvPr/>
        </p:nvSpPr>
        <p:spPr>
          <a:xfrm>
            <a:off x="8366760" y="3639312"/>
            <a:ext cx="2834640" cy="594360"/>
          </a:xfrm>
          <a:prstGeom prst="rect">
            <a:avLst/>
          </a:prstGeom>
          <a:noFill/>
          <a:ln/>
        </p:spPr>
        <p:txBody>
          <a:bodyPr wrap="square" lIns="0" tIns="0" rIns="0" bIns="0" rtlCol="0" anchor="t"/>
          <a:lstStyle/>
          <a:p>
            <a:pPr indent="0" marL="0">
              <a:buNone/>
            </a:pPr>
            <a:r>
              <a:rPr lang="en-US" sz="1300" dirty="0">
                <a:solidFill>
                  <a:srgbClr val="F4F6FB"/>
                </a:solidFill>
              </a:rPr>
              <a:t>그 서비스에 가입해 쓰는 사람</a:t>
            </a:r>
            <a:endParaRPr lang="en-US" sz="1300" dirty="0"/>
          </a:p>
        </p:txBody>
      </p:sp>
      <p:sp>
        <p:nvSpPr>
          <p:cNvPr id="34" name="Text 29"/>
          <p:cNvSpPr txBox="1"/>
          <p:nvPr/>
        </p:nvSpPr>
        <p:spPr>
          <a:xfrm>
            <a:off x="8366760" y="42976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겪는 문제</a:t>
            </a:r>
            <a:endParaRPr lang="en-US" sz="1100" dirty="0"/>
          </a:p>
        </p:txBody>
      </p:sp>
      <p:sp>
        <p:nvSpPr>
          <p:cNvPr id="35" name="Text 30"/>
          <p:cNvSpPr txBox="1"/>
          <p:nvPr/>
        </p:nvSpPr>
        <p:spPr>
          <a:xfrm>
            <a:off x="8366760" y="4553712"/>
            <a:ext cx="2834640" cy="594360"/>
          </a:xfrm>
          <a:prstGeom prst="rect">
            <a:avLst/>
          </a:prstGeom>
          <a:noFill/>
          <a:ln/>
        </p:spPr>
        <p:txBody>
          <a:bodyPr wrap="square" lIns="0" tIns="0" rIns="0" bIns="0" rtlCol="0" anchor="t"/>
          <a:lstStyle/>
          <a:p>
            <a:pPr indent="0" marL="0">
              <a:buNone/>
            </a:pPr>
            <a:r>
              <a:rPr lang="en-US" sz="1300" dirty="0">
                <a:solidFill>
                  <a:srgbClr val="F4F6FB"/>
                </a:solidFill>
              </a:rPr>
              <a:t>가입과 로그인이 불편하고 불안하다</a:t>
            </a:r>
            <a:endParaRPr lang="en-US" sz="1300" dirty="0"/>
          </a:p>
        </p:txBody>
      </p:sp>
      <p:sp>
        <p:nvSpPr>
          <p:cNvPr id="36" name="Text 31"/>
          <p:cNvSpPr txBox="1"/>
          <p:nvPr/>
        </p:nvSpPr>
        <p:spPr>
          <a:xfrm>
            <a:off x="8366760" y="5212080"/>
            <a:ext cx="2834640" cy="256032"/>
          </a:xfrm>
          <a:prstGeom prst="rect">
            <a:avLst/>
          </a:prstGeom>
          <a:noFill/>
          <a:ln/>
        </p:spPr>
        <p:txBody>
          <a:bodyPr wrap="square" lIns="0" tIns="0" rIns="0" bIns="0" rtlCol="0" anchor="t"/>
          <a:lstStyle/>
          <a:p>
            <a:pPr indent="0" marL="0">
              <a:buNone/>
            </a:pPr>
            <a:r>
              <a:rPr lang="en-US" sz="1100" b="1" dirty="0">
                <a:solidFill>
                  <a:srgbClr val="9AA5C0"/>
                </a:solidFill>
              </a:rPr>
              <a:t>Meerkit이 주는 것</a:t>
            </a:r>
            <a:endParaRPr lang="en-US" sz="1100" dirty="0"/>
          </a:p>
        </p:txBody>
      </p:sp>
      <p:sp>
        <p:nvSpPr>
          <p:cNvPr id="37" name="Text 32"/>
          <p:cNvSpPr txBox="1"/>
          <p:nvPr/>
        </p:nvSpPr>
        <p:spPr>
          <a:xfrm>
            <a:off x="8366760" y="5468112"/>
            <a:ext cx="2834640" cy="594360"/>
          </a:xfrm>
          <a:prstGeom prst="rect">
            <a:avLst/>
          </a:prstGeom>
          <a:noFill/>
          <a:ln/>
        </p:spPr>
        <p:txBody>
          <a:bodyPr wrap="square" lIns="0" tIns="0" rIns="0" bIns="0" rtlCol="0" anchor="t"/>
          <a:lstStyle/>
          <a:p>
            <a:pPr indent="0" marL="0">
              <a:buNone/>
            </a:pPr>
            <a:r>
              <a:rPr lang="en-US" sz="1300" dirty="0">
                <a:solidFill>
                  <a:srgbClr val="F4F6FB"/>
                </a:solidFill>
              </a:rPr>
              <a:t>안전하고 익숙한 가입 · 로그인 · 내 정보 화면</a:t>
            </a:r>
            <a:endParaRPr lang="en-US" sz="13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
          <p:cNvSpPr/>
          <p:nvPr/>
        </p:nvSpPr>
        <p:spPr>
          <a:xfrm>
            <a:off x="640080" y="411480"/>
            <a:ext cx="1389888" cy="347472"/>
          </a:xfrm>
          <a:prstGeom prst="roundRect">
            <a:avLst>
              <a:gd name="adj" fmla="val 50000"/>
            </a:avLst>
          </a:prstGeom>
          <a:solidFill>
            <a:srgbClr val="2DD4BF">
              <a:alpha val="20000"/>
            </a:srgbClr>
          </a:solidFill>
          <a:ln w="9525">
            <a:solidFill>
              <a:srgbClr val="2DD4BF">
                <a:alpha val="60000"/>
              </a:srgbClr>
            </a:solidFill>
            <a:prstDash val="solid"/>
          </a:ln>
        </p:spPr>
      </p:sp>
      <p:sp>
        <p:nvSpPr>
          <p:cNvPr id="3" name="Text 1"/>
          <p:cNvSpPr txBox="1"/>
          <p:nvPr/>
        </p:nvSpPr>
        <p:spPr>
          <a:xfrm>
            <a:off x="640080" y="411480"/>
            <a:ext cx="1389888" cy="347472"/>
          </a:xfrm>
          <a:prstGeom prst="rect">
            <a:avLst/>
          </a:prstGeom>
          <a:noFill/>
          <a:ln/>
        </p:spPr>
        <p:txBody>
          <a:bodyPr wrap="square" lIns="0" tIns="0" rIns="0" bIns="0" rtlCol="0" anchor="ctr"/>
          <a:lstStyle/>
          <a:p>
            <a:pPr algn="ctr" indent="0" marL="0">
              <a:buNone/>
            </a:pPr>
            <a:r>
              <a:rPr lang="en-US" sz="1200" b="1" spc="200" kern="0" dirty="0">
                <a:solidFill>
                  <a:srgbClr val="2DD4BF"/>
                </a:solidFill>
              </a:rPr>
              <a:t>03 · FIT</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이런 서비스라면 딱 맞다</a:t>
            </a:r>
            <a:endParaRPr lang="en-US" sz="3800" dirty="0"/>
          </a:p>
        </p:txBody>
      </p:sp>
      <p:sp>
        <p:nvSpPr>
          <p:cNvPr id="5" name="card"/>
          <p:cNvSpPr/>
          <p:nvPr/>
        </p:nvSpPr>
        <p:spPr>
          <a:xfrm>
            <a:off x="640080" y="2194560"/>
            <a:ext cx="6035040" cy="3200400"/>
          </a:xfrm>
          <a:prstGeom prst="roundRect">
            <a:avLst>
              <a:gd name="adj" fmla="val 457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1005840" y="2377440"/>
            <a:ext cx="5486400" cy="411480"/>
          </a:xfrm>
          <a:prstGeom prst="rect">
            <a:avLst/>
          </a:prstGeom>
          <a:noFill/>
          <a:ln/>
        </p:spPr>
        <p:txBody>
          <a:bodyPr wrap="square" lIns="0" tIns="0" rIns="0" bIns="0" rtlCol="0" anchor="t"/>
          <a:lstStyle/>
          <a:p>
            <a:pPr indent="0" marL="0">
              <a:buNone/>
            </a:pPr>
            <a:r>
              <a:rPr lang="en-US" sz="2000" b="1" dirty="0">
                <a:solidFill>
                  <a:srgbClr val="34D399"/>
                </a:solidFill>
              </a:rPr>
              <a:t>맞는 서비스</a:t>
            </a:r>
            <a:endParaRPr lang="en-US" sz="2000" dirty="0"/>
          </a:p>
        </p:txBody>
      </p:sp>
      <p:pic>
        <p:nvPicPr>
          <p:cNvPr id="7" name="Image 0" descr="check">    </p:cNvPr>
          <p:cNvPicPr>
            <a:picLocks noChangeAspect="1"/>
          </p:cNvPicPr>
          <p:nvPr/>
        </p:nvPicPr>
        <p:blipFill>
          <a:blip r:embed="rId1"/>
          <a:stretch>
            <a:fillRect/>
          </a:stretch>
        </p:blipFill>
        <p:spPr>
          <a:xfrm>
            <a:off x="1005840" y="2971800"/>
            <a:ext cx="274320" cy="274320"/>
          </a:xfrm>
          <a:prstGeom prst="rect">
            <a:avLst/>
          </a:prstGeom>
        </p:spPr>
      </p:pic>
      <p:sp>
        <p:nvSpPr>
          <p:cNvPr id="8" name="Text 5"/>
          <p:cNvSpPr txBox="1"/>
          <p:nvPr/>
        </p:nvSpPr>
        <p:spPr>
          <a:xfrm>
            <a:off x="1463040" y="2926080"/>
            <a:ext cx="4937760" cy="365760"/>
          </a:xfrm>
          <a:prstGeom prst="rect">
            <a:avLst/>
          </a:prstGeom>
          <a:noFill/>
          <a:ln/>
        </p:spPr>
        <p:txBody>
          <a:bodyPr wrap="square" lIns="0" tIns="0" rIns="0" bIns="0" rtlCol="0" anchor="ctr"/>
          <a:lstStyle/>
          <a:p>
            <a:pPr indent="0" marL="0">
              <a:buNone/>
            </a:pPr>
            <a:r>
              <a:rPr lang="en-US" sz="1700" dirty="0">
                <a:solidFill>
                  <a:srgbClr val="F4F6FB"/>
                </a:solidFill>
              </a:rPr>
              <a:t>AI 서비스</a:t>
            </a:r>
            <a:endParaRPr lang="en-US" sz="1700" dirty="0"/>
          </a:p>
        </p:txBody>
      </p:sp>
      <p:pic>
        <p:nvPicPr>
          <p:cNvPr id="9" name="Image 1" descr="check">    </p:cNvPr>
          <p:cNvPicPr>
            <a:picLocks noChangeAspect="1"/>
          </p:cNvPicPr>
          <p:nvPr/>
        </p:nvPicPr>
        <p:blipFill>
          <a:blip r:embed="rId2"/>
          <a:stretch>
            <a:fillRect/>
          </a:stretch>
        </p:blipFill>
        <p:spPr>
          <a:xfrm>
            <a:off x="1005840" y="3429000"/>
            <a:ext cx="274320" cy="274320"/>
          </a:xfrm>
          <a:prstGeom prst="rect">
            <a:avLst/>
          </a:prstGeom>
        </p:spPr>
      </p:pic>
      <p:sp>
        <p:nvSpPr>
          <p:cNvPr id="10" name="Text 6"/>
          <p:cNvSpPr txBox="1"/>
          <p:nvPr/>
        </p:nvSpPr>
        <p:spPr>
          <a:xfrm>
            <a:off x="1463040" y="3383280"/>
            <a:ext cx="4937760" cy="365760"/>
          </a:xfrm>
          <a:prstGeom prst="rect">
            <a:avLst/>
          </a:prstGeom>
          <a:noFill/>
          <a:ln/>
        </p:spPr>
        <p:txBody>
          <a:bodyPr wrap="square" lIns="0" tIns="0" rIns="0" bIns="0" rtlCol="0" anchor="ctr"/>
          <a:lstStyle/>
          <a:p>
            <a:pPr indent="0" marL="0">
              <a:buNone/>
            </a:pPr>
            <a:r>
              <a:rPr lang="en-US" sz="1700" dirty="0">
                <a:solidFill>
                  <a:srgbClr val="F4F6FB"/>
                </a:solidFill>
              </a:rPr>
              <a:t>쇼핑몰 · 마켓</a:t>
            </a:r>
            <a:endParaRPr lang="en-US" sz="1700" dirty="0"/>
          </a:p>
        </p:txBody>
      </p:sp>
      <p:pic>
        <p:nvPicPr>
          <p:cNvPr id="11" name="Image 2" descr="check">    </p:cNvPr>
          <p:cNvPicPr>
            <a:picLocks noChangeAspect="1"/>
          </p:cNvPicPr>
          <p:nvPr/>
        </p:nvPicPr>
        <p:blipFill>
          <a:blip r:embed="rId3"/>
          <a:stretch>
            <a:fillRect/>
          </a:stretch>
        </p:blipFill>
        <p:spPr>
          <a:xfrm>
            <a:off x="1005840" y="3886200"/>
            <a:ext cx="274320" cy="274320"/>
          </a:xfrm>
          <a:prstGeom prst="rect">
            <a:avLst/>
          </a:prstGeom>
        </p:spPr>
      </p:pic>
      <p:sp>
        <p:nvSpPr>
          <p:cNvPr id="12" name="Text 7"/>
          <p:cNvSpPr txBox="1"/>
          <p:nvPr/>
        </p:nvSpPr>
        <p:spPr>
          <a:xfrm>
            <a:off x="1463040" y="3840480"/>
            <a:ext cx="4937760" cy="365760"/>
          </a:xfrm>
          <a:prstGeom prst="rect">
            <a:avLst/>
          </a:prstGeom>
          <a:noFill/>
          <a:ln/>
        </p:spPr>
        <p:txBody>
          <a:bodyPr wrap="square" lIns="0" tIns="0" rIns="0" bIns="0" rtlCol="0" anchor="ctr"/>
          <a:lstStyle/>
          <a:p>
            <a:pPr indent="0" marL="0">
              <a:buNone/>
            </a:pPr>
            <a:r>
              <a:rPr lang="en-US" sz="1700" dirty="0">
                <a:solidFill>
                  <a:srgbClr val="F4F6FB"/>
                </a:solidFill>
              </a:rPr>
              <a:t>커뮤니티 · 게시판</a:t>
            </a:r>
            <a:endParaRPr lang="en-US" sz="1700" dirty="0"/>
          </a:p>
        </p:txBody>
      </p:sp>
      <p:pic>
        <p:nvPicPr>
          <p:cNvPr id="13" name="Image 3" descr="check">    </p:cNvPr>
          <p:cNvPicPr>
            <a:picLocks noChangeAspect="1"/>
          </p:cNvPicPr>
          <p:nvPr/>
        </p:nvPicPr>
        <p:blipFill>
          <a:blip r:embed="rId4"/>
          <a:stretch>
            <a:fillRect/>
          </a:stretch>
        </p:blipFill>
        <p:spPr>
          <a:xfrm>
            <a:off x="1005840" y="4343400"/>
            <a:ext cx="274320" cy="274320"/>
          </a:xfrm>
          <a:prstGeom prst="rect">
            <a:avLst/>
          </a:prstGeom>
        </p:spPr>
      </p:pic>
      <p:sp>
        <p:nvSpPr>
          <p:cNvPr id="14" name="Text 8"/>
          <p:cNvSpPr txBox="1"/>
          <p:nvPr/>
        </p:nvSpPr>
        <p:spPr>
          <a:xfrm>
            <a:off x="1463040" y="4297680"/>
            <a:ext cx="4937760" cy="365760"/>
          </a:xfrm>
          <a:prstGeom prst="rect">
            <a:avLst/>
          </a:prstGeom>
          <a:noFill/>
          <a:ln/>
        </p:spPr>
        <p:txBody>
          <a:bodyPr wrap="square" lIns="0" tIns="0" rIns="0" bIns="0" rtlCol="0" anchor="ctr"/>
          <a:lstStyle/>
          <a:p>
            <a:pPr indent="0" marL="0">
              <a:buNone/>
            </a:pPr>
            <a:r>
              <a:rPr lang="en-US" sz="1700" dirty="0">
                <a:solidFill>
                  <a:srgbClr val="F4F6FB"/>
                </a:solidFill>
              </a:rPr>
              <a:t>사내 관리 도구</a:t>
            </a:r>
            <a:endParaRPr lang="en-US" sz="1700" dirty="0"/>
          </a:p>
        </p:txBody>
      </p:sp>
      <p:pic>
        <p:nvPicPr>
          <p:cNvPr id="15" name="Image 4" descr="check">    </p:cNvPr>
          <p:cNvPicPr>
            <a:picLocks noChangeAspect="1"/>
          </p:cNvPicPr>
          <p:nvPr/>
        </p:nvPicPr>
        <p:blipFill>
          <a:blip r:embed="rId5"/>
          <a:stretch>
            <a:fillRect/>
          </a:stretch>
        </p:blipFill>
        <p:spPr>
          <a:xfrm>
            <a:off x="1005840" y="4800600"/>
            <a:ext cx="274320" cy="274320"/>
          </a:xfrm>
          <a:prstGeom prst="rect">
            <a:avLst/>
          </a:prstGeom>
        </p:spPr>
      </p:pic>
      <p:sp>
        <p:nvSpPr>
          <p:cNvPr id="16" name="Text 9"/>
          <p:cNvSpPr txBox="1"/>
          <p:nvPr/>
        </p:nvSpPr>
        <p:spPr>
          <a:xfrm>
            <a:off x="1463040" y="4754880"/>
            <a:ext cx="4937760" cy="365760"/>
          </a:xfrm>
          <a:prstGeom prst="rect">
            <a:avLst/>
          </a:prstGeom>
          <a:noFill/>
          <a:ln/>
        </p:spPr>
        <p:txBody>
          <a:bodyPr wrap="square" lIns="0" tIns="0" rIns="0" bIns="0" rtlCol="0" anchor="ctr"/>
          <a:lstStyle/>
          <a:p>
            <a:pPr indent="0" marL="0">
              <a:buNone/>
            </a:pPr>
            <a:r>
              <a:rPr lang="en-US" sz="1700" dirty="0">
                <a:solidFill>
                  <a:srgbClr val="F4F6FB"/>
                </a:solidFill>
              </a:rPr>
              <a:t>예약 · 신청 서비스</a:t>
            </a:r>
            <a:endParaRPr lang="en-US" sz="1700" dirty="0"/>
          </a:p>
        </p:txBody>
      </p:sp>
      <p:sp>
        <p:nvSpPr>
          <p:cNvPr id="17" name="card"/>
          <p:cNvSpPr/>
          <p:nvPr/>
        </p:nvSpPr>
        <p:spPr>
          <a:xfrm>
            <a:off x="6949440" y="2194560"/>
            <a:ext cx="4599432" cy="3200400"/>
          </a:xfrm>
          <a:prstGeom prst="roundRect">
            <a:avLst>
              <a:gd name="adj" fmla="val 457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8" name="Text 11"/>
          <p:cNvSpPr txBox="1"/>
          <p:nvPr/>
        </p:nvSpPr>
        <p:spPr>
          <a:xfrm>
            <a:off x="7269480" y="2377440"/>
            <a:ext cx="4023360" cy="411480"/>
          </a:xfrm>
          <a:prstGeom prst="rect">
            <a:avLst/>
          </a:prstGeom>
          <a:noFill/>
          <a:ln/>
        </p:spPr>
        <p:txBody>
          <a:bodyPr wrap="square" lIns="0" tIns="0" rIns="0" bIns="0" rtlCol="0" anchor="t"/>
          <a:lstStyle/>
          <a:p>
            <a:pPr indent="0" marL="0">
              <a:buNone/>
            </a:pPr>
            <a:r>
              <a:rPr lang="en-US" sz="1800" b="1" dirty="0">
                <a:solidFill>
                  <a:srgbClr val="8B5CF6"/>
                </a:solidFill>
              </a:rPr>
              <a:t>확장팩으로 넓혀 갈 수 있는 것</a:t>
            </a:r>
            <a:endParaRPr lang="en-US" sz="1800" dirty="0"/>
          </a:p>
        </p:txBody>
      </p:sp>
      <p:pic>
        <p:nvPicPr>
          <p:cNvPr id="19" name="Image 5" descr="plus">    </p:cNvPr>
          <p:cNvPicPr>
            <a:picLocks noChangeAspect="1"/>
          </p:cNvPicPr>
          <p:nvPr/>
        </p:nvPicPr>
        <p:blipFill>
          <a:blip r:embed="rId6"/>
          <a:stretch>
            <a:fillRect/>
          </a:stretch>
        </p:blipFill>
        <p:spPr>
          <a:xfrm>
            <a:off x="7269480" y="2971800"/>
            <a:ext cx="274320" cy="274320"/>
          </a:xfrm>
          <a:prstGeom prst="rect">
            <a:avLst/>
          </a:prstGeom>
        </p:spPr>
      </p:pic>
      <p:sp>
        <p:nvSpPr>
          <p:cNvPr id="20" name="Text 12"/>
          <p:cNvSpPr txBox="1"/>
          <p:nvPr/>
        </p:nvSpPr>
        <p:spPr>
          <a:xfrm>
            <a:off x="7726680" y="2926080"/>
            <a:ext cx="3657600" cy="365760"/>
          </a:xfrm>
          <a:prstGeom prst="rect">
            <a:avLst/>
          </a:prstGeom>
          <a:noFill/>
          <a:ln/>
        </p:spPr>
        <p:txBody>
          <a:bodyPr wrap="square" lIns="0" tIns="0" rIns="0" bIns="0" rtlCol="0" anchor="ctr"/>
          <a:lstStyle/>
          <a:p>
            <a:pPr indent="0" marL="0">
              <a:buNone/>
            </a:pPr>
            <a:r>
              <a:rPr lang="en-US" sz="1500" dirty="0">
                <a:solidFill>
                  <a:srgbClr val="F4F6FB"/>
                </a:solidFill>
              </a:rPr>
              <a:t>소셜 로그인</a:t>
            </a:r>
            <a:endParaRPr lang="en-US" sz="1500" dirty="0"/>
          </a:p>
        </p:txBody>
      </p:sp>
      <p:pic>
        <p:nvPicPr>
          <p:cNvPr id="21" name="Image 6" descr="plus">    </p:cNvPr>
          <p:cNvPicPr>
            <a:picLocks noChangeAspect="1"/>
          </p:cNvPicPr>
          <p:nvPr/>
        </p:nvPicPr>
        <p:blipFill>
          <a:blip r:embed="rId7"/>
          <a:stretch>
            <a:fillRect/>
          </a:stretch>
        </p:blipFill>
        <p:spPr>
          <a:xfrm>
            <a:off x="7269480" y="3429000"/>
            <a:ext cx="274320" cy="274320"/>
          </a:xfrm>
          <a:prstGeom prst="rect">
            <a:avLst/>
          </a:prstGeom>
        </p:spPr>
      </p:pic>
      <p:sp>
        <p:nvSpPr>
          <p:cNvPr id="22" name="Text 13"/>
          <p:cNvSpPr txBox="1"/>
          <p:nvPr/>
        </p:nvSpPr>
        <p:spPr>
          <a:xfrm>
            <a:off x="7726680" y="3383280"/>
            <a:ext cx="3657600" cy="365760"/>
          </a:xfrm>
          <a:prstGeom prst="rect">
            <a:avLst/>
          </a:prstGeom>
          <a:noFill/>
          <a:ln/>
        </p:spPr>
        <p:txBody>
          <a:bodyPr wrap="square" lIns="0" tIns="0" rIns="0" bIns="0" rtlCol="0" anchor="ctr"/>
          <a:lstStyle/>
          <a:p>
            <a:pPr indent="0" marL="0">
              <a:buNone/>
            </a:pPr>
            <a:r>
              <a:rPr lang="en-US" sz="1500" dirty="0">
                <a:solidFill>
                  <a:srgbClr val="F4F6FB"/>
                </a:solidFill>
              </a:rPr>
              <a:t>세부 권한(permission) 단위 제어</a:t>
            </a:r>
            <a:endParaRPr lang="en-US" sz="1500" dirty="0"/>
          </a:p>
        </p:txBody>
      </p:sp>
      <p:pic>
        <p:nvPicPr>
          <p:cNvPr id="23" name="Image 7" descr="plus">    </p:cNvPr>
          <p:cNvPicPr>
            <a:picLocks noChangeAspect="1"/>
          </p:cNvPicPr>
          <p:nvPr/>
        </p:nvPicPr>
        <p:blipFill>
          <a:blip r:embed="rId8"/>
          <a:stretch>
            <a:fillRect/>
          </a:stretch>
        </p:blipFill>
        <p:spPr>
          <a:xfrm>
            <a:off x="7269480" y="3886200"/>
            <a:ext cx="274320" cy="274320"/>
          </a:xfrm>
          <a:prstGeom prst="rect">
            <a:avLst/>
          </a:prstGeom>
        </p:spPr>
      </p:pic>
      <p:sp>
        <p:nvSpPr>
          <p:cNvPr id="24" name="Text 14"/>
          <p:cNvSpPr txBox="1"/>
          <p:nvPr/>
        </p:nvSpPr>
        <p:spPr>
          <a:xfrm>
            <a:off x="7726680" y="3840480"/>
            <a:ext cx="3657600" cy="365760"/>
          </a:xfrm>
          <a:prstGeom prst="rect">
            <a:avLst/>
          </a:prstGeom>
          <a:noFill/>
          <a:ln/>
        </p:spPr>
        <p:txBody>
          <a:bodyPr wrap="square" lIns="0" tIns="0" rIns="0" bIns="0" rtlCol="0" anchor="ctr"/>
          <a:lstStyle/>
          <a:p>
            <a:pPr indent="0" marL="0">
              <a:buNone/>
            </a:pPr>
            <a:r>
              <a:rPr lang="en-US" sz="1500" dirty="0">
                <a:solidFill>
                  <a:srgbClr val="F4F6FB"/>
                </a:solidFill>
              </a:rPr>
              <a:t>2단계 인증</a:t>
            </a:r>
            <a:endParaRPr lang="en-US" sz="1500" dirty="0"/>
          </a:p>
        </p:txBody>
      </p:sp>
      <p:sp>
        <p:nvSpPr>
          <p:cNvPr id="25" name="Text 15"/>
          <p:cNvSpPr txBox="1"/>
          <p:nvPr/>
        </p:nvSpPr>
        <p:spPr>
          <a:xfrm>
            <a:off x="7269480" y="4434840"/>
            <a:ext cx="4023360" cy="731520"/>
          </a:xfrm>
          <a:prstGeom prst="rect">
            <a:avLst/>
          </a:prstGeom>
          <a:noFill/>
          <a:ln/>
        </p:spPr>
        <p:txBody>
          <a:bodyPr wrap="square" lIns="0" tIns="0" rIns="0" bIns="0" rtlCol="0" anchor="t"/>
          <a:lstStyle/>
          <a:p>
            <a:pPr indent="0" marL="0">
              <a:buNone/>
            </a:pPr>
            <a:r>
              <a:rPr lang="en-US" sz="1300" dirty="0">
                <a:solidFill>
                  <a:srgbClr val="9AA5C0"/>
                </a:solidFill>
              </a:rPr>
              <a:t>확장팩을 통해 확장할 수 있고,</a:t>
            </a:r>
            <a:endParaRPr lang="en-US" sz="1300" dirty="0"/>
          </a:p>
          <a:p>
            <a:pPr indent="0" marL="0">
              <a:buNone/>
            </a:pPr>
            <a:r>
              <a:rPr lang="en-US" sz="1300" dirty="0">
                <a:solidFill>
                  <a:srgbClr val="9AA5C0"/>
                </a:solidFill>
              </a:rPr>
              <a:t>아직은 구현 범위가 아닙니다.</a:t>
            </a:r>
            <a:endParaRPr lang="en-US" sz="1300" dirty="0"/>
          </a:p>
        </p:txBody>
      </p:sp>
      <p:sp>
        <p:nvSpPr>
          <p:cNvPr id="26" name="card"/>
          <p:cNvSpPr/>
          <p:nvPr/>
        </p:nvSpPr>
        <p:spPr>
          <a:xfrm>
            <a:off x="640080" y="5577840"/>
            <a:ext cx="10908792" cy="594360"/>
          </a:xfrm>
          <a:prstGeom prst="roundRect">
            <a:avLst>
              <a:gd name="adj" fmla="val 24615"/>
            </a:avLst>
          </a:prstGeom>
          <a:solidFill>
            <a:srgbClr val="1F2A55"/>
          </a:solidFill>
          <a:ln w="9525">
            <a:solidFill>
              <a:srgbClr val="4F7CFF"/>
            </a:solidFill>
            <a:prstDash val="solid"/>
          </a:ln>
          <a:effectLst>
            <a:outerShdw sx="100000" sy="100000" kx="0" ky="0" algn="bl" rotWithShape="0" blurRad="152400" dist="38100" dir="5400000">
              <a:srgbClr val="000000">
                <a:alpha val="35000"/>
              </a:srgbClr>
            </a:outerShdw>
          </a:effectLst>
        </p:spPr>
      </p:sp>
      <p:sp>
        <p:nvSpPr>
          <p:cNvPr id="27" name="Text 17"/>
          <p:cNvSpPr txBox="1"/>
          <p:nvPr/>
        </p:nvSpPr>
        <p:spPr>
          <a:xfrm>
            <a:off x="640080" y="5577840"/>
            <a:ext cx="10908792" cy="594360"/>
          </a:xfrm>
          <a:prstGeom prst="rect">
            <a:avLst/>
          </a:prstGeom>
          <a:noFill/>
          <a:ln/>
        </p:spPr>
        <p:txBody>
          <a:bodyPr wrap="square" lIns="0" tIns="0" rIns="0" bIns="0" rtlCol="0" anchor="ctr"/>
          <a:lstStyle/>
          <a:p>
            <a:pPr algn="ctr" indent="0" marL="0">
              <a:buNone/>
            </a:pPr>
            <a:r>
              <a:rPr lang="en-US" sz="1700" b="1" dirty="0">
                <a:solidFill>
                  <a:srgbClr val="F4F6FB"/>
                </a:solidFill>
              </a:rPr>
              <a:t>AI 서비스를 빠르게 시작하는 기반. 로그인·권한이 필요한 서비스라면 어디든 쓸 수 있다.</a:t>
            </a:r>
            <a:endParaRPr lang="en-US" sz="17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cNvSpPr/>
          <p:nvPr/>
        </p:nvSpPr>
        <p:spPr>
          <a:xfrm>
            <a:off x="640080" y="411480"/>
            <a:ext cx="2029968" cy="347472"/>
          </a:xfrm>
          <a:prstGeom prst="roundRect">
            <a:avLst>
              <a:gd name="adj" fmla="val 50000"/>
            </a:avLst>
          </a:prstGeom>
          <a:solidFill>
            <a:srgbClr val="4F7CFF">
              <a:alpha val="20000"/>
            </a:srgbClr>
          </a:solidFill>
          <a:ln w="9525">
            <a:solidFill>
              <a:srgbClr val="4F7CFF">
                <a:alpha val="60000"/>
              </a:srgbClr>
            </a:solidFill>
            <a:prstDash val="solid"/>
          </a:ln>
        </p:spPr>
      </p:sp>
      <p:sp>
        <p:nvSpPr>
          <p:cNvPr id="3" name="Text 1"/>
          <p:cNvSpPr txBox="1"/>
          <p:nvPr/>
        </p:nvSpPr>
        <p:spPr>
          <a:xfrm>
            <a:off x="640080" y="411480"/>
            <a:ext cx="2029968" cy="347472"/>
          </a:xfrm>
          <a:prstGeom prst="rect">
            <a:avLst/>
          </a:prstGeom>
          <a:noFill/>
          <a:ln/>
        </p:spPr>
        <p:txBody>
          <a:bodyPr wrap="square" lIns="0" tIns="0" rIns="0" bIns="0" rtlCol="0" anchor="ctr"/>
          <a:lstStyle/>
          <a:p>
            <a:pPr algn="ctr" indent="0" marL="0">
              <a:buNone/>
            </a:pPr>
            <a:r>
              <a:rPr lang="en-US" sz="1200" b="1" spc="200" kern="0" dirty="0">
                <a:solidFill>
                  <a:srgbClr val="4F7CFF"/>
                </a:solidFill>
              </a:rPr>
              <a:t>04 · SOLUTION</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킷이 바닥을 깔고, 서비스는 그 위에 올린다</a:t>
            </a:r>
            <a:endParaRPr lang="en-US" sz="3800" dirty="0"/>
          </a:p>
        </p:txBody>
      </p:sp>
      <p:sp>
        <p:nvSpPr>
          <p:cNvPr id="5" name="card"/>
          <p:cNvSpPr/>
          <p:nvPr/>
        </p:nvSpPr>
        <p:spPr>
          <a:xfrm>
            <a:off x="640080" y="2194560"/>
            <a:ext cx="7498080" cy="1188720"/>
          </a:xfrm>
          <a:prstGeom prst="roundRect">
            <a:avLst>
              <a:gd name="adj" fmla="val 12308"/>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1005840" y="2331720"/>
            <a:ext cx="3657600" cy="457200"/>
          </a:xfrm>
          <a:prstGeom prst="rect">
            <a:avLst/>
          </a:prstGeom>
          <a:noFill/>
          <a:ln/>
        </p:spPr>
        <p:txBody>
          <a:bodyPr wrap="square" lIns="0" tIns="0" rIns="0" bIns="0" rtlCol="0" anchor="t"/>
          <a:lstStyle/>
          <a:p>
            <a:pPr indent="0" marL="0">
              <a:buNone/>
            </a:pPr>
            <a:r>
              <a:rPr lang="en-US" sz="2000" b="1" dirty="0">
                <a:solidFill>
                  <a:srgbClr val="F4F6FB"/>
                </a:solidFill>
              </a:rPr>
              <a:t>내 서비스</a:t>
            </a:r>
            <a:endParaRPr lang="en-US" sz="2000" dirty="0"/>
          </a:p>
        </p:txBody>
      </p:sp>
      <p:sp>
        <p:nvSpPr>
          <p:cNvPr id="7" name="Text 5"/>
          <p:cNvSpPr txBox="1"/>
          <p:nvPr/>
        </p:nvSpPr>
        <p:spPr>
          <a:xfrm>
            <a:off x="1005840" y="2816352"/>
            <a:ext cx="6858000" cy="365760"/>
          </a:xfrm>
          <a:prstGeom prst="rect">
            <a:avLst/>
          </a:prstGeom>
          <a:noFill/>
          <a:ln/>
        </p:spPr>
        <p:txBody>
          <a:bodyPr wrap="square" lIns="0" tIns="0" rIns="0" bIns="0" rtlCol="0" anchor="t"/>
          <a:lstStyle/>
          <a:p>
            <a:pPr indent="0" marL="0">
              <a:buNone/>
            </a:pPr>
            <a:r>
              <a:rPr lang="en-US" sz="1400" dirty="0">
                <a:solidFill>
                  <a:srgbClr val="9AA5C0"/>
                </a:solidFill>
              </a:rPr>
              <a:t>AI 서비스 아이디어  ·  개발자가 만드는 부분</a:t>
            </a:r>
            <a:endParaRPr lang="en-US" sz="1400" dirty="0"/>
          </a:p>
        </p:txBody>
      </p:sp>
      <p:sp>
        <p:nvSpPr>
          <p:cNvPr id="8" name="meerkit-layer"/>
          <p:cNvSpPr/>
          <p:nvPr/>
        </p:nvSpPr>
        <p:spPr>
          <a:xfrm>
            <a:off x="640080" y="3520440"/>
            <a:ext cx="7498080" cy="1828800"/>
          </a:xfrm>
          <a:prstGeom prst="roundRect">
            <a:avLst>
              <a:gd name="adj" fmla="val 8000"/>
            </a:avLst>
          </a:prstGeom>
          <a:solidFill>
            <a:srgbClr val="4F7CFF"/>
          </a:solidFill>
          <a:ln w="12700">
            <a:solidFill>
              <a:srgbClr val="4F7CFF"/>
            </a:solidFill>
            <a:prstDash val="solid"/>
          </a:ln>
          <a:effectLst>
            <a:outerShdw sx="100000" sy="100000" kx="0" ky="0" algn="bl" rotWithShape="0" blurRad="152400" dist="38100" dir="5400000">
              <a:srgbClr val="000000">
                <a:alpha val="35000"/>
              </a:srgbClr>
            </a:outerShdw>
          </a:effectLst>
        </p:spPr>
      </p:sp>
      <p:sp>
        <p:nvSpPr>
          <p:cNvPr id="9" name="Text 7"/>
          <p:cNvSpPr txBox="1"/>
          <p:nvPr/>
        </p:nvSpPr>
        <p:spPr>
          <a:xfrm>
            <a:off x="1005840" y="3657600"/>
            <a:ext cx="3657600" cy="457200"/>
          </a:xfrm>
          <a:prstGeom prst="rect">
            <a:avLst/>
          </a:prstGeom>
          <a:noFill/>
          <a:ln/>
        </p:spPr>
        <p:txBody>
          <a:bodyPr wrap="square" lIns="0" tIns="0" rIns="0" bIns="0" rtlCol="0" anchor="t"/>
          <a:lstStyle/>
          <a:p>
            <a:pPr indent="0" marL="0">
              <a:buNone/>
            </a:pPr>
            <a:r>
              <a:rPr lang="en-US" sz="2400" b="1" dirty="0">
                <a:solidFill>
                  <a:srgbClr val="F4F6FB"/>
                </a:solidFill>
              </a:rPr>
              <a:t>Meerkit</a:t>
            </a:r>
            <a:endParaRPr lang="en-US" sz="2400" dirty="0"/>
          </a:p>
        </p:txBody>
      </p:sp>
      <p:sp>
        <p:nvSpPr>
          <p:cNvPr id="10" name="chip"/>
          <p:cNvSpPr/>
          <p:nvPr/>
        </p:nvSpPr>
        <p:spPr>
          <a:xfrm>
            <a:off x="1005840" y="4343400"/>
            <a:ext cx="1600200" cy="685800"/>
          </a:xfrm>
          <a:prstGeom prst="roundRect">
            <a:avLst>
              <a:gd name="adj" fmla="val 49333"/>
            </a:avLst>
          </a:prstGeom>
          <a:solidFill>
            <a:srgbClr val="FFFFFF">
              <a:alpha val="18000"/>
            </a:srgbClr>
          </a:solidFill>
          <a:ln w="9525">
            <a:solidFill>
              <a:srgbClr val="FFFFFF">
                <a:alpha val="50000"/>
              </a:srgbClr>
            </a:solidFill>
            <a:prstDash val="solid"/>
          </a:ln>
        </p:spPr>
      </p:sp>
      <p:sp>
        <p:nvSpPr>
          <p:cNvPr id="11" name="Text 9"/>
          <p:cNvSpPr txBox="1"/>
          <p:nvPr/>
        </p:nvSpPr>
        <p:spPr>
          <a:xfrm>
            <a:off x="1005840" y="4343400"/>
            <a:ext cx="1600200" cy="685800"/>
          </a:xfrm>
          <a:prstGeom prst="rect">
            <a:avLst/>
          </a:prstGeom>
          <a:noFill/>
          <a:ln/>
        </p:spPr>
        <p:txBody>
          <a:bodyPr wrap="square" lIns="0" tIns="0" rIns="0" bIns="0" rtlCol="0" anchor="ctr"/>
          <a:lstStyle/>
          <a:p>
            <a:pPr algn="ctr" indent="0" marL="0">
              <a:buNone/>
            </a:pPr>
            <a:r>
              <a:rPr lang="en-US" sz="1300" b="1" dirty="0">
                <a:solidFill>
                  <a:srgbClr val="F4F6FB"/>
                </a:solidFill>
              </a:rPr>
              <a:t>가입 · 로그인</a:t>
            </a:r>
            <a:endParaRPr lang="en-US" sz="1300" dirty="0"/>
          </a:p>
        </p:txBody>
      </p:sp>
      <p:sp>
        <p:nvSpPr>
          <p:cNvPr id="12" name="chip"/>
          <p:cNvSpPr/>
          <p:nvPr/>
        </p:nvSpPr>
        <p:spPr>
          <a:xfrm>
            <a:off x="2724912" y="4343400"/>
            <a:ext cx="1600200" cy="685800"/>
          </a:xfrm>
          <a:prstGeom prst="roundRect">
            <a:avLst>
              <a:gd name="adj" fmla="val 49333"/>
            </a:avLst>
          </a:prstGeom>
          <a:solidFill>
            <a:srgbClr val="FFFFFF">
              <a:alpha val="18000"/>
            </a:srgbClr>
          </a:solidFill>
          <a:ln w="9525">
            <a:solidFill>
              <a:srgbClr val="FFFFFF">
                <a:alpha val="50000"/>
              </a:srgbClr>
            </a:solidFill>
            <a:prstDash val="solid"/>
          </a:ln>
        </p:spPr>
      </p:sp>
      <p:sp>
        <p:nvSpPr>
          <p:cNvPr id="13" name="Text 11"/>
          <p:cNvSpPr txBox="1"/>
          <p:nvPr/>
        </p:nvSpPr>
        <p:spPr>
          <a:xfrm>
            <a:off x="2724912" y="4343400"/>
            <a:ext cx="1600200" cy="685800"/>
          </a:xfrm>
          <a:prstGeom prst="rect">
            <a:avLst/>
          </a:prstGeom>
          <a:noFill/>
          <a:ln/>
        </p:spPr>
        <p:txBody>
          <a:bodyPr wrap="square" lIns="0" tIns="0" rIns="0" bIns="0" rtlCol="0" anchor="ctr"/>
          <a:lstStyle/>
          <a:p>
            <a:pPr algn="ctr" indent="0" marL="0">
              <a:buNone/>
            </a:pPr>
            <a:r>
              <a:rPr lang="en-US" sz="1300" b="1" dirty="0">
                <a:solidFill>
                  <a:srgbClr val="F4F6FB"/>
                </a:solidFill>
              </a:rPr>
              <a:t>역할 · 권한</a:t>
            </a:r>
            <a:endParaRPr lang="en-US" sz="1300" dirty="0"/>
          </a:p>
        </p:txBody>
      </p:sp>
      <p:sp>
        <p:nvSpPr>
          <p:cNvPr id="14" name="chip"/>
          <p:cNvSpPr/>
          <p:nvPr/>
        </p:nvSpPr>
        <p:spPr>
          <a:xfrm>
            <a:off x="4443984" y="4343400"/>
            <a:ext cx="1600200" cy="685800"/>
          </a:xfrm>
          <a:prstGeom prst="roundRect">
            <a:avLst>
              <a:gd name="adj" fmla="val 49333"/>
            </a:avLst>
          </a:prstGeom>
          <a:solidFill>
            <a:srgbClr val="FFFFFF">
              <a:alpha val="18000"/>
            </a:srgbClr>
          </a:solidFill>
          <a:ln w="9525">
            <a:solidFill>
              <a:srgbClr val="FFFFFF">
                <a:alpha val="50000"/>
              </a:srgbClr>
            </a:solidFill>
            <a:prstDash val="solid"/>
          </a:ln>
        </p:spPr>
      </p:sp>
      <p:sp>
        <p:nvSpPr>
          <p:cNvPr id="15" name="Text 13"/>
          <p:cNvSpPr txBox="1"/>
          <p:nvPr/>
        </p:nvSpPr>
        <p:spPr>
          <a:xfrm>
            <a:off x="4443984" y="4343400"/>
            <a:ext cx="1600200" cy="685800"/>
          </a:xfrm>
          <a:prstGeom prst="rect">
            <a:avLst/>
          </a:prstGeom>
          <a:noFill/>
          <a:ln/>
        </p:spPr>
        <p:txBody>
          <a:bodyPr wrap="square" lIns="0" tIns="0" rIns="0" bIns="0" rtlCol="0" anchor="ctr"/>
          <a:lstStyle/>
          <a:p>
            <a:pPr algn="ctr" indent="0" marL="0">
              <a:buNone/>
            </a:pPr>
            <a:r>
              <a:rPr lang="en-US" sz="1300" b="1" dirty="0">
                <a:solidFill>
                  <a:srgbClr val="F4F6FB"/>
                </a:solidFill>
              </a:rPr>
              <a:t>관리자 화면</a:t>
            </a:r>
            <a:endParaRPr lang="en-US" sz="1300" dirty="0"/>
          </a:p>
        </p:txBody>
      </p:sp>
      <p:sp>
        <p:nvSpPr>
          <p:cNvPr id="16" name="chip"/>
          <p:cNvSpPr/>
          <p:nvPr/>
        </p:nvSpPr>
        <p:spPr>
          <a:xfrm>
            <a:off x="6163056" y="4343400"/>
            <a:ext cx="1600200" cy="685800"/>
          </a:xfrm>
          <a:prstGeom prst="roundRect">
            <a:avLst>
              <a:gd name="adj" fmla="val 49333"/>
            </a:avLst>
          </a:prstGeom>
          <a:solidFill>
            <a:srgbClr val="FFFFFF">
              <a:alpha val="18000"/>
            </a:srgbClr>
          </a:solidFill>
          <a:ln w="9525">
            <a:solidFill>
              <a:srgbClr val="FFFFFF">
                <a:alpha val="50000"/>
              </a:srgbClr>
            </a:solidFill>
            <a:prstDash val="solid"/>
          </a:ln>
        </p:spPr>
      </p:sp>
      <p:sp>
        <p:nvSpPr>
          <p:cNvPr id="17" name="Text 15"/>
          <p:cNvSpPr txBox="1"/>
          <p:nvPr/>
        </p:nvSpPr>
        <p:spPr>
          <a:xfrm>
            <a:off x="6163056" y="4343400"/>
            <a:ext cx="1600200" cy="685800"/>
          </a:xfrm>
          <a:prstGeom prst="rect">
            <a:avLst/>
          </a:prstGeom>
          <a:noFill/>
          <a:ln/>
        </p:spPr>
        <p:txBody>
          <a:bodyPr wrap="square" lIns="0" tIns="0" rIns="0" bIns="0" rtlCol="0" anchor="ctr"/>
          <a:lstStyle/>
          <a:p>
            <a:pPr algn="ctr" indent="0" marL="0">
              <a:buNone/>
            </a:pPr>
            <a:r>
              <a:rPr lang="en-US" sz="1300" b="1" dirty="0">
                <a:solidFill>
                  <a:srgbClr val="F4F6FB"/>
                </a:solidFill>
              </a:rPr>
              <a:t>AI 화면 부품</a:t>
            </a:r>
            <a:endParaRPr lang="en-US" sz="1300" dirty="0"/>
          </a:p>
        </p:txBody>
      </p:sp>
      <p:sp>
        <p:nvSpPr>
          <p:cNvPr id="18" name="card"/>
          <p:cNvSpPr/>
          <p:nvPr/>
        </p:nvSpPr>
        <p:spPr>
          <a:xfrm>
            <a:off x="640080" y="5486400"/>
            <a:ext cx="7498080" cy="685800"/>
          </a:xfrm>
          <a:prstGeom prst="roundRect">
            <a:avLst>
              <a:gd name="adj" fmla="val 2133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9" name="Text 17"/>
          <p:cNvSpPr txBox="1"/>
          <p:nvPr/>
        </p:nvSpPr>
        <p:spPr>
          <a:xfrm>
            <a:off x="1005840" y="5486400"/>
            <a:ext cx="6766560" cy="685800"/>
          </a:xfrm>
          <a:prstGeom prst="rect">
            <a:avLst/>
          </a:prstGeom>
          <a:noFill/>
          <a:ln/>
        </p:spPr>
        <p:txBody>
          <a:bodyPr wrap="square" lIns="0" tIns="0" rIns="0" bIns="0" rtlCol="0" anchor="ctr"/>
          <a:lstStyle/>
          <a:p>
            <a:pPr indent="0" marL="0">
              <a:buNone/>
            </a:pPr>
            <a:r>
              <a:rPr lang="en-US" sz="1700" b="1" dirty="0">
                <a:solidFill>
                  <a:srgbClr val="F4F6FB"/>
                </a:solidFill>
              </a:rPr>
              <a:t>서버  ·  DB</a:t>
            </a:r>
            <a:endParaRPr lang="en-US" sz="1700" dirty="0"/>
          </a:p>
        </p:txBody>
      </p:sp>
      <p:sp>
        <p:nvSpPr>
          <p:cNvPr id="20" name="Text 18"/>
          <p:cNvSpPr txBox="1"/>
          <p:nvPr/>
        </p:nvSpPr>
        <p:spPr>
          <a:xfrm>
            <a:off x="8595360" y="3657600"/>
            <a:ext cx="2926080" cy="822960"/>
          </a:xfrm>
          <a:prstGeom prst="rect">
            <a:avLst/>
          </a:prstGeom>
          <a:noFill/>
          <a:ln/>
        </p:spPr>
        <p:txBody>
          <a:bodyPr wrap="square" lIns="0" tIns="0" rIns="0" bIns="0" rtlCol="0" anchor="t"/>
          <a:lstStyle/>
          <a:p>
            <a:pPr indent="0" marL="0">
              <a:buNone/>
            </a:pPr>
            <a:r>
              <a:rPr lang="en-US" sz="1900" b="1" dirty="0">
                <a:solidFill>
                  <a:srgbClr val="4F7CFF"/>
                </a:solidFill>
              </a:rPr>
              <a:t>킷 코드와 서비스 코드는</a:t>
            </a:r>
            <a:endParaRPr lang="en-US" sz="1900" dirty="0"/>
          </a:p>
          <a:p>
            <a:pPr indent="0" marL="0">
              <a:buNone/>
            </a:pPr>
            <a:r>
              <a:rPr lang="en-US" sz="1900" b="1" dirty="0">
                <a:solidFill>
                  <a:srgbClr val="4F7CFF"/>
                </a:solidFill>
              </a:rPr>
              <a:t>서로 분리되어 있다</a:t>
            </a:r>
            <a:endParaRPr lang="en-US" sz="1900" dirty="0"/>
          </a:p>
        </p:txBody>
      </p:sp>
      <p:sp>
        <p:nvSpPr>
          <p:cNvPr id="21" name="Text 19"/>
          <p:cNvSpPr txBox="1"/>
          <p:nvPr/>
        </p:nvSpPr>
        <p:spPr>
          <a:xfrm>
            <a:off x="8595360" y="4572000"/>
            <a:ext cx="2926080" cy="1463040"/>
          </a:xfrm>
          <a:prstGeom prst="rect">
            <a:avLst/>
          </a:prstGeom>
          <a:noFill/>
          <a:ln/>
        </p:spPr>
        <p:txBody>
          <a:bodyPr wrap="square" lIns="0" tIns="0" rIns="0" bIns="0" rtlCol="0" anchor="t"/>
          <a:lstStyle/>
          <a:p>
            <a:pPr indent="0" marL="0">
              <a:buNone/>
            </a:pPr>
            <a:r>
              <a:rPr lang="en-US" sz="1400" dirty="0">
                <a:solidFill>
                  <a:srgbClr val="9AA5C0"/>
                </a:solidFill>
              </a:rPr>
              <a:t>그래서 킷이 업데이트돼도 내 서비스는 그대로이고, 개발자는 서비스 아이디어에만 집중하면 됩니다.</a:t>
            </a:r>
            <a:endParaRPr lang="en-US" sz="14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cNvSpPr/>
          <p:nvPr/>
        </p:nvSpPr>
        <p:spPr>
          <a:xfrm>
            <a:off x="640080" y="411480"/>
            <a:ext cx="2029968" cy="347472"/>
          </a:xfrm>
          <a:prstGeom prst="roundRect">
            <a:avLst>
              <a:gd name="adj" fmla="val 50000"/>
            </a:avLst>
          </a:prstGeom>
          <a:solidFill>
            <a:srgbClr val="4F7CFF">
              <a:alpha val="20000"/>
            </a:srgbClr>
          </a:solidFill>
          <a:ln w="9525">
            <a:solidFill>
              <a:srgbClr val="4F7CFF">
                <a:alpha val="60000"/>
              </a:srgbClr>
            </a:solidFill>
            <a:prstDash val="solid"/>
          </a:ln>
        </p:spPr>
      </p:sp>
      <p:sp>
        <p:nvSpPr>
          <p:cNvPr id="3" name="Text 1"/>
          <p:cNvSpPr txBox="1"/>
          <p:nvPr/>
        </p:nvSpPr>
        <p:spPr>
          <a:xfrm>
            <a:off x="640080" y="411480"/>
            <a:ext cx="2029968" cy="347472"/>
          </a:xfrm>
          <a:prstGeom prst="rect">
            <a:avLst/>
          </a:prstGeom>
          <a:noFill/>
          <a:ln/>
        </p:spPr>
        <p:txBody>
          <a:bodyPr wrap="square" lIns="0" tIns="0" rIns="0" bIns="0" rtlCol="0" anchor="ctr"/>
          <a:lstStyle/>
          <a:p>
            <a:pPr algn="ctr" indent="0" marL="0">
              <a:buNone/>
            </a:pPr>
            <a:r>
              <a:rPr lang="en-US" sz="1200" b="1" spc="200" kern="0" dirty="0">
                <a:solidFill>
                  <a:srgbClr val="4F7CFF"/>
                </a:solidFill>
              </a:rPr>
              <a:t>04 · FEATURES</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기본으로 들어 있는 여섯 가지</a:t>
            </a:r>
            <a:endParaRPr lang="en-US" sz="3800" dirty="0"/>
          </a:p>
        </p:txBody>
      </p:sp>
      <p:sp>
        <p:nvSpPr>
          <p:cNvPr id="5" name="card"/>
          <p:cNvSpPr/>
          <p:nvPr/>
        </p:nvSpPr>
        <p:spPr>
          <a:xfrm>
            <a:off x="640080" y="2194560"/>
            <a:ext cx="3474720" cy="1783080"/>
          </a:xfrm>
          <a:prstGeom prst="roundRect">
            <a:avLst>
              <a:gd name="adj" fmla="val 82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icon-bg"/>
          <p:cNvSpPr/>
          <p:nvPr/>
        </p:nvSpPr>
        <p:spPr>
          <a:xfrm>
            <a:off x="960120" y="2514600"/>
            <a:ext cx="731520" cy="731520"/>
          </a:xfrm>
          <a:prstGeom prst="ellipse">
            <a:avLst/>
          </a:prstGeom>
          <a:solidFill>
            <a:srgbClr val="4F7CFF"/>
          </a:solidFill>
          <a:ln w="12700">
            <a:solidFill>
              <a:srgbClr val="4F7CFF"/>
            </a:solidFill>
            <a:prstDash val="solid"/>
          </a:ln>
        </p:spPr>
      </p:sp>
      <p:pic>
        <p:nvPicPr>
          <p:cNvPr id="7" name="Image 0" descr="icon">    </p:cNvPr>
          <p:cNvPicPr>
            <a:picLocks noChangeAspect="1"/>
          </p:cNvPicPr>
          <p:nvPr/>
        </p:nvPicPr>
        <p:blipFill>
          <a:blip r:embed="rId1"/>
          <a:stretch>
            <a:fillRect/>
          </a:stretch>
        </p:blipFill>
        <p:spPr>
          <a:xfrm>
            <a:off x="1143000" y="2697480"/>
            <a:ext cx="365760" cy="365760"/>
          </a:xfrm>
          <a:prstGeom prst="rect">
            <a:avLst/>
          </a:prstGeom>
        </p:spPr>
      </p:pic>
      <p:sp>
        <p:nvSpPr>
          <p:cNvPr id="8" name="Text 5"/>
          <p:cNvSpPr txBox="1"/>
          <p:nvPr/>
        </p:nvSpPr>
        <p:spPr>
          <a:xfrm>
            <a:off x="1874520" y="2560320"/>
            <a:ext cx="2103120" cy="640080"/>
          </a:xfrm>
          <a:prstGeom prst="rect">
            <a:avLst/>
          </a:prstGeom>
          <a:noFill/>
          <a:ln/>
        </p:spPr>
        <p:txBody>
          <a:bodyPr wrap="square" lIns="0" tIns="0" rIns="0" bIns="0" rtlCol="0" anchor="ctr"/>
          <a:lstStyle/>
          <a:p>
            <a:pPr indent="0" marL="0">
              <a:buNone/>
            </a:pPr>
            <a:r>
              <a:rPr lang="en-US" sz="1900" b="1" dirty="0">
                <a:solidFill>
                  <a:srgbClr val="F4F6FB"/>
                </a:solidFill>
              </a:rPr>
              <a:t>가입 · 로그인</a:t>
            </a:r>
            <a:endParaRPr lang="en-US" sz="1900" dirty="0"/>
          </a:p>
        </p:txBody>
      </p:sp>
      <p:sp>
        <p:nvSpPr>
          <p:cNvPr id="9" name="Text 6"/>
          <p:cNvSpPr txBox="1"/>
          <p:nvPr/>
        </p:nvSpPr>
        <p:spPr>
          <a:xfrm>
            <a:off x="960120" y="3383280"/>
            <a:ext cx="2926080" cy="502920"/>
          </a:xfrm>
          <a:prstGeom prst="rect">
            <a:avLst/>
          </a:prstGeom>
          <a:noFill/>
          <a:ln/>
        </p:spPr>
        <p:txBody>
          <a:bodyPr wrap="square" lIns="0" tIns="0" rIns="0" bIns="0" rtlCol="0" anchor="t"/>
          <a:lstStyle/>
          <a:p>
            <a:pPr indent="0" marL="0">
              <a:buNone/>
            </a:pPr>
            <a:r>
              <a:rPr lang="en-US" sz="1300" dirty="0">
                <a:solidFill>
                  <a:srgbClr val="9AA5C0"/>
                </a:solidFill>
              </a:rPr>
              <a:t>닉네임 · 주소 · 이메일 인증을 선택해서 설정한다</a:t>
            </a:r>
            <a:endParaRPr lang="en-US" sz="1300" dirty="0"/>
          </a:p>
        </p:txBody>
      </p:sp>
      <p:sp>
        <p:nvSpPr>
          <p:cNvPr id="10" name="card"/>
          <p:cNvSpPr/>
          <p:nvPr/>
        </p:nvSpPr>
        <p:spPr>
          <a:xfrm>
            <a:off x="4343400" y="2194560"/>
            <a:ext cx="3474720" cy="1783080"/>
          </a:xfrm>
          <a:prstGeom prst="roundRect">
            <a:avLst>
              <a:gd name="adj" fmla="val 82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1" name="icon-bg"/>
          <p:cNvSpPr/>
          <p:nvPr/>
        </p:nvSpPr>
        <p:spPr>
          <a:xfrm>
            <a:off x="4663440" y="2514600"/>
            <a:ext cx="731520" cy="731520"/>
          </a:xfrm>
          <a:prstGeom prst="ellipse">
            <a:avLst/>
          </a:prstGeom>
          <a:solidFill>
            <a:srgbClr val="8B5CF6"/>
          </a:solidFill>
          <a:ln w="12700">
            <a:solidFill>
              <a:srgbClr val="8B5CF6"/>
            </a:solidFill>
            <a:prstDash val="solid"/>
          </a:ln>
        </p:spPr>
      </p:sp>
      <p:pic>
        <p:nvPicPr>
          <p:cNvPr id="12" name="Image 1" descr="icon">    </p:cNvPr>
          <p:cNvPicPr>
            <a:picLocks noChangeAspect="1"/>
          </p:cNvPicPr>
          <p:nvPr/>
        </p:nvPicPr>
        <p:blipFill>
          <a:blip r:embed="rId2"/>
          <a:stretch>
            <a:fillRect/>
          </a:stretch>
        </p:blipFill>
        <p:spPr>
          <a:xfrm>
            <a:off x="4846320" y="2697480"/>
            <a:ext cx="365760" cy="365760"/>
          </a:xfrm>
          <a:prstGeom prst="rect">
            <a:avLst/>
          </a:prstGeom>
        </p:spPr>
      </p:pic>
      <p:sp>
        <p:nvSpPr>
          <p:cNvPr id="13" name="Text 9"/>
          <p:cNvSpPr txBox="1"/>
          <p:nvPr/>
        </p:nvSpPr>
        <p:spPr>
          <a:xfrm>
            <a:off x="5577840" y="2560320"/>
            <a:ext cx="2103120" cy="640080"/>
          </a:xfrm>
          <a:prstGeom prst="rect">
            <a:avLst/>
          </a:prstGeom>
          <a:noFill/>
          <a:ln/>
        </p:spPr>
        <p:txBody>
          <a:bodyPr wrap="square" lIns="0" tIns="0" rIns="0" bIns="0" rtlCol="0" anchor="ctr"/>
          <a:lstStyle/>
          <a:p>
            <a:pPr indent="0" marL="0">
              <a:buNone/>
            </a:pPr>
            <a:r>
              <a:rPr lang="en-US" sz="1900" b="1" dirty="0">
                <a:solidFill>
                  <a:srgbClr val="F4F6FB"/>
                </a:solidFill>
              </a:rPr>
              <a:t>비밀번호 재설정</a:t>
            </a:r>
            <a:endParaRPr lang="en-US" sz="1900" dirty="0"/>
          </a:p>
        </p:txBody>
      </p:sp>
      <p:sp>
        <p:nvSpPr>
          <p:cNvPr id="14" name="Text 10"/>
          <p:cNvSpPr txBox="1"/>
          <p:nvPr/>
        </p:nvSpPr>
        <p:spPr>
          <a:xfrm>
            <a:off x="4663440" y="3383280"/>
            <a:ext cx="2926080" cy="502920"/>
          </a:xfrm>
          <a:prstGeom prst="rect">
            <a:avLst/>
          </a:prstGeom>
          <a:noFill/>
          <a:ln/>
        </p:spPr>
        <p:txBody>
          <a:bodyPr wrap="square" lIns="0" tIns="0" rIns="0" bIns="0" rtlCol="0" anchor="t"/>
          <a:lstStyle/>
          <a:p>
            <a:pPr indent="0" marL="0">
              <a:buNone/>
            </a:pPr>
            <a:r>
              <a:rPr lang="en-US" sz="1300" dirty="0">
                <a:solidFill>
                  <a:srgbClr val="9AA5C0"/>
                </a:solidFill>
              </a:rPr>
              <a:t>찾기 · 변경 · 내 정보 수정까지</a:t>
            </a:r>
            <a:endParaRPr lang="en-US" sz="1300" dirty="0"/>
          </a:p>
        </p:txBody>
      </p:sp>
      <p:sp>
        <p:nvSpPr>
          <p:cNvPr id="15" name="card"/>
          <p:cNvSpPr/>
          <p:nvPr/>
        </p:nvSpPr>
        <p:spPr>
          <a:xfrm>
            <a:off x="8046720" y="2194560"/>
            <a:ext cx="3474720" cy="1783080"/>
          </a:xfrm>
          <a:prstGeom prst="roundRect">
            <a:avLst>
              <a:gd name="adj" fmla="val 82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6" name="icon-bg"/>
          <p:cNvSpPr/>
          <p:nvPr/>
        </p:nvSpPr>
        <p:spPr>
          <a:xfrm>
            <a:off x="8366760" y="2514600"/>
            <a:ext cx="731520" cy="731520"/>
          </a:xfrm>
          <a:prstGeom prst="ellipse">
            <a:avLst/>
          </a:prstGeom>
          <a:solidFill>
            <a:srgbClr val="F472B6"/>
          </a:solidFill>
          <a:ln w="12700">
            <a:solidFill>
              <a:srgbClr val="F472B6"/>
            </a:solidFill>
            <a:prstDash val="solid"/>
          </a:ln>
        </p:spPr>
      </p:sp>
      <p:pic>
        <p:nvPicPr>
          <p:cNvPr id="17" name="Image 2" descr="icon">    </p:cNvPr>
          <p:cNvPicPr>
            <a:picLocks noChangeAspect="1"/>
          </p:cNvPicPr>
          <p:nvPr/>
        </p:nvPicPr>
        <p:blipFill>
          <a:blip r:embed="rId3"/>
          <a:stretch>
            <a:fillRect/>
          </a:stretch>
        </p:blipFill>
        <p:spPr>
          <a:xfrm>
            <a:off x="8549640" y="2697480"/>
            <a:ext cx="365760" cy="365760"/>
          </a:xfrm>
          <a:prstGeom prst="rect">
            <a:avLst/>
          </a:prstGeom>
        </p:spPr>
      </p:pic>
      <p:sp>
        <p:nvSpPr>
          <p:cNvPr id="18" name="Text 13"/>
          <p:cNvSpPr txBox="1"/>
          <p:nvPr/>
        </p:nvSpPr>
        <p:spPr>
          <a:xfrm>
            <a:off x="9281160" y="2560320"/>
            <a:ext cx="2103120" cy="640080"/>
          </a:xfrm>
          <a:prstGeom prst="rect">
            <a:avLst/>
          </a:prstGeom>
          <a:noFill/>
          <a:ln/>
        </p:spPr>
        <p:txBody>
          <a:bodyPr wrap="square" lIns="0" tIns="0" rIns="0" bIns="0" rtlCol="0" anchor="ctr"/>
          <a:lstStyle/>
          <a:p>
            <a:pPr indent="0" marL="0">
              <a:buNone/>
            </a:pPr>
            <a:r>
              <a:rPr lang="en-US" sz="1900" b="1" dirty="0">
                <a:solidFill>
                  <a:srgbClr val="F4F6FB"/>
                </a:solidFill>
              </a:rPr>
              <a:t>역할 관리</a:t>
            </a:r>
            <a:endParaRPr lang="en-US" sz="1900" dirty="0"/>
          </a:p>
        </p:txBody>
      </p:sp>
      <p:sp>
        <p:nvSpPr>
          <p:cNvPr id="19" name="Text 14"/>
          <p:cNvSpPr txBox="1"/>
          <p:nvPr/>
        </p:nvSpPr>
        <p:spPr>
          <a:xfrm>
            <a:off x="8366760" y="3383280"/>
            <a:ext cx="2926080" cy="502920"/>
          </a:xfrm>
          <a:prstGeom prst="rect">
            <a:avLst/>
          </a:prstGeom>
          <a:noFill/>
          <a:ln/>
        </p:spPr>
        <p:txBody>
          <a:bodyPr wrap="square" lIns="0" tIns="0" rIns="0" bIns="0" rtlCol="0" anchor="t"/>
          <a:lstStyle/>
          <a:p>
            <a:pPr indent="0" marL="0">
              <a:buNone/>
            </a:pPr>
            <a:r>
              <a:rPr lang="en-US" sz="1300" dirty="0">
                <a:solidFill>
                  <a:srgbClr val="9AA5C0"/>
                </a:solidFill>
              </a:rPr>
              <a:t>권한에 따라 역할을 나누고 관리한다</a:t>
            </a:r>
            <a:endParaRPr lang="en-US" sz="1300" dirty="0"/>
          </a:p>
        </p:txBody>
      </p:sp>
      <p:sp>
        <p:nvSpPr>
          <p:cNvPr id="20" name="card"/>
          <p:cNvSpPr/>
          <p:nvPr/>
        </p:nvSpPr>
        <p:spPr>
          <a:xfrm>
            <a:off x="640080" y="4206240"/>
            <a:ext cx="3474720" cy="1783080"/>
          </a:xfrm>
          <a:prstGeom prst="roundRect">
            <a:avLst>
              <a:gd name="adj" fmla="val 82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1" name="icon-bg"/>
          <p:cNvSpPr/>
          <p:nvPr/>
        </p:nvSpPr>
        <p:spPr>
          <a:xfrm>
            <a:off x="960120" y="4526280"/>
            <a:ext cx="731520" cy="731520"/>
          </a:xfrm>
          <a:prstGeom prst="ellipse">
            <a:avLst/>
          </a:prstGeom>
          <a:solidFill>
            <a:srgbClr val="2DD4BF"/>
          </a:solidFill>
          <a:ln w="12700">
            <a:solidFill>
              <a:srgbClr val="2DD4BF"/>
            </a:solidFill>
            <a:prstDash val="solid"/>
          </a:ln>
        </p:spPr>
      </p:sp>
      <p:pic>
        <p:nvPicPr>
          <p:cNvPr id="22" name="Image 3" descr="icon">    </p:cNvPr>
          <p:cNvPicPr>
            <a:picLocks noChangeAspect="1"/>
          </p:cNvPicPr>
          <p:nvPr/>
        </p:nvPicPr>
        <p:blipFill>
          <a:blip r:embed="rId4"/>
          <a:stretch>
            <a:fillRect/>
          </a:stretch>
        </p:blipFill>
        <p:spPr>
          <a:xfrm>
            <a:off x="1143000" y="4709160"/>
            <a:ext cx="365760" cy="365760"/>
          </a:xfrm>
          <a:prstGeom prst="rect">
            <a:avLst/>
          </a:prstGeom>
        </p:spPr>
      </p:pic>
      <p:sp>
        <p:nvSpPr>
          <p:cNvPr id="23" name="Text 17"/>
          <p:cNvSpPr txBox="1"/>
          <p:nvPr/>
        </p:nvSpPr>
        <p:spPr>
          <a:xfrm>
            <a:off x="1874520" y="4572000"/>
            <a:ext cx="2103120" cy="640080"/>
          </a:xfrm>
          <a:prstGeom prst="rect">
            <a:avLst/>
          </a:prstGeom>
          <a:noFill/>
          <a:ln/>
        </p:spPr>
        <p:txBody>
          <a:bodyPr wrap="square" lIns="0" tIns="0" rIns="0" bIns="0" rtlCol="0" anchor="ctr"/>
          <a:lstStyle/>
          <a:p>
            <a:pPr indent="0" marL="0">
              <a:buNone/>
            </a:pPr>
            <a:r>
              <a:rPr lang="en-US" sz="1900" b="1" dirty="0">
                <a:solidFill>
                  <a:srgbClr val="F4F6FB"/>
                </a:solidFill>
              </a:rPr>
              <a:t>관리자 화면</a:t>
            </a:r>
            <a:endParaRPr lang="en-US" sz="1900" dirty="0"/>
          </a:p>
        </p:txBody>
      </p:sp>
      <p:sp>
        <p:nvSpPr>
          <p:cNvPr id="24" name="Text 18"/>
          <p:cNvSpPr txBox="1"/>
          <p:nvPr/>
        </p:nvSpPr>
        <p:spPr>
          <a:xfrm>
            <a:off x="960120" y="5394960"/>
            <a:ext cx="2926080" cy="502920"/>
          </a:xfrm>
          <a:prstGeom prst="rect">
            <a:avLst/>
          </a:prstGeom>
          <a:noFill/>
          <a:ln/>
        </p:spPr>
        <p:txBody>
          <a:bodyPr wrap="square" lIns="0" tIns="0" rIns="0" bIns="0" rtlCol="0" anchor="t"/>
          <a:lstStyle/>
          <a:p>
            <a:pPr indent="0" marL="0">
              <a:buNone/>
            </a:pPr>
            <a:r>
              <a:rPr lang="en-US" sz="1300" dirty="0">
                <a:solidFill>
                  <a:srgbClr val="9AA5C0"/>
                </a:solidFill>
              </a:rPr>
              <a:t>멤버 검색 · 필터 · 역할 변경</a:t>
            </a:r>
            <a:endParaRPr lang="en-US" sz="1300" dirty="0"/>
          </a:p>
        </p:txBody>
      </p:sp>
      <p:sp>
        <p:nvSpPr>
          <p:cNvPr id="25" name="card"/>
          <p:cNvSpPr/>
          <p:nvPr/>
        </p:nvSpPr>
        <p:spPr>
          <a:xfrm>
            <a:off x="4343400" y="4206240"/>
            <a:ext cx="3474720" cy="1783080"/>
          </a:xfrm>
          <a:prstGeom prst="roundRect">
            <a:avLst>
              <a:gd name="adj" fmla="val 82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6" name="icon-bg"/>
          <p:cNvSpPr/>
          <p:nvPr/>
        </p:nvSpPr>
        <p:spPr>
          <a:xfrm>
            <a:off x="4663440" y="4526280"/>
            <a:ext cx="731520" cy="731520"/>
          </a:xfrm>
          <a:prstGeom prst="ellipse">
            <a:avLst/>
          </a:prstGeom>
          <a:solidFill>
            <a:srgbClr val="FBBF24"/>
          </a:solidFill>
          <a:ln w="12700">
            <a:solidFill>
              <a:srgbClr val="FBBF24"/>
            </a:solidFill>
            <a:prstDash val="solid"/>
          </a:ln>
        </p:spPr>
      </p:sp>
      <p:pic>
        <p:nvPicPr>
          <p:cNvPr id="27" name="Image 4" descr="icon">    </p:cNvPr>
          <p:cNvPicPr>
            <a:picLocks noChangeAspect="1"/>
          </p:cNvPicPr>
          <p:nvPr/>
        </p:nvPicPr>
        <p:blipFill>
          <a:blip r:embed="rId5"/>
          <a:stretch>
            <a:fillRect/>
          </a:stretch>
        </p:blipFill>
        <p:spPr>
          <a:xfrm>
            <a:off x="4846320" y="4709160"/>
            <a:ext cx="365760" cy="365760"/>
          </a:xfrm>
          <a:prstGeom prst="rect">
            <a:avLst/>
          </a:prstGeom>
        </p:spPr>
      </p:pic>
      <p:sp>
        <p:nvSpPr>
          <p:cNvPr id="28" name="Text 21"/>
          <p:cNvSpPr txBox="1"/>
          <p:nvPr/>
        </p:nvSpPr>
        <p:spPr>
          <a:xfrm>
            <a:off x="5577840" y="4572000"/>
            <a:ext cx="2103120" cy="640080"/>
          </a:xfrm>
          <a:prstGeom prst="rect">
            <a:avLst/>
          </a:prstGeom>
          <a:noFill/>
          <a:ln/>
        </p:spPr>
        <p:txBody>
          <a:bodyPr wrap="square" lIns="0" tIns="0" rIns="0" bIns="0" rtlCol="0" anchor="ctr"/>
          <a:lstStyle/>
          <a:p>
            <a:pPr indent="0" marL="0">
              <a:buNone/>
            </a:pPr>
            <a:r>
              <a:rPr lang="en-US" sz="1900" b="1" dirty="0">
                <a:solidFill>
                  <a:srgbClr val="F4F6FB"/>
                </a:solidFill>
              </a:rPr>
              <a:t>로그인 잠금</a:t>
            </a:r>
            <a:endParaRPr lang="en-US" sz="1900" dirty="0"/>
          </a:p>
        </p:txBody>
      </p:sp>
      <p:sp>
        <p:nvSpPr>
          <p:cNvPr id="29" name="Text 22"/>
          <p:cNvSpPr txBox="1"/>
          <p:nvPr/>
        </p:nvSpPr>
        <p:spPr>
          <a:xfrm>
            <a:off x="4663440" y="5394960"/>
            <a:ext cx="2926080" cy="502920"/>
          </a:xfrm>
          <a:prstGeom prst="rect">
            <a:avLst/>
          </a:prstGeom>
          <a:noFill/>
          <a:ln/>
        </p:spPr>
        <p:txBody>
          <a:bodyPr wrap="square" lIns="0" tIns="0" rIns="0" bIns="0" rtlCol="0" anchor="t"/>
          <a:lstStyle/>
          <a:p>
            <a:pPr indent="0" marL="0">
              <a:buNone/>
            </a:pPr>
            <a:r>
              <a:rPr lang="en-US" sz="1300" dirty="0">
                <a:solidFill>
                  <a:srgbClr val="9AA5C0"/>
                </a:solidFill>
              </a:rPr>
              <a:t>N회 실패하면 M분 잠금 (개발자가 설정)</a:t>
            </a:r>
            <a:endParaRPr lang="en-US" sz="1300" dirty="0"/>
          </a:p>
        </p:txBody>
      </p:sp>
      <p:sp>
        <p:nvSpPr>
          <p:cNvPr id="30" name="card"/>
          <p:cNvSpPr/>
          <p:nvPr/>
        </p:nvSpPr>
        <p:spPr>
          <a:xfrm>
            <a:off x="8046720" y="4206240"/>
            <a:ext cx="3474720" cy="1783080"/>
          </a:xfrm>
          <a:prstGeom prst="roundRect">
            <a:avLst>
              <a:gd name="adj" fmla="val 82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31" name="icon-bg"/>
          <p:cNvSpPr/>
          <p:nvPr/>
        </p:nvSpPr>
        <p:spPr>
          <a:xfrm>
            <a:off x="8366760" y="4526280"/>
            <a:ext cx="731520" cy="731520"/>
          </a:xfrm>
          <a:prstGeom prst="ellipse">
            <a:avLst/>
          </a:prstGeom>
          <a:solidFill>
            <a:srgbClr val="34D399"/>
          </a:solidFill>
          <a:ln w="12700">
            <a:solidFill>
              <a:srgbClr val="34D399"/>
            </a:solidFill>
            <a:prstDash val="solid"/>
          </a:ln>
        </p:spPr>
      </p:sp>
      <p:pic>
        <p:nvPicPr>
          <p:cNvPr id="32" name="Image 5" descr="icon">    </p:cNvPr>
          <p:cNvPicPr>
            <a:picLocks noChangeAspect="1"/>
          </p:cNvPicPr>
          <p:nvPr/>
        </p:nvPicPr>
        <p:blipFill>
          <a:blip r:embed="rId6"/>
          <a:stretch>
            <a:fillRect/>
          </a:stretch>
        </p:blipFill>
        <p:spPr>
          <a:xfrm>
            <a:off x="8549640" y="4709160"/>
            <a:ext cx="365760" cy="365760"/>
          </a:xfrm>
          <a:prstGeom prst="rect">
            <a:avLst/>
          </a:prstGeom>
        </p:spPr>
      </p:pic>
      <p:sp>
        <p:nvSpPr>
          <p:cNvPr id="33" name="Text 25"/>
          <p:cNvSpPr txBox="1"/>
          <p:nvPr/>
        </p:nvSpPr>
        <p:spPr>
          <a:xfrm>
            <a:off x="9281160" y="4572000"/>
            <a:ext cx="2103120" cy="640080"/>
          </a:xfrm>
          <a:prstGeom prst="rect">
            <a:avLst/>
          </a:prstGeom>
          <a:noFill/>
          <a:ln/>
        </p:spPr>
        <p:txBody>
          <a:bodyPr wrap="square" lIns="0" tIns="0" rIns="0" bIns="0" rtlCol="0" anchor="ctr"/>
          <a:lstStyle/>
          <a:p>
            <a:pPr indent="0" marL="0">
              <a:buNone/>
            </a:pPr>
            <a:r>
              <a:rPr lang="en-US" sz="1900" b="1" dirty="0">
                <a:solidFill>
                  <a:srgbClr val="F4F6FB"/>
                </a:solidFill>
              </a:rPr>
              <a:t>설정 관리</a:t>
            </a:r>
            <a:endParaRPr lang="en-US" sz="1900" dirty="0"/>
          </a:p>
        </p:txBody>
      </p:sp>
      <p:sp>
        <p:nvSpPr>
          <p:cNvPr id="34" name="Text 26"/>
          <p:cNvSpPr txBox="1"/>
          <p:nvPr/>
        </p:nvSpPr>
        <p:spPr>
          <a:xfrm>
            <a:off x="8366760" y="5394960"/>
            <a:ext cx="2926080" cy="502920"/>
          </a:xfrm>
          <a:prstGeom prst="rect">
            <a:avLst/>
          </a:prstGeom>
          <a:noFill/>
          <a:ln/>
        </p:spPr>
        <p:txBody>
          <a:bodyPr wrap="square" lIns="0" tIns="0" rIns="0" bIns="0" rtlCol="0" anchor="t"/>
          <a:lstStyle/>
          <a:p>
            <a:pPr indent="0" marL="0">
              <a:buNone/>
            </a:pPr>
            <a:r>
              <a:rPr lang="en-US" sz="1300" dirty="0">
                <a:solidFill>
                  <a:srgbClr val="9AA5C0"/>
                </a:solidFill>
              </a:rPr>
              <a:t>한 곳에서 설정하고 관리한다</a:t>
            </a:r>
            <a:endParaRPr lang="en-US" sz="13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cNvSpPr/>
          <p:nvPr/>
        </p:nvSpPr>
        <p:spPr>
          <a:xfrm>
            <a:off x="640080" y="411480"/>
            <a:ext cx="2414016" cy="347472"/>
          </a:xfrm>
          <a:prstGeom prst="roundRect">
            <a:avLst>
              <a:gd name="adj" fmla="val 50000"/>
            </a:avLst>
          </a:prstGeom>
          <a:solidFill>
            <a:srgbClr val="FBBF24">
              <a:alpha val="20000"/>
            </a:srgbClr>
          </a:solidFill>
          <a:ln w="9525">
            <a:solidFill>
              <a:srgbClr val="FBBF24">
                <a:alpha val="60000"/>
              </a:srgbClr>
            </a:solidFill>
            <a:prstDash val="solid"/>
          </a:ln>
        </p:spPr>
      </p:sp>
      <p:sp>
        <p:nvSpPr>
          <p:cNvPr id="3" name="Text 1"/>
          <p:cNvSpPr txBox="1"/>
          <p:nvPr/>
        </p:nvSpPr>
        <p:spPr>
          <a:xfrm>
            <a:off x="640080" y="411480"/>
            <a:ext cx="2414016" cy="347472"/>
          </a:xfrm>
          <a:prstGeom prst="rect">
            <a:avLst/>
          </a:prstGeom>
          <a:noFill/>
          <a:ln/>
        </p:spPr>
        <p:txBody>
          <a:bodyPr wrap="square" lIns="0" tIns="0" rIns="0" bIns="0" rtlCol="0" anchor="ctr"/>
          <a:lstStyle/>
          <a:p>
            <a:pPr algn="ctr" indent="0" marL="0">
              <a:buNone/>
            </a:pPr>
            <a:r>
              <a:rPr lang="en-US" sz="1200" b="1" spc="200" kern="0" dirty="0">
                <a:solidFill>
                  <a:srgbClr val="FBBF24"/>
                </a:solidFill>
              </a:rPr>
              <a:t>05 · QUICK SETUP</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명령어 한 줄이면, 프로젝트 세팅이 끝난다</a:t>
            </a:r>
            <a:endParaRPr lang="en-US" sz="3800" dirty="0"/>
          </a:p>
        </p:txBody>
      </p:sp>
      <p:sp>
        <p:nvSpPr>
          <p:cNvPr id="5" name="terminal"/>
          <p:cNvSpPr/>
          <p:nvPr/>
        </p:nvSpPr>
        <p:spPr>
          <a:xfrm>
            <a:off x="640080" y="2194560"/>
            <a:ext cx="5577840" cy="3200400"/>
          </a:xfrm>
          <a:prstGeom prst="roundRect">
            <a:avLst>
              <a:gd name="adj" fmla="val 4571"/>
            </a:avLst>
          </a:prstGeom>
          <a:solidFill>
            <a:srgbClr val="0A0E1C"/>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dot"/>
          <p:cNvSpPr/>
          <p:nvPr/>
        </p:nvSpPr>
        <p:spPr>
          <a:xfrm>
            <a:off x="868680" y="2377440"/>
            <a:ext cx="146304" cy="146304"/>
          </a:xfrm>
          <a:prstGeom prst="ellipse">
            <a:avLst/>
          </a:prstGeom>
          <a:solidFill>
            <a:srgbClr val="F87171"/>
          </a:solidFill>
          <a:ln w="12700">
            <a:solidFill>
              <a:srgbClr val="F87171"/>
            </a:solidFill>
            <a:prstDash val="solid"/>
          </a:ln>
        </p:spPr>
      </p:sp>
      <p:sp>
        <p:nvSpPr>
          <p:cNvPr id="7" name="dot"/>
          <p:cNvSpPr/>
          <p:nvPr/>
        </p:nvSpPr>
        <p:spPr>
          <a:xfrm>
            <a:off x="1143000" y="2377440"/>
            <a:ext cx="146304" cy="146304"/>
          </a:xfrm>
          <a:prstGeom prst="ellipse">
            <a:avLst/>
          </a:prstGeom>
          <a:solidFill>
            <a:srgbClr val="FBBF24"/>
          </a:solidFill>
          <a:ln w="12700">
            <a:solidFill>
              <a:srgbClr val="FBBF24"/>
            </a:solidFill>
            <a:prstDash val="solid"/>
          </a:ln>
        </p:spPr>
      </p:sp>
      <p:sp>
        <p:nvSpPr>
          <p:cNvPr id="8" name="dot"/>
          <p:cNvSpPr/>
          <p:nvPr/>
        </p:nvSpPr>
        <p:spPr>
          <a:xfrm>
            <a:off x="1417320" y="2377440"/>
            <a:ext cx="146304" cy="146304"/>
          </a:xfrm>
          <a:prstGeom prst="ellipse">
            <a:avLst/>
          </a:prstGeom>
          <a:solidFill>
            <a:srgbClr val="34D399"/>
          </a:solidFill>
          <a:ln w="12700">
            <a:solidFill>
              <a:srgbClr val="34D399"/>
            </a:solidFill>
            <a:prstDash val="solid"/>
          </a:ln>
        </p:spPr>
      </p:sp>
      <p:sp>
        <p:nvSpPr>
          <p:cNvPr id="9" name="Text 7"/>
          <p:cNvSpPr txBox="1"/>
          <p:nvPr/>
        </p:nvSpPr>
        <p:spPr>
          <a:xfrm>
            <a:off x="914400" y="2743200"/>
            <a:ext cx="5120640" cy="2560320"/>
          </a:xfrm>
          <a:prstGeom prst="rect">
            <a:avLst/>
          </a:prstGeom>
          <a:noFill/>
          <a:ln/>
        </p:spPr>
        <p:txBody>
          <a:bodyPr wrap="square" lIns="0" tIns="0" rIns="0" bIns="0" rtlCol="0" anchor="t"/>
          <a:lstStyle/>
          <a:p>
            <a:pPr indent="0" marL="0">
              <a:spcAft>
                <a:spcPts val="300"/>
              </a:spcAft>
              <a:buNone/>
            </a:pPr>
            <a:r>
              <a:rPr lang="en-US" sz="1300" b="1" dirty="0">
                <a:solidFill>
                  <a:srgbClr val="34D399"/>
                </a:solidFill>
                <a:latin typeface="Courier New" pitchFamily="34" charset="0"/>
                <a:ea typeface="Courier New" pitchFamily="34" charset="-122"/>
                <a:cs typeface="Courier New" pitchFamily="34" charset="-120"/>
              </a:rPr>
              <a:t>$ </a:t>
            </a:r>
            <a:pPr indent="0" marL="0">
              <a:spcAft>
                <a:spcPts val="300"/>
              </a:spcAft>
              <a:buNone/>
            </a:pPr>
            <a:r>
              <a:rPr lang="en-US" sz="1300" b="1" dirty="0">
                <a:solidFill>
                  <a:srgbClr val="F4F6FB"/>
                </a:solidFill>
                <a:latin typeface="Courier New" pitchFamily="34" charset="0"/>
                <a:ea typeface="Courier New" pitchFamily="34" charset="-122"/>
                <a:cs typeface="Courier New" pitchFamily="34" charset="-120"/>
              </a:rPr>
              <a:t>npx create-meerkit my-app</a:t>
            </a:r>
            <a:endParaRPr lang="en-US" sz="1300" dirty="0"/>
          </a:p>
          <a:p>
            <a:pPr indent="0" marL="0">
              <a:spcAft>
                <a:spcPts val="300"/>
              </a:spcAft>
              <a:buNone/>
            </a:pPr>
            <a:r>
              <a:rPr lang="en-US" sz="1300" dirty="0">
                <a:solidFill>
                  <a:srgbClr val="9AA5C0"/>
                </a:solidFill>
                <a:latin typeface="Courier New" pitchFamily="34" charset="0"/>
                <a:ea typeface="Courier New" pitchFamily="34" charset="-122"/>
                <a:cs typeface="Courier New" pitchFamily="34" charset="-120"/>
              </a:rPr>
              <a:t>  ✔ 프로젝트 구조 생성</a:t>
            </a:r>
            <a:endParaRPr lang="en-US" sz="1300" dirty="0"/>
          </a:p>
          <a:p>
            <a:pPr indent="0" marL="0">
              <a:spcAft>
                <a:spcPts val="300"/>
              </a:spcAft>
              <a:buNone/>
            </a:pPr>
            <a:r>
              <a:rPr lang="en-US" sz="1300" dirty="0">
                <a:solidFill>
                  <a:srgbClr val="000000"/>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b="1" dirty="0">
                <a:solidFill>
                  <a:srgbClr val="34D399"/>
                </a:solidFill>
                <a:latin typeface="Courier New" pitchFamily="34" charset="0"/>
                <a:ea typeface="Courier New" pitchFamily="34" charset="-122"/>
                <a:cs typeface="Courier New" pitchFamily="34" charset="-120"/>
              </a:rPr>
              <a:t>$ </a:t>
            </a:r>
            <a:pPr indent="0" marL="0">
              <a:spcAft>
                <a:spcPts val="300"/>
              </a:spcAft>
              <a:buNone/>
            </a:pPr>
            <a:r>
              <a:rPr lang="en-US" sz="1300" b="1" dirty="0">
                <a:solidFill>
                  <a:srgbClr val="F4F6FB"/>
                </a:solidFill>
                <a:latin typeface="Courier New" pitchFamily="34" charset="0"/>
                <a:ea typeface="Courier New" pitchFamily="34" charset="-122"/>
                <a:cs typeface="Courier New" pitchFamily="34" charset="-120"/>
              </a:rPr>
              <a:t>cd my-app &amp;&amp; npx meerkit setup</a:t>
            </a:r>
            <a:endParaRPr lang="en-US" sz="1300" dirty="0"/>
          </a:p>
          <a:p>
            <a:pPr indent="0" marL="0">
              <a:spcAft>
                <a:spcPts val="300"/>
              </a:spcAft>
              <a:buNone/>
            </a:pPr>
            <a:r>
              <a:rPr lang="en-US" sz="1300" dirty="0">
                <a:solidFill>
                  <a:srgbClr val="9AA5C0"/>
                </a:solidFill>
                <a:latin typeface="Courier New" pitchFamily="34" charset="0"/>
                <a:ea typeface="Courier New" pitchFamily="34" charset="-122"/>
                <a:cs typeface="Courier New" pitchFamily="34" charset="-120"/>
              </a:rPr>
              <a:t>  ✔ Node · Python · Docker 확인</a:t>
            </a:r>
            <a:endParaRPr lang="en-US" sz="1300" dirty="0"/>
          </a:p>
          <a:p>
            <a:pPr indent="0" marL="0">
              <a:spcAft>
                <a:spcPts val="300"/>
              </a:spcAft>
              <a:buNone/>
            </a:pPr>
            <a:r>
              <a:rPr lang="en-US" sz="1300" dirty="0">
                <a:solidFill>
                  <a:srgbClr val="9AA5C0"/>
                </a:solidFill>
                <a:latin typeface="Courier New" pitchFamily="34" charset="0"/>
                <a:ea typeface="Courier New" pitchFamily="34" charset="-122"/>
                <a:cs typeface="Courier New" pitchFamily="34" charset="-120"/>
              </a:rPr>
              <a:t>  ✔ 의존성 설치</a:t>
            </a:r>
            <a:endParaRPr lang="en-US" sz="1300" dirty="0"/>
          </a:p>
          <a:p>
            <a:pPr indent="0" marL="0">
              <a:spcAft>
                <a:spcPts val="300"/>
              </a:spcAft>
              <a:buNone/>
            </a:pPr>
            <a:r>
              <a:rPr lang="en-US" sz="1300" dirty="0">
                <a:solidFill>
                  <a:srgbClr val="9AA5C0"/>
                </a:solidFill>
                <a:latin typeface="Courier New" pitchFamily="34" charset="0"/>
                <a:ea typeface="Courier New" pitchFamily="34" charset="-122"/>
                <a:cs typeface="Courier New" pitchFamily="34" charset="-120"/>
              </a:rPr>
              <a:t>  ✔ 환경 변수 · 비밀키 생성</a:t>
            </a:r>
            <a:endParaRPr lang="en-US" sz="1300" dirty="0"/>
          </a:p>
          <a:p>
            <a:pPr indent="0" marL="0">
              <a:spcAft>
                <a:spcPts val="300"/>
              </a:spcAft>
              <a:buNone/>
            </a:pPr>
            <a:r>
              <a:rPr lang="en-US" sz="1300" dirty="0">
                <a:solidFill>
                  <a:srgbClr val="9AA5C0"/>
                </a:solidFill>
                <a:latin typeface="Courier New" pitchFamily="34" charset="0"/>
                <a:ea typeface="Courier New" pitchFamily="34" charset="-122"/>
                <a:cs typeface="Courier New" pitchFamily="34" charset="-120"/>
              </a:rPr>
              <a:t>  ✔ DB 실행 · 마이그레이션 · 관리자</a:t>
            </a:r>
            <a:endParaRPr lang="en-US" sz="1300" dirty="0"/>
          </a:p>
          <a:p>
            <a:pPr indent="0" marL="0">
              <a:spcAft>
                <a:spcPts val="300"/>
              </a:spcAft>
              <a:buNone/>
            </a:pPr>
            <a:r>
              <a:rPr lang="en-US" sz="1300" dirty="0">
                <a:solidFill>
                  <a:srgbClr val="9AA5C0"/>
                </a:solidFill>
                <a:latin typeface="Courier New" pitchFamily="34" charset="0"/>
                <a:ea typeface="Courier New" pitchFamily="34" charset="-122"/>
                <a:cs typeface="Courier New" pitchFamily="34" charset="-120"/>
              </a:rPr>
              <a:t>  ✔ 서버 시작</a:t>
            </a:r>
            <a:endParaRPr lang="en-US" sz="1300" dirty="0"/>
          </a:p>
          <a:p>
            <a:pPr indent="0" marL="0">
              <a:spcAft>
                <a:spcPts val="300"/>
              </a:spcAft>
              <a:buNone/>
            </a:pPr>
            <a:r>
              <a:rPr lang="en-US" sz="1300" dirty="0">
                <a:solidFill>
                  <a:srgbClr val="000000"/>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b="1" dirty="0">
                <a:solidFill>
                  <a:srgbClr val="2DD4BF"/>
                </a:solidFill>
                <a:latin typeface="Courier New" pitchFamily="34" charset="0"/>
                <a:ea typeface="Courier New" pitchFamily="34" charset="-122"/>
                <a:cs typeface="Courier New" pitchFamily="34" charset="-120"/>
              </a:rPr>
              <a:t>  → http://localhost:3000</a:t>
            </a:r>
            <a:endParaRPr lang="en-US" sz="1300" dirty="0"/>
          </a:p>
        </p:txBody>
      </p:sp>
      <p:sp>
        <p:nvSpPr>
          <p:cNvPr id="10" name="card"/>
          <p:cNvSpPr/>
          <p:nvPr/>
        </p:nvSpPr>
        <p:spPr>
          <a:xfrm>
            <a:off x="6492240" y="2194560"/>
            <a:ext cx="5056632" cy="3200400"/>
          </a:xfrm>
          <a:prstGeom prst="roundRect">
            <a:avLst>
              <a:gd name="adj" fmla="val 4571"/>
            </a:avLst>
          </a:prstGeom>
          <a:solidFill>
            <a:srgbClr val="1A2340"/>
          </a:solidFill>
          <a:ln w="9525">
            <a:solidFill>
              <a:srgbClr val="2A3556"/>
            </a:solidFill>
            <a:prstDash val="solid"/>
          </a:ln>
          <a:effectLst>
            <a:outerShdw sx="100000" sy="100000" kx="0" ky="0" algn="bl" rotWithShape="0" blurRad="152400" dist="38100" dir="5400000">
              <a:srgbClr val="000000">
                <a:alpha val="35000"/>
              </a:srgbClr>
            </a:outerShdw>
          </a:effectLst>
        </p:spPr>
      </p:sp>
      <p:pic>
        <p:nvPicPr>
          <p:cNvPr id="11" name="Image 0" descr="세팅 직후 웰컴 페이지">    </p:cNvPr>
          <p:cNvPicPr>
            <a:picLocks noChangeAspect="1"/>
          </p:cNvPicPr>
          <p:nvPr/>
        </p:nvPicPr>
        <p:blipFill>
          <a:blip r:embed="rId1"/>
          <a:stretch>
            <a:fillRect/>
          </a:stretch>
        </p:blipFill>
        <p:spPr>
          <a:xfrm>
            <a:off x="6565392" y="2267712"/>
            <a:ext cx="4910328" cy="3068726"/>
          </a:xfrm>
          <a:prstGeom prst="rect">
            <a:avLst/>
          </a:prstGeom>
        </p:spPr>
      </p:pic>
      <p:sp>
        <p:nvSpPr>
          <p:cNvPr id="12" name="Text 9"/>
          <p:cNvSpPr txBox="1"/>
          <p:nvPr/>
        </p:nvSpPr>
        <p:spPr>
          <a:xfrm>
            <a:off x="6492240" y="5468112"/>
            <a:ext cx="5056632" cy="274320"/>
          </a:xfrm>
          <a:prstGeom prst="rect">
            <a:avLst/>
          </a:prstGeom>
          <a:noFill/>
          <a:ln/>
        </p:spPr>
        <p:txBody>
          <a:bodyPr wrap="square" lIns="0" tIns="0" rIns="0" bIns="0" rtlCol="0" anchor="t"/>
          <a:lstStyle/>
          <a:p>
            <a:pPr algn="ctr" indent="0" marL="0">
              <a:buNone/>
            </a:pPr>
            <a:r>
              <a:rPr lang="en-US" sz="1200" dirty="0">
                <a:solidFill>
                  <a:srgbClr val="9AA5C0"/>
                </a:solidFill>
              </a:rPr>
              <a:t>세팅이 끝나면 만나는 웰컴 페이지</a:t>
            </a:r>
            <a:endParaRPr lang="en-US" sz="1200" dirty="0"/>
          </a:p>
        </p:txBody>
      </p:sp>
      <p:sp>
        <p:nvSpPr>
          <p:cNvPr id="13" name="chip"/>
          <p:cNvSpPr/>
          <p:nvPr/>
        </p:nvSpPr>
        <p:spPr>
          <a:xfrm>
            <a:off x="640080" y="5760720"/>
            <a:ext cx="3474720" cy="457200"/>
          </a:xfrm>
          <a:prstGeom prst="roundRect">
            <a:avLst>
              <a:gd name="adj" fmla="val 50000"/>
            </a:avLst>
          </a:prstGeom>
          <a:solidFill>
            <a:srgbClr val="1A2340"/>
          </a:solidFill>
          <a:ln w="9525">
            <a:solidFill>
              <a:srgbClr val="2A3556"/>
            </a:solidFill>
            <a:prstDash val="solid"/>
          </a:ln>
        </p:spPr>
      </p:sp>
      <p:sp>
        <p:nvSpPr>
          <p:cNvPr id="14" name="Text 11"/>
          <p:cNvSpPr txBox="1"/>
          <p:nvPr/>
        </p:nvSpPr>
        <p:spPr>
          <a:xfrm>
            <a:off x="640080" y="5760720"/>
            <a:ext cx="3474720" cy="457200"/>
          </a:xfrm>
          <a:prstGeom prst="rect">
            <a:avLst/>
          </a:prstGeom>
          <a:noFill/>
          <a:ln/>
        </p:spPr>
        <p:txBody>
          <a:bodyPr wrap="square" lIns="0" tIns="0" rIns="0" bIns="0" rtlCol="0" anchor="ctr"/>
          <a:lstStyle/>
          <a:p>
            <a:pPr algn="ctr" indent="0" marL="0">
              <a:buNone/>
            </a:pPr>
            <a:r>
              <a:rPr lang="en-US" sz="1300" b="1" dirty="0">
                <a:solidFill>
                  <a:srgbClr val="F4F6FB"/>
                </a:solidFill>
              </a:rPr>
              <a:t>명령어 두 줄이면 끝</a:t>
            </a:r>
            <a:endParaRPr lang="en-US" sz="1300" dirty="0"/>
          </a:p>
        </p:txBody>
      </p:sp>
      <p:sp>
        <p:nvSpPr>
          <p:cNvPr id="15" name="chip"/>
          <p:cNvSpPr/>
          <p:nvPr/>
        </p:nvSpPr>
        <p:spPr>
          <a:xfrm>
            <a:off x="4361688" y="5760720"/>
            <a:ext cx="3474720" cy="457200"/>
          </a:xfrm>
          <a:prstGeom prst="roundRect">
            <a:avLst>
              <a:gd name="adj" fmla="val 50000"/>
            </a:avLst>
          </a:prstGeom>
          <a:solidFill>
            <a:srgbClr val="1A2340"/>
          </a:solidFill>
          <a:ln w="9525">
            <a:solidFill>
              <a:srgbClr val="2A3556"/>
            </a:solidFill>
            <a:prstDash val="solid"/>
          </a:ln>
        </p:spPr>
      </p:sp>
      <p:sp>
        <p:nvSpPr>
          <p:cNvPr id="16" name="Text 13"/>
          <p:cNvSpPr txBox="1"/>
          <p:nvPr/>
        </p:nvSpPr>
        <p:spPr>
          <a:xfrm>
            <a:off x="4361688" y="5760720"/>
            <a:ext cx="3474720" cy="457200"/>
          </a:xfrm>
          <a:prstGeom prst="rect">
            <a:avLst/>
          </a:prstGeom>
          <a:noFill/>
          <a:ln/>
        </p:spPr>
        <p:txBody>
          <a:bodyPr wrap="square" lIns="0" tIns="0" rIns="0" bIns="0" rtlCol="0" anchor="ctr"/>
          <a:lstStyle/>
          <a:p>
            <a:pPr algn="ctr" indent="0" marL="0">
              <a:buNone/>
            </a:pPr>
            <a:r>
              <a:rPr lang="en-US" sz="1300" b="1" dirty="0">
                <a:solidFill>
                  <a:srgbClr val="F4F6FB"/>
                </a:solidFill>
              </a:rPr>
              <a:t>다시 실행해도 안전</a:t>
            </a:r>
            <a:endParaRPr lang="en-US" sz="1300" dirty="0"/>
          </a:p>
        </p:txBody>
      </p:sp>
      <p:sp>
        <p:nvSpPr>
          <p:cNvPr id="17" name="chip"/>
          <p:cNvSpPr/>
          <p:nvPr/>
        </p:nvSpPr>
        <p:spPr>
          <a:xfrm>
            <a:off x="8083296" y="5760720"/>
            <a:ext cx="3474720" cy="457200"/>
          </a:xfrm>
          <a:prstGeom prst="roundRect">
            <a:avLst>
              <a:gd name="adj" fmla="val 50000"/>
            </a:avLst>
          </a:prstGeom>
          <a:solidFill>
            <a:srgbClr val="1A2340"/>
          </a:solidFill>
          <a:ln w="9525">
            <a:solidFill>
              <a:srgbClr val="2A3556"/>
            </a:solidFill>
            <a:prstDash val="solid"/>
          </a:ln>
        </p:spPr>
      </p:sp>
      <p:sp>
        <p:nvSpPr>
          <p:cNvPr id="18" name="Text 15"/>
          <p:cNvSpPr txBox="1"/>
          <p:nvPr/>
        </p:nvSpPr>
        <p:spPr>
          <a:xfrm>
            <a:off x="8083296" y="5760720"/>
            <a:ext cx="3474720" cy="457200"/>
          </a:xfrm>
          <a:prstGeom prst="rect">
            <a:avLst/>
          </a:prstGeom>
          <a:noFill/>
          <a:ln/>
        </p:spPr>
        <p:txBody>
          <a:bodyPr wrap="square" lIns="0" tIns="0" rIns="0" bIns="0" rtlCol="0" anchor="ctr"/>
          <a:lstStyle/>
          <a:p>
            <a:pPr algn="ctr" indent="0" marL="0">
              <a:buNone/>
            </a:pPr>
            <a:r>
              <a:rPr lang="en-US" sz="1300" b="1" dirty="0">
                <a:solidFill>
                  <a:srgbClr val="F4F6FB"/>
                </a:solidFill>
              </a:rPr>
              <a:t>단계마다 진행 상황이 한 줄로 보인다</a:t>
            </a:r>
            <a:endParaRPr lang="en-US" sz="1300" dirty="0"/>
          </a:p>
        </p:txBody>
      </p:sp>
      <p:sp>
        <p:nvSpPr>
          <p:cNvPr id="19" name="status"/>
          <p:cNvSpPr/>
          <p:nvPr/>
        </p:nvSpPr>
        <p:spPr>
          <a:xfrm>
            <a:off x="9509760" y="457200"/>
            <a:ext cx="2039112" cy="384048"/>
          </a:xfrm>
          <a:prstGeom prst="roundRect">
            <a:avLst>
              <a:gd name="adj" fmla="val 50000"/>
            </a:avLst>
          </a:prstGeom>
          <a:solidFill>
            <a:srgbClr val="FBBF24">
              <a:alpha val="20000"/>
            </a:srgbClr>
          </a:solidFill>
          <a:ln w="9525">
            <a:solidFill>
              <a:srgbClr val="FBBF24"/>
            </a:solidFill>
            <a:prstDash val="solid"/>
          </a:ln>
        </p:spPr>
      </p:sp>
      <p:sp>
        <p:nvSpPr>
          <p:cNvPr id="20" name="Text 17"/>
          <p:cNvSpPr txBox="1"/>
          <p:nvPr/>
        </p:nvSpPr>
        <p:spPr>
          <a:xfrm>
            <a:off x="9509760" y="457200"/>
            <a:ext cx="2039112" cy="384048"/>
          </a:xfrm>
          <a:prstGeom prst="rect">
            <a:avLst/>
          </a:prstGeom>
          <a:noFill/>
          <a:ln/>
        </p:spPr>
        <p:txBody>
          <a:bodyPr wrap="square" lIns="0" tIns="0" rIns="0" bIns="0" rtlCol="0" anchor="ctr"/>
          <a:lstStyle/>
          <a:p>
            <a:pPr algn="ctr" indent="0" marL="0">
              <a:buNone/>
            </a:pPr>
            <a:r>
              <a:rPr lang="en-US" sz="1200" b="1" dirty="0">
                <a:solidFill>
                  <a:srgbClr val="FBBF24"/>
                </a:solidFill>
              </a:rPr>
              <a:t>2차 목표</a:t>
            </a:r>
            <a:endParaRPr lang="en-US" sz="12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cNvSpPr/>
          <p:nvPr/>
        </p:nvSpPr>
        <p:spPr>
          <a:xfrm>
            <a:off x="640080" y="411480"/>
            <a:ext cx="1773936" cy="347472"/>
          </a:xfrm>
          <a:prstGeom prst="roundRect">
            <a:avLst>
              <a:gd name="adj" fmla="val 50000"/>
            </a:avLst>
          </a:prstGeom>
          <a:solidFill>
            <a:srgbClr val="FBBF24">
              <a:alpha val="20000"/>
            </a:srgbClr>
          </a:solidFill>
          <a:ln w="9525">
            <a:solidFill>
              <a:srgbClr val="FBBF24">
                <a:alpha val="60000"/>
              </a:srgbClr>
            </a:solidFill>
            <a:prstDash val="solid"/>
          </a:ln>
        </p:spPr>
      </p:sp>
      <p:sp>
        <p:nvSpPr>
          <p:cNvPr id="3" name="Text 1"/>
          <p:cNvSpPr txBox="1"/>
          <p:nvPr/>
        </p:nvSpPr>
        <p:spPr>
          <a:xfrm>
            <a:off x="640080" y="411480"/>
            <a:ext cx="1773936" cy="347472"/>
          </a:xfrm>
          <a:prstGeom prst="rect">
            <a:avLst/>
          </a:prstGeom>
          <a:noFill/>
          <a:ln/>
        </p:spPr>
        <p:txBody>
          <a:bodyPr wrap="square" lIns="0" tIns="0" rIns="0" bIns="0" rtlCol="0" anchor="ctr"/>
          <a:lstStyle/>
          <a:p>
            <a:pPr algn="ctr" indent="0" marL="0">
              <a:buNone/>
            </a:pPr>
            <a:r>
              <a:rPr lang="en-US" sz="1200" b="1" spc="200" kern="0" dirty="0">
                <a:solidFill>
                  <a:srgbClr val="FBBF24"/>
                </a:solidFill>
              </a:rPr>
              <a:t>05 · CONFIG</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그다음은 설정 한 곳에서 관리한다</a:t>
            </a:r>
            <a:endParaRPr lang="en-US" sz="3800" dirty="0"/>
          </a:p>
        </p:txBody>
      </p:sp>
      <p:sp>
        <p:nvSpPr>
          <p:cNvPr id="5" name="code"/>
          <p:cNvSpPr/>
          <p:nvPr/>
        </p:nvSpPr>
        <p:spPr>
          <a:xfrm>
            <a:off x="640080" y="2194560"/>
            <a:ext cx="6766560" cy="3931920"/>
          </a:xfrm>
          <a:prstGeom prst="roundRect">
            <a:avLst>
              <a:gd name="adj" fmla="val 3721"/>
            </a:avLst>
          </a:prstGeom>
          <a:solidFill>
            <a:srgbClr val="0A0E1C"/>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914400" y="2377440"/>
            <a:ext cx="4572000" cy="320040"/>
          </a:xfrm>
          <a:prstGeom prst="rect">
            <a:avLst/>
          </a:prstGeom>
          <a:noFill/>
          <a:ln/>
        </p:spPr>
        <p:txBody>
          <a:bodyPr wrap="square" lIns="0" tIns="0" rIns="0" bIns="0" rtlCol="0" anchor="t"/>
          <a:lstStyle/>
          <a:p>
            <a:pPr indent="0" marL="0">
              <a:buNone/>
            </a:pPr>
            <a:r>
              <a:rPr lang="en-US" sz="1200" dirty="0">
                <a:solidFill>
                  <a:srgbClr val="9AA5C0"/>
                </a:solidFill>
              </a:rPr>
              <a:t>설정 파일</a:t>
            </a:r>
            <a:endParaRPr lang="en-US" sz="1200" dirty="0"/>
          </a:p>
        </p:txBody>
      </p:sp>
      <p:sp>
        <p:nvSpPr>
          <p:cNvPr id="7" name="Text 5"/>
          <p:cNvSpPr txBox="1"/>
          <p:nvPr/>
        </p:nvSpPr>
        <p:spPr>
          <a:xfrm>
            <a:off x="914400" y="2834640"/>
            <a:ext cx="6400800" cy="3108960"/>
          </a:xfrm>
          <a:prstGeom prst="rect">
            <a:avLst/>
          </a:prstGeom>
          <a:noFill/>
          <a:ln/>
        </p:spPr>
        <p:txBody>
          <a:bodyPr wrap="square" lIns="0" tIns="0" rIns="0" bIns="0" rtlCol="0" anchor="t"/>
          <a:lstStyle/>
          <a:p>
            <a:pPr indent="0" marL="0">
              <a:spcAft>
                <a:spcPts val="300"/>
              </a:spcAft>
              <a:buNone/>
            </a:pPr>
            <a:r>
              <a:rPr lang="en-US" sz="1400" dirty="0">
                <a:solidFill>
                  <a:srgbClr val="F4F6FB"/>
                </a:solidFill>
                <a:latin typeface="Courier New" pitchFamily="34" charset="0"/>
                <a:ea typeface="Courier New" pitchFamily="34" charset="-122"/>
                <a:cs typeface="Courier New" pitchFamily="34" charset="-120"/>
              </a:rPr>
              <a:t>export default defineMeerkitConfig({</a:t>
            </a:r>
            <a:endParaRPr lang="en-US" sz="1400" dirty="0"/>
          </a:p>
          <a:p>
            <a:pPr indent="0" marL="0">
              <a:spcAft>
                <a:spcPts val="300"/>
              </a:spcAft>
              <a:buNone/>
            </a:pPr>
            <a:r>
              <a:rPr lang="en-US" sz="1400" dirty="0">
                <a:solidFill>
                  <a:srgbClr val="F4F6FB"/>
                </a:solidFill>
                <a:latin typeface="Courier New" pitchFamily="34" charset="0"/>
                <a:ea typeface="Courier New" pitchFamily="34" charset="-122"/>
                <a:cs typeface="Courier New" pitchFamily="34" charset="-120"/>
              </a:rPr>
              <a:t>  signup: {</a:t>
            </a:r>
            <a:endParaRPr lang="en-US" sz="1400" dirty="0"/>
          </a:p>
          <a:p>
            <a:pPr indent="0" marL="0">
              <a:spcAft>
                <a:spcPts val="300"/>
              </a:spcAft>
              <a:buNone/>
            </a:pPr>
            <a:r>
              <a:rPr lang="en-US" sz="1400" dirty="0">
                <a:solidFill>
                  <a:srgbClr val="2DD4BF"/>
                </a:solidFill>
                <a:latin typeface="Courier New" pitchFamily="34" charset="0"/>
                <a:ea typeface="Courier New" pitchFamily="34" charset="-122"/>
                <a:cs typeface="Courier New" pitchFamily="34" charset="-120"/>
              </a:rPr>
              <a:t>    optionalFields: ["nickname", "address"],</a:t>
            </a:r>
            <a:endParaRPr lang="en-US" sz="1400" dirty="0"/>
          </a:p>
          <a:p>
            <a:pPr indent="0" marL="0">
              <a:spcAft>
                <a:spcPts val="300"/>
              </a:spcAft>
              <a:buNone/>
            </a:pPr>
            <a:r>
              <a:rPr lang="en-US" sz="1400" dirty="0">
                <a:solidFill>
                  <a:srgbClr val="2DD4BF"/>
                </a:solidFill>
                <a:latin typeface="Courier New" pitchFamily="34" charset="0"/>
                <a:ea typeface="Courier New" pitchFamily="34" charset="-122"/>
                <a:cs typeface="Courier New" pitchFamily="34" charset="-120"/>
              </a:rPr>
              <a:t>    emailVerification: true,</a:t>
            </a:r>
            <a:endParaRPr lang="en-US" sz="1400" dirty="0"/>
          </a:p>
          <a:p>
            <a:pPr indent="0" marL="0">
              <a:spcAft>
                <a:spcPts val="300"/>
              </a:spcAft>
              <a:buNone/>
            </a:pPr>
            <a:r>
              <a:rPr lang="en-US" sz="1400" dirty="0">
                <a:solidFill>
                  <a:srgbClr val="F4F6FB"/>
                </a:solidFill>
                <a:latin typeface="Courier New" pitchFamily="34" charset="0"/>
                <a:ea typeface="Courier New" pitchFamily="34" charset="-122"/>
                <a:cs typeface="Courier New" pitchFamily="34" charset="-120"/>
              </a:rPr>
              <a:t>  },</a:t>
            </a:r>
            <a:endParaRPr lang="en-US" sz="1400" dirty="0"/>
          </a:p>
          <a:p>
            <a:pPr indent="0" marL="0">
              <a:spcAft>
                <a:spcPts val="300"/>
              </a:spcAft>
              <a:buNone/>
            </a:pPr>
            <a:r>
              <a:rPr lang="en-US" sz="1400" dirty="0">
                <a:solidFill>
                  <a:srgbClr val="F472B6"/>
                </a:solidFill>
                <a:latin typeface="Courier New" pitchFamily="34" charset="0"/>
                <a:ea typeface="Courier New" pitchFamily="34" charset="-122"/>
                <a:cs typeface="Courier New" pitchFamily="34" charset="-120"/>
              </a:rPr>
              <a:t>  login: { maxAttempts: 5, lockMinutes: 5 },</a:t>
            </a:r>
            <a:endParaRPr lang="en-US" sz="1400" dirty="0"/>
          </a:p>
          <a:p>
            <a:pPr indent="0" marL="0">
              <a:spcAft>
                <a:spcPts val="300"/>
              </a:spcAft>
              <a:buNone/>
            </a:pPr>
            <a:r>
              <a:rPr lang="en-US" sz="1400" dirty="0">
                <a:solidFill>
                  <a:srgbClr val="8B5CF6"/>
                </a:solidFill>
                <a:latin typeface="Courier New" pitchFamily="34" charset="0"/>
                <a:ea typeface="Courier New" pitchFamily="34" charset="-122"/>
                <a:cs typeface="Courier New" pitchFamily="34" charset="-120"/>
              </a:rPr>
              <a:t>  loading: { variant: "ring" },</a:t>
            </a:r>
            <a:endParaRPr lang="en-US" sz="1400" dirty="0"/>
          </a:p>
          <a:p>
            <a:pPr indent="0" marL="0">
              <a:spcAft>
                <a:spcPts val="300"/>
              </a:spcAft>
              <a:buNone/>
            </a:pPr>
            <a:r>
              <a:rPr lang="en-US" sz="1400" dirty="0">
                <a:solidFill>
                  <a:srgbClr val="FBBF24"/>
                </a:solidFill>
                <a:latin typeface="Courier New" pitchFamily="34" charset="0"/>
                <a:ea typeface="Courier New" pitchFamily="34" charset="-122"/>
                <a:cs typeface="Courier New" pitchFamily="34" charset="-120"/>
              </a:rPr>
              <a:t>  theme: "meerkit", motion: true,</a:t>
            </a:r>
            <a:endParaRPr lang="en-US" sz="1400" dirty="0"/>
          </a:p>
          <a:p>
            <a:pPr indent="0" marL="0">
              <a:spcAft>
                <a:spcPts val="300"/>
              </a:spcAft>
              <a:buNone/>
            </a:pPr>
            <a:r>
              <a:rPr lang="en-US" sz="1400" dirty="0">
                <a:solidFill>
                  <a:srgbClr val="F4F6FB"/>
                </a:solidFill>
                <a:latin typeface="Courier New" pitchFamily="34" charset="0"/>
                <a:ea typeface="Courier New" pitchFamily="34" charset="-122"/>
                <a:cs typeface="Courier New" pitchFamily="34" charset="-120"/>
              </a:rPr>
              <a:t>});</a:t>
            </a:r>
            <a:endParaRPr lang="en-US" sz="1400" dirty="0"/>
          </a:p>
        </p:txBody>
      </p:sp>
      <p:sp>
        <p:nvSpPr>
          <p:cNvPr id="8" name="card"/>
          <p:cNvSpPr/>
          <p:nvPr/>
        </p:nvSpPr>
        <p:spPr>
          <a:xfrm>
            <a:off x="7680960" y="2194560"/>
            <a:ext cx="3867912"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9" name="dot"/>
          <p:cNvSpPr/>
          <p:nvPr/>
        </p:nvSpPr>
        <p:spPr>
          <a:xfrm>
            <a:off x="7909560" y="2496312"/>
            <a:ext cx="256032" cy="256032"/>
          </a:xfrm>
          <a:prstGeom prst="ellipse">
            <a:avLst/>
          </a:prstGeom>
          <a:solidFill>
            <a:srgbClr val="2DD4BF"/>
          </a:solidFill>
          <a:ln w="12700">
            <a:solidFill>
              <a:srgbClr val="2DD4BF"/>
            </a:solidFill>
            <a:prstDash val="solid"/>
          </a:ln>
        </p:spPr>
      </p:sp>
      <p:sp>
        <p:nvSpPr>
          <p:cNvPr id="10" name="Text 8"/>
          <p:cNvSpPr txBox="1"/>
          <p:nvPr/>
        </p:nvSpPr>
        <p:spPr>
          <a:xfrm>
            <a:off x="8366760" y="2194560"/>
            <a:ext cx="3063240" cy="868680"/>
          </a:xfrm>
          <a:prstGeom prst="rect">
            <a:avLst/>
          </a:prstGeom>
          <a:noFill/>
          <a:ln/>
        </p:spPr>
        <p:txBody>
          <a:bodyPr wrap="square" lIns="0" tIns="0" rIns="0" bIns="0" rtlCol="0" anchor="ctr"/>
          <a:lstStyle/>
          <a:p>
            <a:pPr indent="0" marL="0">
              <a:buNone/>
            </a:pPr>
            <a:r>
              <a:rPr lang="en-US" sz="1400" dirty="0">
                <a:solidFill>
                  <a:srgbClr val="F4F6FB"/>
                </a:solidFill>
              </a:rPr>
              <a:t>가입 폼에 닉네임 · 주소 · 이메일 인증이 생긴다</a:t>
            </a:r>
            <a:endParaRPr lang="en-US" sz="1400" dirty="0"/>
          </a:p>
        </p:txBody>
      </p:sp>
      <p:sp>
        <p:nvSpPr>
          <p:cNvPr id="11" name="card"/>
          <p:cNvSpPr/>
          <p:nvPr/>
        </p:nvSpPr>
        <p:spPr>
          <a:xfrm>
            <a:off x="7680960" y="3200400"/>
            <a:ext cx="3867912"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2" name="dot"/>
          <p:cNvSpPr/>
          <p:nvPr/>
        </p:nvSpPr>
        <p:spPr>
          <a:xfrm>
            <a:off x="7909560" y="3502152"/>
            <a:ext cx="256032" cy="256032"/>
          </a:xfrm>
          <a:prstGeom prst="ellipse">
            <a:avLst/>
          </a:prstGeom>
          <a:solidFill>
            <a:srgbClr val="F472B6"/>
          </a:solidFill>
          <a:ln w="12700">
            <a:solidFill>
              <a:srgbClr val="F472B6"/>
            </a:solidFill>
            <a:prstDash val="solid"/>
          </a:ln>
        </p:spPr>
      </p:sp>
      <p:sp>
        <p:nvSpPr>
          <p:cNvPr id="13" name="Text 11"/>
          <p:cNvSpPr txBox="1"/>
          <p:nvPr/>
        </p:nvSpPr>
        <p:spPr>
          <a:xfrm>
            <a:off x="8366760" y="3200400"/>
            <a:ext cx="3063240" cy="868680"/>
          </a:xfrm>
          <a:prstGeom prst="rect">
            <a:avLst/>
          </a:prstGeom>
          <a:noFill/>
          <a:ln/>
        </p:spPr>
        <p:txBody>
          <a:bodyPr wrap="square" lIns="0" tIns="0" rIns="0" bIns="0" rtlCol="0" anchor="ctr"/>
          <a:lstStyle/>
          <a:p>
            <a:pPr indent="0" marL="0">
              <a:buNone/>
            </a:pPr>
            <a:r>
              <a:rPr lang="en-US" sz="1400" dirty="0">
                <a:solidFill>
                  <a:srgbClr val="F4F6FB"/>
                </a:solidFill>
              </a:rPr>
              <a:t>5번 틀리면 5분 동안 로그인이 잠긴다</a:t>
            </a:r>
            <a:endParaRPr lang="en-US" sz="1400" dirty="0"/>
          </a:p>
        </p:txBody>
      </p:sp>
      <p:sp>
        <p:nvSpPr>
          <p:cNvPr id="14" name="card"/>
          <p:cNvSpPr/>
          <p:nvPr/>
        </p:nvSpPr>
        <p:spPr>
          <a:xfrm>
            <a:off x="7680960" y="4206240"/>
            <a:ext cx="3867912"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5" name="dot"/>
          <p:cNvSpPr/>
          <p:nvPr/>
        </p:nvSpPr>
        <p:spPr>
          <a:xfrm>
            <a:off x="7909560" y="4507992"/>
            <a:ext cx="256032" cy="256032"/>
          </a:xfrm>
          <a:prstGeom prst="ellipse">
            <a:avLst/>
          </a:prstGeom>
          <a:solidFill>
            <a:srgbClr val="8B5CF6"/>
          </a:solidFill>
          <a:ln w="12700">
            <a:solidFill>
              <a:srgbClr val="8B5CF6"/>
            </a:solidFill>
            <a:prstDash val="solid"/>
          </a:ln>
        </p:spPr>
      </p:sp>
      <p:sp>
        <p:nvSpPr>
          <p:cNvPr id="16" name="Text 14"/>
          <p:cNvSpPr txBox="1"/>
          <p:nvPr/>
        </p:nvSpPr>
        <p:spPr>
          <a:xfrm>
            <a:off x="8366760" y="4206240"/>
            <a:ext cx="3063240" cy="868680"/>
          </a:xfrm>
          <a:prstGeom prst="rect">
            <a:avLst/>
          </a:prstGeom>
          <a:noFill/>
          <a:ln/>
        </p:spPr>
        <p:txBody>
          <a:bodyPr wrap="square" lIns="0" tIns="0" rIns="0" bIns="0" rtlCol="0" anchor="ctr"/>
          <a:lstStyle/>
          <a:p>
            <a:pPr indent="0" marL="0">
              <a:buNone/>
            </a:pPr>
            <a:r>
              <a:rPr lang="en-US" sz="1400" dirty="0">
                <a:solidFill>
                  <a:srgbClr val="F4F6FB"/>
                </a:solidFill>
              </a:rPr>
              <a:t>서비스 전체의 로딩 모양이 바뀐다</a:t>
            </a:r>
            <a:endParaRPr lang="en-US" sz="1400" dirty="0"/>
          </a:p>
        </p:txBody>
      </p:sp>
      <p:sp>
        <p:nvSpPr>
          <p:cNvPr id="17" name="card"/>
          <p:cNvSpPr/>
          <p:nvPr/>
        </p:nvSpPr>
        <p:spPr>
          <a:xfrm>
            <a:off x="7680960" y="5212080"/>
            <a:ext cx="3867912"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8" name="dot"/>
          <p:cNvSpPr/>
          <p:nvPr/>
        </p:nvSpPr>
        <p:spPr>
          <a:xfrm>
            <a:off x="7909560" y="5513832"/>
            <a:ext cx="256032" cy="256032"/>
          </a:xfrm>
          <a:prstGeom prst="ellipse">
            <a:avLst/>
          </a:prstGeom>
          <a:solidFill>
            <a:srgbClr val="FBBF24"/>
          </a:solidFill>
          <a:ln w="12700">
            <a:solidFill>
              <a:srgbClr val="FBBF24"/>
            </a:solidFill>
            <a:prstDash val="solid"/>
          </a:ln>
        </p:spPr>
      </p:sp>
      <p:sp>
        <p:nvSpPr>
          <p:cNvPr id="19" name="Text 17"/>
          <p:cNvSpPr txBox="1"/>
          <p:nvPr/>
        </p:nvSpPr>
        <p:spPr>
          <a:xfrm>
            <a:off x="8366760" y="5212080"/>
            <a:ext cx="3063240" cy="868680"/>
          </a:xfrm>
          <a:prstGeom prst="rect">
            <a:avLst/>
          </a:prstGeom>
          <a:noFill/>
          <a:ln/>
        </p:spPr>
        <p:txBody>
          <a:bodyPr wrap="square" lIns="0" tIns="0" rIns="0" bIns="0" rtlCol="0" anchor="ctr"/>
          <a:lstStyle/>
          <a:p>
            <a:pPr indent="0" marL="0">
              <a:buNone/>
            </a:pPr>
            <a:r>
              <a:rPr lang="en-US" sz="1400" dirty="0">
                <a:solidFill>
                  <a:srgbClr val="F4F6FB"/>
                </a:solidFill>
              </a:rPr>
              <a:t>테마와 애니메이션을 한 줄로 설정한다</a:t>
            </a:r>
            <a:endParaRPr lang="en-US" sz="14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
          <p:cNvSpPr/>
          <p:nvPr/>
        </p:nvSpPr>
        <p:spPr>
          <a:xfrm>
            <a:off x="640080" y="411480"/>
            <a:ext cx="2157984" cy="347472"/>
          </a:xfrm>
          <a:prstGeom prst="roundRect">
            <a:avLst>
              <a:gd name="adj" fmla="val 50000"/>
            </a:avLst>
          </a:prstGeom>
          <a:solidFill>
            <a:srgbClr val="F472B6">
              <a:alpha val="20000"/>
            </a:srgbClr>
          </a:solidFill>
          <a:ln w="9525">
            <a:solidFill>
              <a:srgbClr val="F472B6">
                <a:alpha val="60000"/>
              </a:srgbClr>
            </a:solidFill>
            <a:prstDash val="solid"/>
          </a:ln>
        </p:spPr>
      </p:sp>
      <p:sp>
        <p:nvSpPr>
          <p:cNvPr id="3" name="Text 1"/>
          <p:cNvSpPr txBox="1"/>
          <p:nvPr/>
        </p:nvSpPr>
        <p:spPr>
          <a:xfrm>
            <a:off x="640080" y="411480"/>
            <a:ext cx="2157984" cy="347472"/>
          </a:xfrm>
          <a:prstGeom prst="rect">
            <a:avLst/>
          </a:prstGeom>
          <a:noFill/>
          <a:ln/>
        </p:spPr>
        <p:txBody>
          <a:bodyPr wrap="square" lIns="0" tIns="0" rIns="0" bIns="0" rtlCol="0" anchor="ctr"/>
          <a:lstStyle/>
          <a:p>
            <a:pPr algn="ctr" indent="0" marL="0">
              <a:buNone/>
            </a:pPr>
            <a:r>
              <a:rPr lang="en-US" sz="1200" b="1" spc="200" kern="0" dirty="0">
                <a:solidFill>
                  <a:srgbClr val="F472B6"/>
                </a:solidFill>
              </a:rPr>
              <a:t>04 · AI UI KIT</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AI 서비스를 위한 화면(UI)부터 만들었다</a:t>
            </a:r>
            <a:endParaRPr lang="en-US" sz="3800" dirty="0"/>
          </a:p>
        </p:txBody>
      </p:sp>
      <p:sp>
        <p:nvSpPr>
          <p:cNvPr id="5" name="card"/>
          <p:cNvSpPr/>
          <p:nvPr/>
        </p:nvSpPr>
        <p:spPr>
          <a:xfrm>
            <a:off x="640080" y="2194560"/>
            <a:ext cx="6309360" cy="3931920"/>
          </a:xfrm>
          <a:prstGeom prst="roundRect">
            <a:avLst>
              <a:gd name="adj" fmla="val 3721"/>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960120" y="2377440"/>
            <a:ext cx="5486400" cy="365760"/>
          </a:xfrm>
          <a:prstGeom prst="rect">
            <a:avLst/>
          </a:prstGeom>
          <a:noFill/>
          <a:ln/>
        </p:spPr>
        <p:txBody>
          <a:bodyPr wrap="square" lIns="0" tIns="0" rIns="0" bIns="0" rtlCol="0" anchor="t"/>
          <a:lstStyle/>
          <a:p>
            <a:pPr indent="0" marL="0">
              <a:buNone/>
            </a:pPr>
            <a:r>
              <a:rPr lang="en-US" sz="1800" b="1" dirty="0">
                <a:solidFill>
                  <a:srgbClr val="F4F6FB"/>
                </a:solidFill>
              </a:rPr>
              <a:t>Thinking Orb  ·  상태 9종</a:t>
            </a:r>
            <a:endParaRPr lang="en-US" sz="1800" dirty="0"/>
          </a:p>
        </p:txBody>
      </p:sp>
      <p:pic>
        <p:nvPicPr>
          <p:cNvPr id="7" name="Image 0" descr="orb 작업 중">    </p:cNvPr>
          <p:cNvPicPr>
            <a:picLocks noChangeAspect="1"/>
          </p:cNvPicPr>
          <p:nvPr/>
        </p:nvPicPr>
        <p:blipFill>
          <a:blip r:embed="rId1"/>
          <a:stretch>
            <a:fillRect/>
          </a:stretch>
        </p:blipFill>
        <p:spPr>
          <a:xfrm>
            <a:off x="1143000" y="2926080"/>
            <a:ext cx="731520" cy="731520"/>
          </a:xfrm>
          <a:prstGeom prst="rect">
            <a:avLst/>
          </a:prstGeom>
        </p:spPr>
      </p:pic>
      <p:sp>
        <p:nvSpPr>
          <p:cNvPr id="8" name="Text 5"/>
          <p:cNvSpPr txBox="1"/>
          <p:nvPr/>
        </p:nvSpPr>
        <p:spPr>
          <a:xfrm>
            <a:off x="1920240" y="2926080"/>
            <a:ext cx="914400" cy="731520"/>
          </a:xfrm>
          <a:prstGeom prst="rect">
            <a:avLst/>
          </a:prstGeom>
          <a:noFill/>
          <a:ln/>
        </p:spPr>
        <p:txBody>
          <a:bodyPr wrap="square" lIns="0" tIns="0" rIns="0" bIns="0" rtlCol="0" anchor="ctr"/>
          <a:lstStyle/>
          <a:p>
            <a:pPr indent="0" marL="0">
              <a:buNone/>
            </a:pPr>
            <a:r>
              <a:rPr lang="en-US" sz="1300" dirty="0">
                <a:solidFill>
                  <a:srgbClr val="9AA5C0"/>
                </a:solidFill>
              </a:rPr>
              <a:t>작업 중</a:t>
            </a:r>
            <a:endParaRPr lang="en-US" sz="1300" dirty="0"/>
          </a:p>
        </p:txBody>
      </p:sp>
      <p:pic>
        <p:nvPicPr>
          <p:cNvPr id="9" name="Image 1" descr="orb 찾는 중">    </p:cNvPr>
          <p:cNvPicPr>
            <a:picLocks noChangeAspect="1"/>
          </p:cNvPicPr>
          <p:nvPr/>
        </p:nvPicPr>
        <p:blipFill>
          <a:blip r:embed="rId2"/>
          <a:stretch>
            <a:fillRect/>
          </a:stretch>
        </p:blipFill>
        <p:spPr>
          <a:xfrm>
            <a:off x="3063240" y="2926080"/>
            <a:ext cx="731520" cy="731520"/>
          </a:xfrm>
          <a:prstGeom prst="rect">
            <a:avLst/>
          </a:prstGeom>
        </p:spPr>
      </p:pic>
      <p:sp>
        <p:nvSpPr>
          <p:cNvPr id="10" name="Text 6"/>
          <p:cNvSpPr txBox="1"/>
          <p:nvPr/>
        </p:nvSpPr>
        <p:spPr>
          <a:xfrm>
            <a:off x="3840480" y="2926080"/>
            <a:ext cx="914400" cy="731520"/>
          </a:xfrm>
          <a:prstGeom prst="rect">
            <a:avLst/>
          </a:prstGeom>
          <a:noFill/>
          <a:ln/>
        </p:spPr>
        <p:txBody>
          <a:bodyPr wrap="square" lIns="0" tIns="0" rIns="0" bIns="0" rtlCol="0" anchor="ctr"/>
          <a:lstStyle/>
          <a:p>
            <a:pPr indent="0" marL="0">
              <a:buNone/>
            </a:pPr>
            <a:r>
              <a:rPr lang="en-US" sz="1300" dirty="0">
                <a:solidFill>
                  <a:srgbClr val="9AA5C0"/>
                </a:solidFill>
              </a:rPr>
              <a:t>찾는 중</a:t>
            </a:r>
            <a:endParaRPr lang="en-US" sz="1300" dirty="0"/>
          </a:p>
        </p:txBody>
      </p:sp>
      <p:pic>
        <p:nvPicPr>
          <p:cNvPr id="11" name="Image 2" descr="orb 푸는 중">    </p:cNvPr>
          <p:cNvPicPr>
            <a:picLocks noChangeAspect="1"/>
          </p:cNvPicPr>
          <p:nvPr/>
        </p:nvPicPr>
        <p:blipFill>
          <a:blip r:embed="rId3"/>
          <a:stretch>
            <a:fillRect/>
          </a:stretch>
        </p:blipFill>
        <p:spPr>
          <a:xfrm>
            <a:off x="4983480" y="2926080"/>
            <a:ext cx="731520" cy="731520"/>
          </a:xfrm>
          <a:prstGeom prst="rect">
            <a:avLst/>
          </a:prstGeom>
        </p:spPr>
      </p:pic>
      <p:sp>
        <p:nvSpPr>
          <p:cNvPr id="12" name="Text 7"/>
          <p:cNvSpPr txBox="1"/>
          <p:nvPr/>
        </p:nvSpPr>
        <p:spPr>
          <a:xfrm>
            <a:off x="5760720" y="2926080"/>
            <a:ext cx="914400" cy="731520"/>
          </a:xfrm>
          <a:prstGeom prst="rect">
            <a:avLst/>
          </a:prstGeom>
          <a:noFill/>
          <a:ln/>
        </p:spPr>
        <p:txBody>
          <a:bodyPr wrap="square" lIns="0" tIns="0" rIns="0" bIns="0" rtlCol="0" anchor="ctr"/>
          <a:lstStyle/>
          <a:p>
            <a:pPr indent="0" marL="0">
              <a:buNone/>
            </a:pPr>
            <a:r>
              <a:rPr lang="en-US" sz="1300" dirty="0">
                <a:solidFill>
                  <a:srgbClr val="9AA5C0"/>
                </a:solidFill>
              </a:rPr>
              <a:t>푸는 중</a:t>
            </a:r>
            <a:endParaRPr lang="en-US" sz="1300" dirty="0"/>
          </a:p>
        </p:txBody>
      </p:sp>
      <p:pic>
        <p:nvPicPr>
          <p:cNvPr id="13" name="Image 3" descr="orb 듣는 중">    </p:cNvPr>
          <p:cNvPicPr>
            <a:picLocks noChangeAspect="1"/>
          </p:cNvPicPr>
          <p:nvPr/>
        </p:nvPicPr>
        <p:blipFill>
          <a:blip r:embed="rId4"/>
          <a:stretch>
            <a:fillRect/>
          </a:stretch>
        </p:blipFill>
        <p:spPr>
          <a:xfrm>
            <a:off x="1143000" y="3977640"/>
            <a:ext cx="731520" cy="731520"/>
          </a:xfrm>
          <a:prstGeom prst="rect">
            <a:avLst/>
          </a:prstGeom>
        </p:spPr>
      </p:pic>
      <p:sp>
        <p:nvSpPr>
          <p:cNvPr id="14" name="Text 8"/>
          <p:cNvSpPr txBox="1"/>
          <p:nvPr/>
        </p:nvSpPr>
        <p:spPr>
          <a:xfrm>
            <a:off x="1920240" y="3977640"/>
            <a:ext cx="914400" cy="731520"/>
          </a:xfrm>
          <a:prstGeom prst="rect">
            <a:avLst/>
          </a:prstGeom>
          <a:noFill/>
          <a:ln/>
        </p:spPr>
        <p:txBody>
          <a:bodyPr wrap="square" lIns="0" tIns="0" rIns="0" bIns="0" rtlCol="0" anchor="ctr"/>
          <a:lstStyle/>
          <a:p>
            <a:pPr indent="0" marL="0">
              <a:buNone/>
            </a:pPr>
            <a:r>
              <a:rPr lang="en-US" sz="1300" dirty="0">
                <a:solidFill>
                  <a:srgbClr val="9AA5C0"/>
                </a:solidFill>
              </a:rPr>
              <a:t>듣는 중</a:t>
            </a:r>
            <a:endParaRPr lang="en-US" sz="1300" dirty="0"/>
          </a:p>
        </p:txBody>
      </p:sp>
      <p:pic>
        <p:nvPicPr>
          <p:cNvPr id="15" name="Image 4" descr="orb 연결 중">    </p:cNvPr>
          <p:cNvPicPr>
            <a:picLocks noChangeAspect="1"/>
          </p:cNvPicPr>
          <p:nvPr/>
        </p:nvPicPr>
        <p:blipFill>
          <a:blip r:embed="rId5"/>
          <a:stretch>
            <a:fillRect/>
          </a:stretch>
        </p:blipFill>
        <p:spPr>
          <a:xfrm>
            <a:off x="3063240" y="3977640"/>
            <a:ext cx="731520" cy="731520"/>
          </a:xfrm>
          <a:prstGeom prst="rect">
            <a:avLst/>
          </a:prstGeom>
        </p:spPr>
      </p:pic>
      <p:sp>
        <p:nvSpPr>
          <p:cNvPr id="16" name="Text 9"/>
          <p:cNvSpPr txBox="1"/>
          <p:nvPr/>
        </p:nvSpPr>
        <p:spPr>
          <a:xfrm>
            <a:off x="3840480" y="3977640"/>
            <a:ext cx="914400" cy="731520"/>
          </a:xfrm>
          <a:prstGeom prst="rect">
            <a:avLst/>
          </a:prstGeom>
          <a:noFill/>
          <a:ln/>
        </p:spPr>
        <p:txBody>
          <a:bodyPr wrap="square" lIns="0" tIns="0" rIns="0" bIns="0" rtlCol="0" anchor="ctr"/>
          <a:lstStyle/>
          <a:p>
            <a:pPr indent="0" marL="0">
              <a:buNone/>
            </a:pPr>
            <a:r>
              <a:rPr lang="en-US" sz="1300" dirty="0">
                <a:solidFill>
                  <a:srgbClr val="9AA5C0"/>
                </a:solidFill>
              </a:rPr>
              <a:t>연결 중</a:t>
            </a:r>
            <a:endParaRPr lang="en-US" sz="1300" dirty="0"/>
          </a:p>
        </p:txBody>
      </p:sp>
      <p:pic>
        <p:nvPicPr>
          <p:cNvPr id="17" name="Image 5" descr="orb 엮는 중">    </p:cNvPr>
          <p:cNvPicPr>
            <a:picLocks noChangeAspect="1"/>
          </p:cNvPicPr>
          <p:nvPr/>
        </p:nvPicPr>
        <p:blipFill>
          <a:blip r:embed="rId6"/>
          <a:stretch>
            <a:fillRect/>
          </a:stretch>
        </p:blipFill>
        <p:spPr>
          <a:xfrm>
            <a:off x="4983480" y="3977640"/>
            <a:ext cx="731520" cy="731520"/>
          </a:xfrm>
          <a:prstGeom prst="rect">
            <a:avLst/>
          </a:prstGeom>
        </p:spPr>
      </p:pic>
      <p:sp>
        <p:nvSpPr>
          <p:cNvPr id="18" name="Text 10"/>
          <p:cNvSpPr txBox="1"/>
          <p:nvPr/>
        </p:nvSpPr>
        <p:spPr>
          <a:xfrm>
            <a:off x="5760720" y="3977640"/>
            <a:ext cx="914400" cy="731520"/>
          </a:xfrm>
          <a:prstGeom prst="rect">
            <a:avLst/>
          </a:prstGeom>
          <a:noFill/>
          <a:ln/>
        </p:spPr>
        <p:txBody>
          <a:bodyPr wrap="square" lIns="0" tIns="0" rIns="0" bIns="0" rtlCol="0" anchor="ctr"/>
          <a:lstStyle/>
          <a:p>
            <a:pPr indent="0" marL="0">
              <a:buNone/>
            </a:pPr>
            <a:r>
              <a:rPr lang="en-US" sz="1300" dirty="0">
                <a:solidFill>
                  <a:srgbClr val="9AA5C0"/>
                </a:solidFill>
              </a:rPr>
              <a:t>엮는 중</a:t>
            </a:r>
            <a:endParaRPr lang="en-US" sz="1300" dirty="0"/>
          </a:p>
        </p:txBody>
      </p:sp>
      <p:pic>
        <p:nvPicPr>
          <p:cNvPr id="19" name="Image 6" descr="orb 작성 중">    </p:cNvPr>
          <p:cNvPicPr>
            <a:picLocks noChangeAspect="1"/>
          </p:cNvPicPr>
          <p:nvPr/>
        </p:nvPicPr>
        <p:blipFill>
          <a:blip r:embed="rId7"/>
          <a:stretch>
            <a:fillRect/>
          </a:stretch>
        </p:blipFill>
        <p:spPr>
          <a:xfrm>
            <a:off x="1143000" y="5029200"/>
            <a:ext cx="731520" cy="731520"/>
          </a:xfrm>
          <a:prstGeom prst="rect">
            <a:avLst/>
          </a:prstGeom>
        </p:spPr>
      </p:pic>
      <p:sp>
        <p:nvSpPr>
          <p:cNvPr id="20" name="Text 11"/>
          <p:cNvSpPr txBox="1"/>
          <p:nvPr/>
        </p:nvSpPr>
        <p:spPr>
          <a:xfrm>
            <a:off x="1920240" y="5029200"/>
            <a:ext cx="914400" cy="731520"/>
          </a:xfrm>
          <a:prstGeom prst="rect">
            <a:avLst/>
          </a:prstGeom>
          <a:noFill/>
          <a:ln/>
        </p:spPr>
        <p:txBody>
          <a:bodyPr wrap="square" lIns="0" tIns="0" rIns="0" bIns="0" rtlCol="0" anchor="ctr"/>
          <a:lstStyle/>
          <a:p>
            <a:pPr indent="0" marL="0">
              <a:buNone/>
            </a:pPr>
            <a:r>
              <a:rPr lang="en-US" sz="1300" dirty="0">
                <a:solidFill>
                  <a:srgbClr val="9AA5C0"/>
                </a:solidFill>
              </a:rPr>
              <a:t>작성 중</a:t>
            </a:r>
            <a:endParaRPr lang="en-US" sz="1300" dirty="0"/>
          </a:p>
        </p:txBody>
      </p:sp>
      <p:pic>
        <p:nvPicPr>
          <p:cNvPr id="21" name="Image 7" descr="orb 숨 고르는 중">    </p:cNvPr>
          <p:cNvPicPr>
            <a:picLocks noChangeAspect="1"/>
          </p:cNvPicPr>
          <p:nvPr/>
        </p:nvPicPr>
        <p:blipFill>
          <a:blip r:embed="rId8"/>
          <a:stretch>
            <a:fillRect/>
          </a:stretch>
        </p:blipFill>
        <p:spPr>
          <a:xfrm>
            <a:off x="3063240" y="5029200"/>
            <a:ext cx="731520" cy="731520"/>
          </a:xfrm>
          <a:prstGeom prst="rect">
            <a:avLst/>
          </a:prstGeom>
        </p:spPr>
      </p:pic>
      <p:sp>
        <p:nvSpPr>
          <p:cNvPr id="22" name="Text 12"/>
          <p:cNvSpPr txBox="1"/>
          <p:nvPr/>
        </p:nvSpPr>
        <p:spPr>
          <a:xfrm>
            <a:off x="3840480" y="5029200"/>
            <a:ext cx="914400" cy="731520"/>
          </a:xfrm>
          <a:prstGeom prst="rect">
            <a:avLst/>
          </a:prstGeom>
          <a:noFill/>
          <a:ln/>
        </p:spPr>
        <p:txBody>
          <a:bodyPr wrap="square" lIns="0" tIns="0" rIns="0" bIns="0" rtlCol="0" anchor="ctr"/>
          <a:lstStyle/>
          <a:p>
            <a:pPr indent="0" marL="0">
              <a:buNone/>
            </a:pPr>
            <a:r>
              <a:rPr lang="en-US" sz="1300" dirty="0">
                <a:solidFill>
                  <a:srgbClr val="9AA5C0"/>
                </a:solidFill>
              </a:rPr>
              <a:t>숨 고르는 중</a:t>
            </a:r>
            <a:endParaRPr lang="en-US" sz="1300" dirty="0"/>
          </a:p>
        </p:txBody>
      </p:sp>
      <p:pic>
        <p:nvPicPr>
          <p:cNvPr id="23" name="Image 8" descr="orb 다듬는 중">    </p:cNvPr>
          <p:cNvPicPr>
            <a:picLocks noChangeAspect="1"/>
          </p:cNvPicPr>
          <p:nvPr/>
        </p:nvPicPr>
        <p:blipFill>
          <a:blip r:embed="rId9"/>
          <a:stretch>
            <a:fillRect/>
          </a:stretch>
        </p:blipFill>
        <p:spPr>
          <a:xfrm>
            <a:off x="4983480" y="5029200"/>
            <a:ext cx="731520" cy="731520"/>
          </a:xfrm>
          <a:prstGeom prst="rect">
            <a:avLst/>
          </a:prstGeom>
        </p:spPr>
      </p:pic>
      <p:sp>
        <p:nvSpPr>
          <p:cNvPr id="24" name="Text 13"/>
          <p:cNvSpPr txBox="1"/>
          <p:nvPr/>
        </p:nvSpPr>
        <p:spPr>
          <a:xfrm>
            <a:off x="5760720" y="5029200"/>
            <a:ext cx="914400" cy="731520"/>
          </a:xfrm>
          <a:prstGeom prst="rect">
            <a:avLst/>
          </a:prstGeom>
          <a:noFill/>
          <a:ln/>
        </p:spPr>
        <p:txBody>
          <a:bodyPr wrap="square" lIns="0" tIns="0" rIns="0" bIns="0" rtlCol="0" anchor="ctr"/>
          <a:lstStyle/>
          <a:p>
            <a:pPr indent="0" marL="0">
              <a:buNone/>
            </a:pPr>
            <a:r>
              <a:rPr lang="en-US" sz="1300" dirty="0">
                <a:solidFill>
                  <a:srgbClr val="9AA5C0"/>
                </a:solidFill>
              </a:rPr>
              <a:t>다듬는 중</a:t>
            </a:r>
            <a:endParaRPr lang="en-US" sz="1300" dirty="0"/>
          </a:p>
        </p:txBody>
      </p:sp>
      <p:sp>
        <p:nvSpPr>
          <p:cNvPr id="25" name="card"/>
          <p:cNvSpPr/>
          <p:nvPr/>
        </p:nvSpPr>
        <p:spPr>
          <a:xfrm>
            <a:off x="7223760" y="2194560"/>
            <a:ext cx="4325112"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6" name="dot"/>
          <p:cNvSpPr/>
          <p:nvPr/>
        </p:nvSpPr>
        <p:spPr>
          <a:xfrm>
            <a:off x="7452360" y="2496312"/>
            <a:ext cx="256032" cy="256032"/>
          </a:xfrm>
          <a:prstGeom prst="ellipse">
            <a:avLst/>
          </a:prstGeom>
          <a:solidFill>
            <a:srgbClr val="F472B6"/>
          </a:solidFill>
          <a:ln w="12700">
            <a:solidFill>
              <a:srgbClr val="F472B6"/>
            </a:solidFill>
            <a:prstDash val="solid"/>
          </a:ln>
        </p:spPr>
      </p:sp>
      <p:sp>
        <p:nvSpPr>
          <p:cNvPr id="27" name="Text 16"/>
          <p:cNvSpPr txBox="1"/>
          <p:nvPr/>
        </p:nvSpPr>
        <p:spPr>
          <a:xfrm>
            <a:off x="7909560" y="2331720"/>
            <a:ext cx="3474720" cy="320040"/>
          </a:xfrm>
          <a:prstGeom prst="rect">
            <a:avLst/>
          </a:prstGeom>
          <a:noFill/>
          <a:ln/>
        </p:spPr>
        <p:txBody>
          <a:bodyPr wrap="square" lIns="0" tIns="0" rIns="0" bIns="0" rtlCol="0" anchor="t"/>
          <a:lstStyle/>
          <a:p>
            <a:pPr indent="0" marL="0">
              <a:buNone/>
            </a:pPr>
            <a:r>
              <a:rPr lang="en-US" sz="1600" b="1" dirty="0">
                <a:solidFill>
                  <a:srgbClr val="F4F6FB"/>
                </a:solidFill>
              </a:rPr>
              <a:t>AI 입력창</a:t>
            </a:r>
            <a:endParaRPr lang="en-US" sz="1600" dirty="0"/>
          </a:p>
        </p:txBody>
      </p:sp>
      <p:sp>
        <p:nvSpPr>
          <p:cNvPr id="28" name="Text 17"/>
          <p:cNvSpPr txBox="1"/>
          <p:nvPr/>
        </p:nvSpPr>
        <p:spPr>
          <a:xfrm>
            <a:off x="7909560" y="2670048"/>
            <a:ext cx="3474720" cy="274320"/>
          </a:xfrm>
          <a:prstGeom prst="rect">
            <a:avLst/>
          </a:prstGeom>
          <a:noFill/>
          <a:ln/>
        </p:spPr>
        <p:txBody>
          <a:bodyPr wrap="square" lIns="0" tIns="0" rIns="0" bIns="0" rtlCol="0" anchor="t"/>
          <a:lstStyle/>
          <a:p>
            <a:pPr indent="0" marL="0">
              <a:buNone/>
            </a:pPr>
            <a:r>
              <a:rPr lang="en-US" sz="1200" dirty="0">
                <a:solidFill>
                  <a:srgbClr val="9AA5C0"/>
                </a:solidFill>
              </a:rPr>
              <a:t>에이전트 선택 · 파일 첨부 · 컬러 글로우</a:t>
            </a:r>
            <a:endParaRPr lang="en-US" sz="1200" dirty="0"/>
          </a:p>
        </p:txBody>
      </p:sp>
      <p:sp>
        <p:nvSpPr>
          <p:cNvPr id="29" name="card"/>
          <p:cNvSpPr/>
          <p:nvPr/>
        </p:nvSpPr>
        <p:spPr>
          <a:xfrm>
            <a:off x="7223760" y="3246120"/>
            <a:ext cx="4325112"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30" name="dot"/>
          <p:cNvSpPr/>
          <p:nvPr/>
        </p:nvSpPr>
        <p:spPr>
          <a:xfrm>
            <a:off x="7452360" y="3547872"/>
            <a:ext cx="256032" cy="256032"/>
          </a:xfrm>
          <a:prstGeom prst="ellipse">
            <a:avLst/>
          </a:prstGeom>
          <a:solidFill>
            <a:srgbClr val="8B5CF6"/>
          </a:solidFill>
          <a:ln w="12700">
            <a:solidFill>
              <a:srgbClr val="8B5CF6"/>
            </a:solidFill>
            <a:prstDash val="solid"/>
          </a:ln>
        </p:spPr>
      </p:sp>
      <p:sp>
        <p:nvSpPr>
          <p:cNvPr id="31" name="Text 20"/>
          <p:cNvSpPr txBox="1"/>
          <p:nvPr/>
        </p:nvSpPr>
        <p:spPr>
          <a:xfrm>
            <a:off x="7909560" y="3383280"/>
            <a:ext cx="3474720" cy="320040"/>
          </a:xfrm>
          <a:prstGeom prst="rect">
            <a:avLst/>
          </a:prstGeom>
          <a:noFill/>
          <a:ln/>
        </p:spPr>
        <p:txBody>
          <a:bodyPr wrap="square" lIns="0" tIns="0" rIns="0" bIns="0" rtlCol="0" anchor="t"/>
          <a:lstStyle/>
          <a:p>
            <a:pPr indent="0" marL="0">
              <a:buNone/>
            </a:pPr>
            <a:r>
              <a:rPr lang="en-US" sz="1600" b="1" dirty="0">
                <a:solidFill>
                  <a:srgbClr val="F4F6FB"/>
                </a:solidFill>
              </a:rPr>
              <a:t>생각 중 표시</a:t>
            </a:r>
            <a:endParaRPr lang="en-US" sz="1600" dirty="0"/>
          </a:p>
        </p:txBody>
      </p:sp>
      <p:sp>
        <p:nvSpPr>
          <p:cNvPr id="32" name="Text 21"/>
          <p:cNvSpPr txBox="1"/>
          <p:nvPr/>
        </p:nvSpPr>
        <p:spPr>
          <a:xfrm>
            <a:off x="7909560" y="3721608"/>
            <a:ext cx="3474720" cy="274320"/>
          </a:xfrm>
          <a:prstGeom prst="rect">
            <a:avLst/>
          </a:prstGeom>
          <a:noFill/>
          <a:ln/>
        </p:spPr>
        <p:txBody>
          <a:bodyPr wrap="square" lIns="0" tIns="0" rIns="0" bIns="0" rtlCol="0" anchor="t"/>
          <a:lstStyle/>
          <a:p>
            <a:pPr indent="0" marL="0">
              <a:buNone/>
            </a:pPr>
            <a:r>
              <a:rPr lang="en-US" sz="1200" dirty="0">
                <a:solidFill>
                  <a:srgbClr val="9AA5C0"/>
                </a:solidFill>
              </a:rPr>
              <a:t>Orb · 점 · 반짝이는 글자 3가지</a:t>
            </a:r>
            <a:endParaRPr lang="en-US" sz="1200" dirty="0"/>
          </a:p>
        </p:txBody>
      </p:sp>
      <p:sp>
        <p:nvSpPr>
          <p:cNvPr id="33" name="card"/>
          <p:cNvSpPr/>
          <p:nvPr/>
        </p:nvSpPr>
        <p:spPr>
          <a:xfrm>
            <a:off x="7223760" y="4297680"/>
            <a:ext cx="4325112"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34" name="dot"/>
          <p:cNvSpPr/>
          <p:nvPr/>
        </p:nvSpPr>
        <p:spPr>
          <a:xfrm>
            <a:off x="7452360" y="4599432"/>
            <a:ext cx="256032" cy="256032"/>
          </a:xfrm>
          <a:prstGeom prst="ellipse">
            <a:avLst/>
          </a:prstGeom>
          <a:solidFill>
            <a:srgbClr val="2DD4BF"/>
          </a:solidFill>
          <a:ln w="12700">
            <a:solidFill>
              <a:srgbClr val="2DD4BF"/>
            </a:solidFill>
            <a:prstDash val="solid"/>
          </a:ln>
        </p:spPr>
      </p:sp>
      <p:sp>
        <p:nvSpPr>
          <p:cNvPr id="35" name="Text 24"/>
          <p:cNvSpPr txBox="1"/>
          <p:nvPr/>
        </p:nvSpPr>
        <p:spPr>
          <a:xfrm>
            <a:off x="7909560" y="4434840"/>
            <a:ext cx="3474720" cy="320040"/>
          </a:xfrm>
          <a:prstGeom prst="rect">
            <a:avLst/>
          </a:prstGeom>
          <a:noFill/>
          <a:ln/>
        </p:spPr>
        <p:txBody>
          <a:bodyPr wrap="square" lIns="0" tIns="0" rIns="0" bIns="0" rtlCol="0" anchor="t"/>
          <a:lstStyle/>
          <a:p>
            <a:pPr indent="0" marL="0">
              <a:buNone/>
            </a:pPr>
            <a:r>
              <a:rPr lang="en-US" sz="1600" b="1" dirty="0">
                <a:solidFill>
                  <a:srgbClr val="F4F6FB"/>
                </a:solidFill>
              </a:rPr>
              <a:t>로딩 9종</a:t>
            </a:r>
            <a:endParaRPr lang="en-US" sz="1600" dirty="0"/>
          </a:p>
        </p:txBody>
      </p:sp>
      <p:sp>
        <p:nvSpPr>
          <p:cNvPr id="36" name="Text 25"/>
          <p:cNvSpPr txBox="1"/>
          <p:nvPr/>
        </p:nvSpPr>
        <p:spPr>
          <a:xfrm>
            <a:off x="7909560" y="4773168"/>
            <a:ext cx="3474720" cy="274320"/>
          </a:xfrm>
          <a:prstGeom prst="rect">
            <a:avLst/>
          </a:prstGeom>
          <a:noFill/>
          <a:ln/>
        </p:spPr>
        <p:txBody>
          <a:bodyPr wrap="square" lIns="0" tIns="0" rIns="0" bIns="0" rtlCol="0" anchor="t"/>
          <a:lstStyle/>
          <a:p>
            <a:pPr indent="0" marL="0">
              <a:buNone/>
            </a:pPr>
            <a:r>
              <a:rPr lang="en-US" sz="1200" dirty="0">
                <a:solidFill>
                  <a:srgbClr val="9AA5C0"/>
                </a:solidFill>
              </a:rPr>
              <a:t>ring · dash · dots · bars · pulse …</a:t>
            </a:r>
            <a:endParaRPr lang="en-US" sz="1200" dirty="0"/>
          </a:p>
        </p:txBody>
      </p:sp>
      <p:sp>
        <p:nvSpPr>
          <p:cNvPr id="37" name="card"/>
          <p:cNvSpPr/>
          <p:nvPr/>
        </p:nvSpPr>
        <p:spPr>
          <a:xfrm>
            <a:off x="7223760" y="5349240"/>
            <a:ext cx="4325112" cy="777240"/>
          </a:xfrm>
          <a:prstGeom prst="roundRect">
            <a:avLst>
              <a:gd name="adj" fmla="val 18824"/>
            </a:avLst>
          </a:prstGeom>
          <a:solidFill>
            <a:srgbClr val="3A2A12"/>
          </a:solidFill>
          <a:ln w="9525">
            <a:solidFill>
              <a:srgbClr val="FBBF24"/>
            </a:solidFill>
            <a:prstDash val="solid"/>
          </a:ln>
          <a:effectLst>
            <a:outerShdw sx="100000" sy="100000" kx="0" ky="0" algn="bl" rotWithShape="0" blurRad="152400" dist="38100" dir="5400000">
              <a:srgbClr val="000000">
                <a:alpha val="35000"/>
              </a:srgbClr>
            </a:outerShdw>
          </a:effectLst>
        </p:spPr>
      </p:sp>
      <p:sp>
        <p:nvSpPr>
          <p:cNvPr id="38" name="Text 27"/>
          <p:cNvSpPr txBox="1"/>
          <p:nvPr/>
        </p:nvSpPr>
        <p:spPr>
          <a:xfrm>
            <a:off x="7498080" y="5422392"/>
            <a:ext cx="3931920" cy="320040"/>
          </a:xfrm>
          <a:prstGeom prst="rect">
            <a:avLst/>
          </a:prstGeom>
          <a:noFill/>
          <a:ln/>
        </p:spPr>
        <p:txBody>
          <a:bodyPr wrap="square" lIns="0" tIns="0" rIns="0" bIns="0" rtlCol="0" anchor="t"/>
          <a:lstStyle/>
          <a:p>
            <a:pPr indent="0" marL="0">
              <a:buNone/>
            </a:pPr>
            <a:r>
              <a:rPr lang="en-US" sz="1300" b="1" dirty="0">
                <a:solidFill>
                  <a:srgbClr val="FBBF24"/>
                </a:solidFill>
              </a:rPr>
              <a:t>AI 서비스 개발자를 위해 UI를 먼저 만들었다</a:t>
            </a:r>
            <a:endParaRPr lang="en-US" sz="1300" dirty="0"/>
          </a:p>
        </p:txBody>
      </p:sp>
      <p:sp>
        <p:nvSpPr>
          <p:cNvPr id="39" name="Text 28"/>
          <p:cNvSpPr txBox="1"/>
          <p:nvPr/>
        </p:nvSpPr>
        <p:spPr>
          <a:xfrm>
            <a:off x="7498080" y="5742432"/>
            <a:ext cx="3931920" cy="320040"/>
          </a:xfrm>
          <a:prstGeom prst="rect">
            <a:avLst/>
          </a:prstGeom>
          <a:noFill/>
          <a:ln/>
        </p:spPr>
        <p:txBody>
          <a:bodyPr wrap="square" lIns="0" tIns="0" rIns="0" bIns="0" rtlCol="0" anchor="t"/>
          <a:lstStyle/>
          <a:p>
            <a:pPr indent="0" marL="0">
              <a:buNone/>
            </a:pPr>
            <a:r>
              <a:rPr lang="en-US" sz="1100" dirty="0">
                <a:solidFill>
                  <a:srgbClr val="F5D58A"/>
                </a:solidFill>
              </a:rPr>
              <a:t>AI 연동은 서비스에 맞게 연결  ·  음성 입력, 사용량 차트는 확장</a:t>
            </a:r>
            <a:endParaRPr lang="en-US" sz="11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
          <p:cNvSpPr/>
          <p:nvPr/>
        </p:nvSpPr>
        <p:spPr>
          <a:xfrm>
            <a:off x="640080" y="411480"/>
            <a:ext cx="2414016" cy="347472"/>
          </a:xfrm>
          <a:prstGeom prst="roundRect">
            <a:avLst>
              <a:gd name="adj" fmla="val 50000"/>
            </a:avLst>
          </a:prstGeom>
          <a:solidFill>
            <a:srgbClr val="2DD4BF">
              <a:alpha val="20000"/>
            </a:srgbClr>
          </a:solidFill>
          <a:ln w="9525">
            <a:solidFill>
              <a:srgbClr val="2DD4BF">
                <a:alpha val="60000"/>
              </a:srgbClr>
            </a:solidFill>
            <a:prstDash val="solid"/>
          </a:ln>
        </p:spPr>
      </p:sp>
      <p:sp>
        <p:nvSpPr>
          <p:cNvPr id="3" name="Text 1"/>
          <p:cNvSpPr txBox="1"/>
          <p:nvPr/>
        </p:nvSpPr>
        <p:spPr>
          <a:xfrm>
            <a:off x="640080" y="411480"/>
            <a:ext cx="2414016" cy="347472"/>
          </a:xfrm>
          <a:prstGeom prst="rect">
            <a:avLst/>
          </a:prstGeom>
          <a:noFill/>
          <a:ln/>
        </p:spPr>
        <p:txBody>
          <a:bodyPr wrap="square" lIns="0" tIns="0" rIns="0" bIns="0" rtlCol="0" anchor="ctr"/>
          <a:lstStyle/>
          <a:p>
            <a:pPr algn="ctr" indent="0" marL="0">
              <a:buNone/>
            </a:pPr>
            <a:r>
              <a:rPr lang="en-US" sz="1200" b="1" spc="200" kern="0" dirty="0">
                <a:solidFill>
                  <a:srgbClr val="2DD4BF"/>
                </a:solidFill>
              </a:rPr>
              <a:t>06 · SUB PROJECT</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Meerkit 위에 얹은 샘플 서비스, 「매무새」</a:t>
            </a:r>
            <a:endParaRPr lang="en-US" sz="3800" dirty="0"/>
          </a:p>
        </p:txBody>
      </p:sp>
      <p:sp>
        <p:nvSpPr>
          <p:cNvPr id="5" name="card"/>
          <p:cNvSpPr/>
          <p:nvPr/>
        </p:nvSpPr>
        <p:spPr>
          <a:xfrm>
            <a:off x="640080" y="2194560"/>
            <a:ext cx="5303520" cy="3931920"/>
          </a:xfrm>
          <a:prstGeom prst="roundRect">
            <a:avLst>
              <a:gd name="adj" fmla="val 3721"/>
            </a:avLst>
          </a:prstGeom>
          <a:solidFill>
            <a:srgbClr val="1A2340"/>
          </a:solidFill>
          <a:ln w="9525">
            <a:solidFill>
              <a:srgbClr val="2DD4BF"/>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960120" y="2377440"/>
            <a:ext cx="2743200" cy="274320"/>
          </a:xfrm>
          <a:prstGeom prst="rect">
            <a:avLst/>
          </a:prstGeom>
          <a:noFill/>
          <a:ln/>
        </p:spPr>
        <p:txBody>
          <a:bodyPr wrap="square" lIns="0" tIns="0" rIns="0" bIns="0" rtlCol="0" anchor="t"/>
          <a:lstStyle/>
          <a:p>
            <a:pPr indent="0" marL="0">
              <a:buNone/>
            </a:pPr>
            <a:r>
              <a:rPr lang="en-US" sz="1100" b="1" spc="300" kern="0" dirty="0">
                <a:solidFill>
                  <a:srgbClr val="2DD4BF"/>
                </a:solidFill>
              </a:rPr>
              <a:t>SERVICE</a:t>
            </a:r>
            <a:endParaRPr lang="en-US" sz="1100" dirty="0"/>
          </a:p>
        </p:txBody>
      </p:sp>
      <p:sp>
        <p:nvSpPr>
          <p:cNvPr id="7" name="Text 5"/>
          <p:cNvSpPr txBox="1"/>
          <p:nvPr/>
        </p:nvSpPr>
        <p:spPr>
          <a:xfrm>
            <a:off x="960120" y="2697480"/>
            <a:ext cx="4572000" cy="914400"/>
          </a:xfrm>
          <a:prstGeom prst="rect">
            <a:avLst/>
          </a:prstGeom>
          <a:noFill/>
          <a:ln/>
        </p:spPr>
        <p:txBody>
          <a:bodyPr wrap="square" lIns="0" tIns="0" rIns="0" bIns="0" rtlCol="0" anchor="ctr"/>
          <a:lstStyle/>
          <a:p>
            <a:pPr indent="0" marL="0">
              <a:buNone/>
            </a:pPr>
            <a:r>
              <a:rPr lang="en-US" sz="5400" b="1" dirty="0">
                <a:solidFill>
                  <a:srgbClr val="F4F6FB"/>
                </a:solidFill>
              </a:rPr>
              <a:t>매무새</a:t>
            </a:r>
            <a:endParaRPr lang="en-US" sz="5400" dirty="0"/>
          </a:p>
        </p:txBody>
      </p:sp>
      <p:sp>
        <p:nvSpPr>
          <p:cNvPr id="8" name="Text 6"/>
          <p:cNvSpPr txBox="1"/>
          <p:nvPr/>
        </p:nvSpPr>
        <p:spPr>
          <a:xfrm>
            <a:off x="960120" y="3794760"/>
            <a:ext cx="4754880" cy="2011680"/>
          </a:xfrm>
          <a:prstGeom prst="rect">
            <a:avLst/>
          </a:prstGeom>
          <a:noFill/>
          <a:ln/>
        </p:spPr>
        <p:txBody>
          <a:bodyPr wrap="square" lIns="0" tIns="0" rIns="0" bIns="0" rtlCol="0" anchor="t"/>
          <a:lstStyle/>
          <a:p>
            <a:pPr indent="0" marL="0">
              <a:buNone/>
            </a:pPr>
            <a:r>
              <a:rPr lang="en-US" sz="1600" dirty="0">
                <a:solidFill>
                  <a:srgbClr val="C7D0E6"/>
                </a:solidFill>
              </a:rPr>
              <a:t>두루뭉술한 고객 요구사항 문서를 올리면</a:t>
            </a:r>
            <a:endParaRPr lang="en-US" sz="1600" dirty="0"/>
          </a:p>
          <a:p>
            <a:pPr indent="0" marL="0">
              <a:buNone/>
            </a:pPr>
            <a:r>
              <a:rPr lang="en-US" sz="1600" dirty="0">
                <a:solidFill>
                  <a:srgbClr val="C7D0E6"/>
                </a:solidFill>
              </a:rPr>
              <a:t>AI가 요구사항을 분류 · 정제하고,</a:t>
            </a:r>
            <a:endParaRPr lang="en-US" sz="1600" dirty="0"/>
          </a:p>
          <a:p>
            <a:pPr indent="0" marL="0">
              <a:buNone/>
            </a:pPr>
            <a:r>
              <a:rPr lang="en-US" sz="1600" dirty="0">
                <a:solidFill>
                  <a:srgbClr val="C7D0E6"/>
                </a:solidFill>
              </a:rPr>
              <a:t>관리자가 확정한 요구사항으로</a:t>
            </a:r>
            <a:endParaRPr lang="en-US" sz="1600" dirty="0"/>
          </a:p>
          <a:p>
            <a:pPr indent="0" marL="0">
              <a:buNone/>
            </a:pPr>
            <a:r>
              <a:rPr lang="en-US" sz="1600" dirty="0">
                <a:solidFill>
                  <a:srgbClr val="C7D0E6"/>
                </a:solidFill>
              </a:rPr>
              <a:t>AI가 기능정의서를 만들어 주는 서비스</a:t>
            </a:r>
            <a:endParaRPr lang="en-US" sz="1600" dirty="0"/>
          </a:p>
        </p:txBody>
      </p:sp>
      <p:sp>
        <p:nvSpPr>
          <p:cNvPr id="9" name="card"/>
          <p:cNvSpPr/>
          <p:nvPr/>
        </p:nvSpPr>
        <p:spPr>
          <a:xfrm>
            <a:off x="6217920" y="2194560"/>
            <a:ext cx="5330952" cy="1874520"/>
          </a:xfrm>
          <a:prstGeom prst="roundRect">
            <a:avLst>
              <a:gd name="adj" fmla="val 78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0" name="Text 8"/>
          <p:cNvSpPr txBox="1"/>
          <p:nvPr/>
        </p:nvSpPr>
        <p:spPr>
          <a:xfrm>
            <a:off x="6537960" y="2377440"/>
            <a:ext cx="4572000" cy="274320"/>
          </a:xfrm>
          <a:prstGeom prst="rect">
            <a:avLst/>
          </a:prstGeom>
          <a:noFill/>
          <a:ln/>
        </p:spPr>
        <p:txBody>
          <a:bodyPr wrap="square" lIns="0" tIns="0" rIns="0" bIns="0" rtlCol="0" anchor="t"/>
          <a:lstStyle/>
          <a:p>
            <a:pPr indent="0" marL="0">
              <a:buNone/>
            </a:pPr>
            <a:r>
              <a:rPr lang="en-US" sz="1100" b="1" spc="300" kern="0" dirty="0">
                <a:solidFill>
                  <a:srgbClr val="8B5CF6"/>
                </a:solidFill>
              </a:rPr>
              <a:t>왜 만들었나</a:t>
            </a:r>
            <a:endParaRPr lang="en-US" sz="1100" dirty="0"/>
          </a:p>
        </p:txBody>
      </p:sp>
      <p:sp>
        <p:nvSpPr>
          <p:cNvPr id="11" name="Text 9"/>
          <p:cNvSpPr txBox="1"/>
          <p:nvPr/>
        </p:nvSpPr>
        <p:spPr>
          <a:xfrm>
            <a:off x="6537960" y="2743200"/>
            <a:ext cx="4754880" cy="1188720"/>
          </a:xfrm>
          <a:prstGeom prst="rect">
            <a:avLst/>
          </a:prstGeom>
          <a:noFill/>
          <a:ln/>
        </p:spPr>
        <p:txBody>
          <a:bodyPr wrap="square" lIns="0" tIns="0" rIns="0" bIns="0" rtlCol="0" anchor="t"/>
          <a:lstStyle/>
          <a:p>
            <a:pPr indent="0" marL="0">
              <a:buNone/>
            </a:pPr>
            <a:r>
              <a:rPr lang="en-US" sz="1800" b="1" dirty="0">
                <a:solidFill>
                  <a:srgbClr val="F4F6FB"/>
                </a:solidFill>
              </a:rPr>
              <a:t>Meerkit이 얼마나 완성도 있는 공통 기반인지 보여 주는 서브 프로젝트</a:t>
            </a:r>
            <a:endParaRPr lang="en-US" sz="1800" dirty="0"/>
          </a:p>
        </p:txBody>
      </p:sp>
      <p:sp>
        <p:nvSpPr>
          <p:cNvPr id="12" name="card"/>
          <p:cNvSpPr/>
          <p:nvPr/>
        </p:nvSpPr>
        <p:spPr>
          <a:xfrm>
            <a:off x="6217920" y="4251960"/>
            <a:ext cx="5330952" cy="1874520"/>
          </a:xfrm>
          <a:prstGeom prst="roundRect">
            <a:avLst>
              <a:gd name="adj" fmla="val 7805"/>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3" name="Text 11"/>
          <p:cNvSpPr txBox="1"/>
          <p:nvPr/>
        </p:nvSpPr>
        <p:spPr>
          <a:xfrm>
            <a:off x="6537960" y="4434840"/>
            <a:ext cx="4572000" cy="274320"/>
          </a:xfrm>
          <a:prstGeom prst="rect">
            <a:avLst/>
          </a:prstGeom>
          <a:noFill/>
          <a:ln/>
        </p:spPr>
        <p:txBody>
          <a:bodyPr wrap="square" lIns="0" tIns="0" rIns="0" bIns="0" rtlCol="0" anchor="t"/>
          <a:lstStyle/>
          <a:p>
            <a:pPr indent="0" marL="0">
              <a:buNone/>
            </a:pPr>
            <a:r>
              <a:rPr lang="en-US" sz="1100" b="1" spc="300" kern="0" dirty="0">
                <a:solidFill>
                  <a:srgbClr val="FBBF24"/>
                </a:solidFill>
              </a:rPr>
              <a:t>이름의 뜻</a:t>
            </a:r>
            <a:endParaRPr lang="en-US" sz="1100" dirty="0"/>
          </a:p>
        </p:txBody>
      </p:sp>
      <p:sp>
        <p:nvSpPr>
          <p:cNvPr id="14" name="Text 12"/>
          <p:cNvSpPr txBox="1"/>
          <p:nvPr/>
        </p:nvSpPr>
        <p:spPr>
          <a:xfrm>
            <a:off x="6537960" y="4800600"/>
            <a:ext cx="4754880" cy="457200"/>
          </a:xfrm>
          <a:prstGeom prst="rect">
            <a:avLst/>
          </a:prstGeom>
          <a:noFill/>
          <a:ln/>
        </p:spPr>
        <p:txBody>
          <a:bodyPr wrap="square" lIns="0" tIns="0" rIns="0" bIns="0" rtlCol="0" anchor="t"/>
          <a:lstStyle/>
          <a:p>
            <a:pPr indent="0" marL="0">
              <a:buNone/>
            </a:pPr>
            <a:r>
              <a:rPr lang="en-US" sz="1800" b="1" dirty="0">
                <a:solidFill>
                  <a:srgbClr val="F4F6FB"/>
                </a:solidFill>
              </a:rPr>
              <a:t>매무새 = 단정하게 매만진 모양새</a:t>
            </a:r>
            <a:endParaRPr lang="en-US" sz="1800" dirty="0"/>
          </a:p>
        </p:txBody>
      </p:sp>
      <p:sp>
        <p:nvSpPr>
          <p:cNvPr id="15" name="Text 13"/>
          <p:cNvSpPr txBox="1"/>
          <p:nvPr/>
        </p:nvSpPr>
        <p:spPr>
          <a:xfrm>
            <a:off x="6537960" y="5349240"/>
            <a:ext cx="4754880" cy="640080"/>
          </a:xfrm>
          <a:prstGeom prst="rect">
            <a:avLst/>
          </a:prstGeom>
          <a:noFill/>
          <a:ln/>
        </p:spPr>
        <p:txBody>
          <a:bodyPr wrap="square" lIns="0" tIns="0" rIns="0" bIns="0" rtlCol="0" anchor="t"/>
          <a:lstStyle/>
          <a:p>
            <a:pPr indent="0" marL="0">
              <a:buNone/>
            </a:pPr>
            <a:r>
              <a:rPr lang="en-US" sz="1400" dirty="0">
                <a:solidFill>
                  <a:srgbClr val="9AA5C0"/>
                </a:solidFill>
              </a:rPr>
              <a:t>거친 요구사항 문서를 단정한 정의서로 다듬어 드립니다.</a:t>
            </a:r>
            <a:endParaRPr lang="en-US" sz="14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ag"/>
          <p:cNvSpPr/>
          <p:nvPr/>
        </p:nvSpPr>
        <p:spPr>
          <a:xfrm>
            <a:off x="640080" y="411480"/>
            <a:ext cx="2414016" cy="347472"/>
          </a:xfrm>
          <a:prstGeom prst="roundRect">
            <a:avLst>
              <a:gd name="adj" fmla="val 50000"/>
            </a:avLst>
          </a:prstGeom>
          <a:solidFill>
            <a:srgbClr val="2DD4BF">
              <a:alpha val="20000"/>
            </a:srgbClr>
          </a:solidFill>
          <a:ln w="9525">
            <a:solidFill>
              <a:srgbClr val="2DD4BF">
                <a:alpha val="60000"/>
              </a:srgbClr>
            </a:solidFill>
            <a:prstDash val="solid"/>
          </a:ln>
        </p:spPr>
      </p:sp>
      <p:sp>
        <p:nvSpPr>
          <p:cNvPr id="3" name="Text 1"/>
          <p:cNvSpPr txBox="1"/>
          <p:nvPr/>
        </p:nvSpPr>
        <p:spPr>
          <a:xfrm>
            <a:off x="640080" y="411480"/>
            <a:ext cx="2414016" cy="347472"/>
          </a:xfrm>
          <a:prstGeom prst="rect">
            <a:avLst/>
          </a:prstGeom>
          <a:noFill/>
          <a:ln/>
        </p:spPr>
        <p:txBody>
          <a:bodyPr wrap="square" lIns="0" tIns="0" rIns="0" bIns="0" rtlCol="0" anchor="ctr"/>
          <a:lstStyle/>
          <a:p>
            <a:pPr algn="ctr" indent="0" marL="0">
              <a:buNone/>
            </a:pPr>
            <a:r>
              <a:rPr lang="en-US" sz="1200" b="1" spc="200" kern="0" dirty="0">
                <a:solidFill>
                  <a:srgbClr val="2DD4BF"/>
                </a:solidFill>
              </a:rPr>
              <a:t>06 · SUB PROJECT</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맛보기: 로그인하면 만나는 업무 화면</a:t>
            </a:r>
            <a:endParaRPr lang="en-US" sz="3800" dirty="0"/>
          </a:p>
        </p:txBody>
      </p:sp>
      <p:sp>
        <p:nvSpPr>
          <p:cNvPr id="5" name="card"/>
          <p:cNvSpPr/>
          <p:nvPr/>
        </p:nvSpPr>
        <p:spPr>
          <a:xfrm>
            <a:off x="640080" y="2148840"/>
            <a:ext cx="7223760" cy="4023360"/>
          </a:xfrm>
          <a:prstGeom prst="roundRect">
            <a:avLst>
              <a:gd name="adj" fmla="val 3636"/>
            </a:avLst>
          </a:prstGeom>
          <a:solidFill>
            <a:srgbClr val="1A2236"/>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browser-bar"/>
          <p:cNvSpPr/>
          <p:nvPr/>
        </p:nvSpPr>
        <p:spPr>
          <a:xfrm>
            <a:off x="640080" y="2148840"/>
            <a:ext cx="7223760" cy="365760"/>
          </a:xfrm>
          <a:prstGeom prst="roundRect">
            <a:avLst>
              <a:gd name="adj" fmla="val 40000"/>
            </a:avLst>
          </a:prstGeom>
          <a:solidFill>
            <a:srgbClr val="232B42"/>
          </a:solidFill>
          <a:ln w="9525">
            <a:solidFill>
              <a:srgbClr val="2A3556"/>
            </a:solidFill>
            <a:prstDash val="solid"/>
          </a:ln>
        </p:spPr>
      </p:sp>
      <p:sp>
        <p:nvSpPr>
          <p:cNvPr id="7" name="dot"/>
          <p:cNvSpPr/>
          <p:nvPr/>
        </p:nvSpPr>
        <p:spPr>
          <a:xfrm>
            <a:off x="868680" y="2286000"/>
            <a:ext cx="109728" cy="109728"/>
          </a:xfrm>
          <a:prstGeom prst="ellipse">
            <a:avLst/>
          </a:prstGeom>
          <a:solidFill>
            <a:srgbClr val="F87171"/>
          </a:solidFill>
          <a:ln w="12700">
            <a:solidFill>
              <a:srgbClr val="F87171"/>
            </a:solidFill>
            <a:prstDash val="solid"/>
          </a:ln>
        </p:spPr>
      </p:sp>
      <p:sp>
        <p:nvSpPr>
          <p:cNvPr id="8" name="dot"/>
          <p:cNvSpPr/>
          <p:nvPr/>
        </p:nvSpPr>
        <p:spPr>
          <a:xfrm>
            <a:off x="1069848" y="2286000"/>
            <a:ext cx="109728" cy="109728"/>
          </a:xfrm>
          <a:prstGeom prst="ellipse">
            <a:avLst/>
          </a:prstGeom>
          <a:solidFill>
            <a:srgbClr val="FBBF24"/>
          </a:solidFill>
          <a:ln w="12700">
            <a:solidFill>
              <a:srgbClr val="FBBF24"/>
            </a:solidFill>
            <a:prstDash val="solid"/>
          </a:ln>
        </p:spPr>
      </p:sp>
      <p:sp>
        <p:nvSpPr>
          <p:cNvPr id="9" name="dot"/>
          <p:cNvSpPr/>
          <p:nvPr/>
        </p:nvSpPr>
        <p:spPr>
          <a:xfrm>
            <a:off x="1271016" y="2286000"/>
            <a:ext cx="109728" cy="109728"/>
          </a:xfrm>
          <a:prstGeom prst="ellipse">
            <a:avLst/>
          </a:prstGeom>
          <a:solidFill>
            <a:srgbClr val="34D399"/>
          </a:solidFill>
          <a:ln w="12700">
            <a:solidFill>
              <a:srgbClr val="34D399"/>
            </a:solidFill>
            <a:prstDash val="solid"/>
          </a:ln>
        </p:spPr>
      </p:sp>
      <p:sp>
        <p:nvSpPr>
          <p:cNvPr id="10" name="url"/>
          <p:cNvSpPr/>
          <p:nvPr/>
        </p:nvSpPr>
        <p:spPr>
          <a:xfrm>
            <a:off x="2377440" y="2221992"/>
            <a:ext cx="3566160" cy="219456"/>
          </a:xfrm>
          <a:prstGeom prst="roundRect">
            <a:avLst>
              <a:gd name="adj" fmla="val 50000"/>
            </a:avLst>
          </a:prstGeom>
          <a:solidFill>
            <a:srgbClr val="0B1020"/>
          </a:solidFill>
          <a:ln w="6350">
            <a:solidFill>
              <a:srgbClr val="2A3556"/>
            </a:solidFill>
            <a:prstDash val="solid"/>
          </a:ln>
        </p:spPr>
      </p:sp>
      <p:sp>
        <p:nvSpPr>
          <p:cNvPr id="11" name="Text 9"/>
          <p:cNvSpPr txBox="1"/>
          <p:nvPr/>
        </p:nvSpPr>
        <p:spPr>
          <a:xfrm>
            <a:off x="2377440" y="2221992"/>
            <a:ext cx="3566160" cy="219456"/>
          </a:xfrm>
          <a:prstGeom prst="rect">
            <a:avLst/>
          </a:prstGeom>
          <a:noFill/>
          <a:ln/>
        </p:spPr>
        <p:txBody>
          <a:bodyPr wrap="square" lIns="0" tIns="0" rIns="0" bIns="0" rtlCol="0" anchor="ctr"/>
          <a:lstStyle/>
          <a:p>
            <a:pPr algn="ctr" indent="0" marL="0">
              <a:buNone/>
            </a:pPr>
            <a:r>
              <a:rPr lang="en-US" sz="1000" dirty="0">
                <a:solidFill>
                  <a:srgbClr val="9AA5C0"/>
                </a:solidFill>
              </a:rPr>
              <a:t>maemusae  ·  업무 메인 화면</a:t>
            </a:r>
            <a:endParaRPr lang="en-US" sz="1000" dirty="0"/>
          </a:p>
        </p:txBody>
      </p:sp>
      <p:pic>
        <p:nvPicPr>
          <p:cNvPr id="12" name="Image 0" descr="매무새 업무 메인 화면">    </p:cNvPr>
          <p:cNvPicPr>
            <a:picLocks noChangeAspect="1"/>
          </p:cNvPicPr>
          <p:nvPr/>
        </p:nvPicPr>
        <p:blipFill>
          <a:blip r:embed="rId1"/>
          <a:stretch>
            <a:fillRect/>
          </a:stretch>
        </p:blipFill>
        <p:spPr>
          <a:xfrm>
            <a:off x="731520" y="2578608"/>
            <a:ext cx="7040880" cy="3520440"/>
          </a:xfrm>
          <a:prstGeom prst="rect">
            <a:avLst/>
          </a:prstGeom>
        </p:spPr>
      </p:pic>
      <p:sp>
        <p:nvSpPr>
          <p:cNvPr id="13" name="status"/>
          <p:cNvSpPr/>
          <p:nvPr/>
        </p:nvSpPr>
        <p:spPr>
          <a:xfrm>
            <a:off x="9509760" y="457200"/>
            <a:ext cx="2039112" cy="384048"/>
          </a:xfrm>
          <a:prstGeom prst="roundRect">
            <a:avLst>
              <a:gd name="adj" fmla="val 50000"/>
            </a:avLst>
          </a:prstGeom>
          <a:solidFill>
            <a:srgbClr val="FBBF24">
              <a:alpha val="20000"/>
            </a:srgbClr>
          </a:solidFill>
          <a:ln w="9525">
            <a:solidFill>
              <a:srgbClr val="FBBF24"/>
            </a:solidFill>
            <a:prstDash val="solid"/>
          </a:ln>
        </p:spPr>
      </p:sp>
      <p:sp>
        <p:nvSpPr>
          <p:cNvPr id="14" name="Text 11"/>
          <p:cNvSpPr txBox="1"/>
          <p:nvPr/>
        </p:nvSpPr>
        <p:spPr>
          <a:xfrm>
            <a:off x="9509760" y="457200"/>
            <a:ext cx="2039112" cy="384048"/>
          </a:xfrm>
          <a:prstGeom prst="rect">
            <a:avLst/>
          </a:prstGeom>
          <a:noFill/>
          <a:ln/>
        </p:spPr>
        <p:txBody>
          <a:bodyPr wrap="square" lIns="0" tIns="0" rIns="0" bIns="0" rtlCol="0" anchor="ctr"/>
          <a:lstStyle/>
          <a:p>
            <a:pPr algn="ctr" indent="0" marL="0">
              <a:buNone/>
            </a:pPr>
            <a:r>
              <a:rPr lang="en-US" sz="1200" b="1" dirty="0">
                <a:solidFill>
                  <a:srgbClr val="FBBF24"/>
                </a:solidFill>
              </a:rPr>
              <a:t>임시 화면</a:t>
            </a:r>
            <a:endParaRPr lang="en-US" sz="1200" dirty="0"/>
          </a:p>
        </p:txBody>
      </p:sp>
      <p:sp>
        <p:nvSpPr>
          <p:cNvPr id="15" name="card"/>
          <p:cNvSpPr/>
          <p:nvPr/>
        </p:nvSpPr>
        <p:spPr>
          <a:xfrm>
            <a:off x="8138160" y="2148840"/>
            <a:ext cx="3410712" cy="1188720"/>
          </a:xfrm>
          <a:prstGeom prst="roundRect">
            <a:avLst>
              <a:gd name="adj" fmla="val 12308"/>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6" name="dot"/>
          <p:cNvSpPr/>
          <p:nvPr/>
        </p:nvSpPr>
        <p:spPr>
          <a:xfrm>
            <a:off x="8366760" y="2404872"/>
            <a:ext cx="237744" cy="237744"/>
          </a:xfrm>
          <a:prstGeom prst="ellipse">
            <a:avLst/>
          </a:prstGeom>
          <a:solidFill>
            <a:srgbClr val="4F7CFF"/>
          </a:solidFill>
          <a:ln w="12700">
            <a:solidFill>
              <a:srgbClr val="4F7CFF"/>
            </a:solidFill>
            <a:prstDash val="solid"/>
          </a:ln>
        </p:spPr>
      </p:sp>
      <p:sp>
        <p:nvSpPr>
          <p:cNvPr id="17" name="Text 14"/>
          <p:cNvSpPr txBox="1"/>
          <p:nvPr/>
        </p:nvSpPr>
        <p:spPr>
          <a:xfrm>
            <a:off x="8778240" y="2331720"/>
            <a:ext cx="2651760" cy="365760"/>
          </a:xfrm>
          <a:prstGeom prst="rect">
            <a:avLst/>
          </a:prstGeom>
          <a:noFill/>
          <a:ln/>
        </p:spPr>
        <p:txBody>
          <a:bodyPr wrap="square" lIns="0" tIns="0" rIns="0" bIns="0" rtlCol="0" anchor="t"/>
          <a:lstStyle/>
          <a:p>
            <a:pPr indent="0" marL="0">
              <a:buNone/>
            </a:pPr>
            <a:r>
              <a:rPr lang="en-US" sz="1500" b="1" dirty="0">
                <a:solidFill>
                  <a:srgbClr val="F4F6FB"/>
                </a:solidFill>
              </a:rPr>
              <a:t>5단계 업무 흐름</a:t>
            </a:r>
            <a:endParaRPr lang="en-US" sz="1500" dirty="0"/>
          </a:p>
        </p:txBody>
      </p:sp>
      <p:sp>
        <p:nvSpPr>
          <p:cNvPr id="18" name="Text 15"/>
          <p:cNvSpPr txBox="1"/>
          <p:nvPr/>
        </p:nvSpPr>
        <p:spPr>
          <a:xfrm>
            <a:off x="8366760" y="2770632"/>
            <a:ext cx="3017520" cy="502920"/>
          </a:xfrm>
          <a:prstGeom prst="rect">
            <a:avLst/>
          </a:prstGeom>
          <a:noFill/>
          <a:ln/>
        </p:spPr>
        <p:txBody>
          <a:bodyPr wrap="square" lIns="0" tIns="0" rIns="0" bIns="0" rtlCol="0" anchor="t"/>
          <a:lstStyle/>
          <a:p>
            <a:pPr indent="0" marL="0">
              <a:buNone/>
            </a:pPr>
            <a:r>
              <a:rPr lang="en-US" sz="1100" dirty="0">
                <a:solidFill>
                  <a:srgbClr val="9AA5C0"/>
                </a:solidFill>
              </a:rPr>
              <a:t>업로드부터 내보내기까지, 지금 어디인지가 한 화면에 보여요.</a:t>
            </a:r>
            <a:endParaRPr lang="en-US" sz="1100" dirty="0"/>
          </a:p>
        </p:txBody>
      </p:sp>
      <p:sp>
        <p:nvSpPr>
          <p:cNvPr id="19" name="card"/>
          <p:cNvSpPr/>
          <p:nvPr/>
        </p:nvSpPr>
        <p:spPr>
          <a:xfrm>
            <a:off x="8138160" y="3520440"/>
            <a:ext cx="3410712" cy="1188720"/>
          </a:xfrm>
          <a:prstGeom prst="roundRect">
            <a:avLst>
              <a:gd name="adj" fmla="val 12308"/>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0" name="dot"/>
          <p:cNvSpPr/>
          <p:nvPr/>
        </p:nvSpPr>
        <p:spPr>
          <a:xfrm>
            <a:off x="8366760" y="3776472"/>
            <a:ext cx="237744" cy="237744"/>
          </a:xfrm>
          <a:prstGeom prst="ellipse">
            <a:avLst/>
          </a:prstGeom>
          <a:solidFill>
            <a:srgbClr val="8B5CF6"/>
          </a:solidFill>
          <a:ln w="12700">
            <a:solidFill>
              <a:srgbClr val="8B5CF6"/>
            </a:solidFill>
            <a:prstDash val="solid"/>
          </a:ln>
        </p:spPr>
      </p:sp>
      <p:sp>
        <p:nvSpPr>
          <p:cNvPr id="21" name="Text 18"/>
          <p:cNvSpPr txBox="1"/>
          <p:nvPr/>
        </p:nvSpPr>
        <p:spPr>
          <a:xfrm>
            <a:off x="8778240" y="3703320"/>
            <a:ext cx="2651760" cy="365760"/>
          </a:xfrm>
          <a:prstGeom prst="rect">
            <a:avLst/>
          </a:prstGeom>
          <a:noFill/>
          <a:ln/>
        </p:spPr>
        <p:txBody>
          <a:bodyPr wrap="square" lIns="0" tIns="0" rIns="0" bIns="0" rtlCol="0" anchor="t"/>
          <a:lstStyle/>
          <a:p>
            <a:pPr indent="0" marL="0">
              <a:buNone/>
            </a:pPr>
            <a:r>
              <a:rPr lang="en-US" sz="1500" b="1" dirty="0">
                <a:solidFill>
                  <a:srgbClr val="F4F6FB"/>
                </a:solidFill>
              </a:rPr>
              <a:t>Meerkit UI로 구성</a:t>
            </a:r>
            <a:endParaRPr lang="en-US" sz="1500" dirty="0"/>
          </a:p>
        </p:txBody>
      </p:sp>
      <p:sp>
        <p:nvSpPr>
          <p:cNvPr id="22" name="Text 19"/>
          <p:cNvSpPr txBox="1"/>
          <p:nvPr/>
        </p:nvSpPr>
        <p:spPr>
          <a:xfrm>
            <a:off x="8366760" y="4142232"/>
            <a:ext cx="3017520" cy="502920"/>
          </a:xfrm>
          <a:prstGeom prst="rect">
            <a:avLst/>
          </a:prstGeom>
          <a:noFill/>
          <a:ln/>
        </p:spPr>
        <p:txBody>
          <a:bodyPr wrap="square" lIns="0" tIns="0" rIns="0" bIns="0" rtlCol="0" anchor="t"/>
          <a:lstStyle/>
          <a:p>
            <a:pPr indent="0" marL="0">
              <a:buNone/>
            </a:pPr>
            <a:r>
              <a:rPr lang="en-US" sz="1100" dirty="0">
                <a:solidFill>
                  <a:srgbClr val="9AA5C0"/>
                </a:solidFill>
              </a:rPr>
              <a:t>AI 입력창 · 생각 중 표시 · 첨부 영역 · 체크박스를 그대로 가져다 썼어요.</a:t>
            </a:r>
            <a:endParaRPr lang="en-US" sz="1100" dirty="0"/>
          </a:p>
        </p:txBody>
      </p:sp>
      <p:sp>
        <p:nvSpPr>
          <p:cNvPr id="23" name="card"/>
          <p:cNvSpPr/>
          <p:nvPr/>
        </p:nvSpPr>
        <p:spPr>
          <a:xfrm>
            <a:off x="8138160" y="4892040"/>
            <a:ext cx="3410712" cy="1188720"/>
          </a:xfrm>
          <a:prstGeom prst="roundRect">
            <a:avLst>
              <a:gd name="adj" fmla="val 12308"/>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4" name="dot"/>
          <p:cNvSpPr/>
          <p:nvPr/>
        </p:nvSpPr>
        <p:spPr>
          <a:xfrm>
            <a:off x="8366760" y="5148072"/>
            <a:ext cx="237744" cy="237744"/>
          </a:xfrm>
          <a:prstGeom prst="ellipse">
            <a:avLst/>
          </a:prstGeom>
          <a:solidFill>
            <a:srgbClr val="2DD4BF"/>
          </a:solidFill>
          <a:ln w="12700">
            <a:solidFill>
              <a:srgbClr val="2DD4BF"/>
            </a:solidFill>
            <a:prstDash val="solid"/>
          </a:ln>
        </p:spPr>
      </p:sp>
      <p:sp>
        <p:nvSpPr>
          <p:cNvPr id="25" name="Text 22"/>
          <p:cNvSpPr txBox="1"/>
          <p:nvPr/>
        </p:nvSpPr>
        <p:spPr>
          <a:xfrm>
            <a:off x="8778240" y="5074920"/>
            <a:ext cx="2651760" cy="365760"/>
          </a:xfrm>
          <a:prstGeom prst="rect">
            <a:avLst/>
          </a:prstGeom>
          <a:noFill/>
          <a:ln/>
        </p:spPr>
        <p:txBody>
          <a:bodyPr wrap="square" lIns="0" tIns="0" rIns="0" bIns="0" rtlCol="0" anchor="t"/>
          <a:lstStyle/>
          <a:p>
            <a:pPr indent="0" marL="0">
              <a:buNone/>
            </a:pPr>
            <a:r>
              <a:rPr lang="en-US" sz="1500" b="1" dirty="0">
                <a:solidFill>
                  <a:srgbClr val="F4F6FB"/>
                </a:solidFill>
              </a:rPr>
              <a:t>화면부터 먼저</a:t>
            </a:r>
            <a:endParaRPr lang="en-US" sz="1500" dirty="0"/>
          </a:p>
        </p:txBody>
      </p:sp>
      <p:sp>
        <p:nvSpPr>
          <p:cNvPr id="26" name="Text 23"/>
          <p:cNvSpPr txBox="1"/>
          <p:nvPr/>
        </p:nvSpPr>
        <p:spPr>
          <a:xfrm>
            <a:off x="8366760" y="5513832"/>
            <a:ext cx="3017520" cy="502920"/>
          </a:xfrm>
          <a:prstGeom prst="rect">
            <a:avLst/>
          </a:prstGeom>
          <a:noFill/>
          <a:ln/>
        </p:spPr>
        <p:txBody>
          <a:bodyPr wrap="square" lIns="0" tIns="0" rIns="0" bIns="0" rtlCol="0" anchor="t"/>
          <a:lstStyle/>
          <a:p>
            <a:pPr indent="0" marL="0">
              <a:buNone/>
            </a:pPr>
            <a:r>
              <a:rPr lang="en-US" sz="1100" dirty="0">
                <a:solidFill>
                  <a:srgbClr val="9AA5C0"/>
                </a:solidFill>
              </a:rPr>
              <a:t>화면을 먼저 만들었고, 기능은 이어서 붙여 가요.</a:t>
            </a:r>
            <a:endParaRPr lang="en-US" sz="11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
          <p:cNvSpPr/>
          <p:nvPr/>
        </p:nvSpPr>
        <p:spPr>
          <a:xfrm>
            <a:off x="640080" y="411480"/>
            <a:ext cx="2414016" cy="347472"/>
          </a:xfrm>
          <a:prstGeom prst="roundRect">
            <a:avLst>
              <a:gd name="adj" fmla="val 50000"/>
            </a:avLst>
          </a:prstGeom>
          <a:solidFill>
            <a:srgbClr val="2DD4BF">
              <a:alpha val="20000"/>
            </a:srgbClr>
          </a:solidFill>
          <a:ln w="9525">
            <a:solidFill>
              <a:srgbClr val="2DD4BF">
                <a:alpha val="60000"/>
              </a:srgbClr>
            </a:solidFill>
            <a:prstDash val="solid"/>
          </a:ln>
        </p:spPr>
      </p:sp>
      <p:sp>
        <p:nvSpPr>
          <p:cNvPr id="3" name="Text 1"/>
          <p:cNvSpPr txBox="1"/>
          <p:nvPr/>
        </p:nvSpPr>
        <p:spPr>
          <a:xfrm>
            <a:off x="640080" y="411480"/>
            <a:ext cx="2414016" cy="347472"/>
          </a:xfrm>
          <a:prstGeom prst="rect">
            <a:avLst/>
          </a:prstGeom>
          <a:noFill/>
          <a:ln/>
        </p:spPr>
        <p:txBody>
          <a:bodyPr wrap="square" lIns="0" tIns="0" rIns="0" bIns="0" rtlCol="0" anchor="ctr"/>
          <a:lstStyle/>
          <a:p>
            <a:pPr algn="ctr" indent="0" marL="0">
              <a:buNone/>
            </a:pPr>
            <a:r>
              <a:rPr lang="en-US" sz="1200" b="1" spc="200" kern="0" dirty="0">
                <a:solidFill>
                  <a:srgbClr val="2DD4BF"/>
                </a:solidFill>
              </a:rPr>
              <a:t>06 · SUB PROJECT</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매무새는 이렇게 동작한다</a:t>
            </a:r>
            <a:endParaRPr lang="en-US" sz="3800" dirty="0"/>
          </a:p>
        </p:txBody>
      </p:sp>
      <p:sp>
        <p:nvSpPr>
          <p:cNvPr id="5" name="card"/>
          <p:cNvSpPr/>
          <p:nvPr/>
        </p:nvSpPr>
        <p:spPr>
          <a:xfrm>
            <a:off x="640080" y="2194560"/>
            <a:ext cx="2011680" cy="39319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914400" y="2331720"/>
            <a:ext cx="914400" cy="640080"/>
          </a:xfrm>
          <a:prstGeom prst="rect">
            <a:avLst/>
          </a:prstGeom>
          <a:noFill/>
          <a:ln/>
        </p:spPr>
        <p:txBody>
          <a:bodyPr wrap="square" lIns="0" tIns="0" rIns="0" bIns="0" rtlCol="0" anchor="t"/>
          <a:lstStyle/>
          <a:p>
            <a:pPr indent="0" marL="0">
              <a:buNone/>
            </a:pPr>
            <a:r>
              <a:rPr lang="en-US" sz="3400" b="1" dirty="0">
                <a:solidFill>
                  <a:srgbClr val="4F7CFF"/>
                </a:solidFill>
              </a:rPr>
              <a:t>1</a:t>
            </a:r>
            <a:endParaRPr lang="en-US" sz="3400" dirty="0"/>
          </a:p>
        </p:txBody>
      </p:sp>
      <p:sp>
        <p:nvSpPr>
          <p:cNvPr id="7" name="who"/>
          <p:cNvSpPr/>
          <p:nvPr/>
        </p:nvSpPr>
        <p:spPr>
          <a:xfrm>
            <a:off x="914400" y="3017520"/>
            <a:ext cx="914400" cy="292608"/>
          </a:xfrm>
          <a:prstGeom prst="roundRect">
            <a:avLst>
              <a:gd name="adj" fmla="val 50000"/>
            </a:avLst>
          </a:prstGeom>
          <a:solidFill>
            <a:srgbClr val="4F7CFF">
              <a:alpha val="22000"/>
            </a:srgbClr>
          </a:solidFill>
          <a:ln w="9525">
            <a:solidFill>
              <a:srgbClr val="4F7CFF"/>
            </a:solidFill>
            <a:prstDash val="solid"/>
          </a:ln>
        </p:spPr>
      </p:sp>
      <p:sp>
        <p:nvSpPr>
          <p:cNvPr id="8" name="Text 6"/>
          <p:cNvSpPr txBox="1"/>
          <p:nvPr/>
        </p:nvSpPr>
        <p:spPr>
          <a:xfrm>
            <a:off x="914400" y="3017520"/>
            <a:ext cx="914400" cy="292608"/>
          </a:xfrm>
          <a:prstGeom prst="rect">
            <a:avLst/>
          </a:prstGeom>
          <a:noFill/>
          <a:ln/>
        </p:spPr>
        <p:txBody>
          <a:bodyPr wrap="square" lIns="0" tIns="0" rIns="0" bIns="0" rtlCol="0" anchor="ctr"/>
          <a:lstStyle/>
          <a:p>
            <a:pPr algn="ctr" indent="0" marL="0">
              <a:buNone/>
            </a:pPr>
            <a:r>
              <a:rPr lang="en-US" sz="1100" b="1" dirty="0">
                <a:solidFill>
                  <a:srgbClr val="4F7CFF"/>
                </a:solidFill>
              </a:rPr>
              <a:t>관리자</a:t>
            </a:r>
            <a:endParaRPr lang="en-US" sz="1100" dirty="0"/>
          </a:p>
        </p:txBody>
      </p:sp>
      <p:sp>
        <p:nvSpPr>
          <p:cNvPr id="9" name="Text 7"/>
          <p:cNvSpPr txBox="1"/>
          <p:nvPr/>
        </p:nvSpPr>
        <p:spPr>
          <a:xfrm>
            <a:off x="914400" y="3474720"/>
            <a:ext cx="1554480" cy="548640"/>
          </a:xfrm>
          <a:prstGeom prst="rect">
            <a:avLst/>
          </a:prstGeom>
          <a:noFill/>
          <a:ln/>
        </p:spPr>
        <p:txBody>
          <a:bodyPr wrap="square" lIns="0" tIns="0" rIns="0" bIns="0" rtlCol="0" anchor="t"/>
          <a:lstStyle/>
          <a:p>
            <a:pPr indent="0" marL="0">
              <a:buNone/>
            </a:pPr>
            <a:r>
              <a:rPr lang="en-US" sz="1700" b="1" dirty="0">
                <a:solidFill>
                  <a:srgbClr val="F4F6FB"/>
                </a:solidFill>
              </a:rPr>
              <a:t>문서 업로드</a:t>
            </a:r>
            <a:endParaRPr lang="en-US" sz="1700" dirty="0"/>
          </a:p>
        </p:txBody>
      </p:sp>
      <p:sp>
        <p:nvSpPr>
          <p:cNvPr id="10" name="Text 8"/>
          <p:cNvSpPr txBox="1"/>
          <p:nvPr/>
        </p:nvSpPr>
        <p:spPr>
          <a:xfrm>
            <a:off x="914400" y="4069080"/>
            <a:ext cx="1554480" cy="2011680"/>
          </a:xfrm>
          <a:prstGeom prst="rect">
            <a:avLst/>
          </a:prstGeom>
          <a:noFill/>
          <a:ln/>
        </p:spPr>
        <p:txBody>
          <a:bodyPr wrap="square" lIns="0" tIns="0" rIns="0" bIns="0" rtlCol="0" anchor="t"/>
          <a:lstStyle/>
          <a:p>
            <a:pPr indent="0" marL="0">
              <a:buNone/>
            </a:pPr>
            <a:r>
              <a:rPr lang="en-US" sz="1100" dirty="0">
                <a:solidFill>
                  <a:srgbClr val="9AA5C0"/>
                </a:solidFill>
              </a:rPr>
              <a:t>프로젝트를 만들고 고객 문서(텍스트 · docx · pdf)를 올리면 Markdown으로 변환해 저장</a:t>
            </a:r>
            <a:endParaRPr lang="en-US" sz="1100" dirty="0"/>
          </a:p>
        </p:txBody>
      </p:sp>
      <p:sp>
        <p:nvSpPr>
          <p:cNvPr id="11" name="card"/>
          <p:cNvSpPr/>
          <p:nvPr/>
        </p:nvSpPr>
        <p:spPr>
          <a:xfrm>
            <a:off x="2862072" y="2194560"/>
            <a:ext cx="2011680" cy="39319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2" name="Text 10"/>
          <p:cNvSpPr txBox="1"/>
          <p:nvPr/>
        </p:nvSpPr>
        <p:spPr>
          <a:xfrm>
            <a:off x="3136392" y="2331720"/>
            <a:ext cx="914400" cy="640080"/>
          </a:xfrm>
          <a:prstGeom prst="rect">
            <a:avLst/>
          </a:prstGeom>
          <a:noFill/>
          <a:ln/>
        </p:spPr>
        <p:txBody>
          <a:bodyPr wrap="square" lIns="0" tIns="0" rIns="0" bIns="0" rtlCol="0" anchor="t"/>
          <a:lstStyle/>
          <a:p>
            <a:pPr indent="0" marL="0">
              <a:buNone/>
            </a:pPr>
            <a:r>
              <a:rPr lang="en-US" sz="3400" b="1" dirty="0">
                <a:solidFill>
                  <a:srgbClr val="F472B6"/>
                </a:solidFill>
              </a:rPr>
              <a:t>2</a:t>
            </a:r>
            <a:endParaRPr lang="en-US" sz="3400" dirty="0"/>
          </a:p>
        </p:txBody>
      </p:sp>
      <p:sp>
        <p:nvSpPr>
          <p:cNvPr id="13" name="who"/>
          <p:cNvSpPr/>
          <p:nvPr/>
        </p:nvSpPr>
        <p:spPr>
          <a:xfrm>
            <a:off x="3136392" y="3017520"/>
            <a:ext cx="914400" cy="292608"/>
          </a:xfrm>
          <a:prstGeom prst="roundRect">
            <a:avLst>
              <a:gd name="adj" fmla="val 50000"/>
            </a:avLst>
          </a:prstGeom>
          <a:solidFill>
            <a:srgbClr val="F472B6">
              <a:alpha val="22000"/>
            </a:srgbClr>
          </a:solidFill>
          <a:ln w="9525">
            <a:solidFill>
              <a:srgbClr val="F472B6"/>
            </a:solidFill>
            <a:prstDash val="solid"/>
          </a:ln>
        </p:spPr>
      </p:sp>
      <p:sp>
        <p:nvSpPr>
          <p:cNvPr id="14" name="Text 12"/>
          <p:cNvSpPr txBox="1"/>
          <p:nvPr/>
        </p:nvSpPr>
        <p:spPr>
          <a:xfrm>
            <a:off x="3136392" y="3017520"/>
            <a:ext cx="914400" cy="292608"/>
          </a:xfrm>
          <a:prstGeom prst="rect">
            <a:avLst/>
          </a:prstGeom>
          <a:noFill/>
          <a:ln/>
        </p:spPr>
        <p:txBody>
          <a:bodyPr wrap="square" lIns="0" tIns="0" rIns="0" bIns="0" rtlCol="0" anchor="ctr"/>
          <a:lstStyle/>
          <a:p>
            <a:pPr algn="ctr" indent="0" marL="0">
              <a:buNone/>
            </a:pPr>
            <a:r>
              <a:rPr lang="en-US" sz="1100" b="1" dirty="0">
                <a:solidFill>
                  <a:srgbClr val="F472B6"/>
                </a:solidFill>
              </a:rPr>
              <a:t>AI</a:t>
            </a:r>
            <a:endParaRPr lang="en-US" sz="1100" dirty="0"/>
          </a:p>
        </p:txBody>
      </p:sp>
      <p:sp>
        <p:nvSpPr>
          <p:cNvPr id="15" name="Text 13"/>
          <p:cNvSpPr txBox="1"/>
          <p:nvPr/>
        </p:nvSpPr>
        <p:spPr>
          <a:xfrm>
            <a:off x="3136392" y="3474720"/>
            <a:ext cx="1554480" cy="548640"/>
          </a:xfrm>
          <a:prstGeom prst="rect">
            <a:avLst/>
          </a:prstGeom>
          <a:noFill/>
          <a:ln/>
        </p:spPr>
        <p:txBody>
          <a:bodyPr wrap="square" lIns="0" tIns="0" rIns="0" bIns="0" rtlCol="0" anchor="t"/>
          <a:lstStyle/>
          <a:p>
            <a:pPr indent="0" marL="0">
              <a:buNone/>
            </a:pPr>
            <a:r>
              <a:rPr lang="en-US" sz="1700" b="1" dirty="0">
                <a:solidFill>
                  <a:srgbClr val="F4F6FB"/>
                </a:solidFill>
              </a:rPr>
              <a:t>분류 · 정제</a:t>
            </a:r>
            <a:endParaRPr lang="en-US" sz="1700" dirty="0"/>
          </a:p>
        </p:txBody>
      </p:sp>
      <p:sp>
        <p:nvSpPr>
          <p:cNvPr id="16" name="Text 14"/>
          <p:cNvSpPr txBox="1"/>
          <p:nvPr/>
        </p:nvSpPr>
        <p:spPr>
          <a:xfrm>
            <a:off x="3136392" y="4069080"/>
            <a:ext cx="1554480" cy="2011680"/>
          </a:xfrm>
          <a:prstGeom prst="rect">
            <a:avLst/>
          </a:prstGeom>
          <a:noFill/>
          <a:ln/>
        </p:spPr>
        <p:txBody>
          <a:bodyPr wrap="square" lIns="0" tIns="0" rIns="0" bIns="0" rtlCol="0" anchor="t"/>
          <a:lstStyle/>
          <a:p>
            <a:pPr indent="0" marL="0">
              <a:buNone/>
            </a:pPr>
            <a:r>
              <a:rPr lang="en-US" sz="1100" dirty="0">
                <a:solidFill>
                  <a:srgbClr val="9AA5C0"/>
                </a:solidFill>
              </a:rPr>
              <a:t>요구사항 후보를 기능/비기능으로 분류하고 ID · 이름 · 설명 · 우선순위 · 근거 문장을 붙임. 모호하면 확인 질문</a:t>
            </a:r>
            <a:endParaRPr lang="en-US" sz="1100" dirty="0"/>
          </a:p>
        </p:txBody>
      </p:sp>
      <p:sp>
        <p:nvSpPr>
          <p:cNvPr id="17" name="card"/>
          <p:cNvSpPr/>
          <p:nvPr/>
        </p:nvSpPr>
        <p:spPr>
          <a:xfrm>
            <a:off x="5084064" y="2194560"/>
            <a:ext cx="2011680" cy="39319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8" name="Text 16"/>
          <p:cNvSpPr txBox="1"/>
          <p:nvPr/>
        </p:nvSpPr>
        <p:spPr>
          <a:xfrm>
            <a:off x="5358384" y="2331720"/>
            <a:ext cx="914400" cy="640080"/>
          </a:xfrm>
          <a:prstGeom prst="rect">
            <a:avLst/>
          </a:prstGeom>
          <a:noFill/>
          <a:ln/>
        </p:spPr>
        <p:txBody>
          <a:bodyPr wrap="square" lIns="0" tIns="0" rIns="0" bIns="0" rtlCol="0" anchor="t"/>
          <a:lstStyle/>
          <a:p>
            <a:pPr indent="0" marL="0">
              <a:buNone/>
            </a:pPr>
            <a:r>
              <a:rPr lang="en-US" sz="3400" b="1" dirty="0">
                <a:solidFill>
                  <a:srgbClr val="8B5CF6"/>
                </a:solidFill>
              </a:rPr>
              <a:t>3</a:t>
            </a:r>
            <a:endParaRPr lang="en-US" sz="3400" dirty="0"/>
          </a:p>
        </p:txBody>
      </p:sp>
      <p:sp>
        <p:nvSpPr>
          <p:cNvPr id="19" name="who"/>
          <p:cNvSpPr/>
          <p:nvPr/>
        </p:nvSpPr>
        <p:spPr>
          <a:xfrm>
            <a:off x="5358384" y="3017520"/>
            <a:ext cx="914400" cy="292608"/>
          </a:xfrm>
          <a:prstGeom prst="roundRect">
            <a:avLst>
              <a:gd name="adj" fmla="val 50000"/>
            </a:avLst>
          </a:prstGeom>
          <a:solidFill>
            <a:srgbClr val="8B5CF6">
              <a:alpha val="22000"/>
            </a:srgbClr>
          </a:solidFill>
          <a:ln w="9525">
            <a:solidFill>
              <a:srgbClr val="8B5CF6"/>
            </a:solidFill>
            <a:prstDash val="solid"/>
          </a:ln>
        </p:spPr>
      </p:sp>
      <p:sp>
        <p:nvSpPr>
          <p:cNvPr id="20" name="Text 18"/>
          <p:cNvSpPr txBox="1"/>
          <p:nvPr/>
        </p:nvSpPr>
        <p:spPr>
          <a:xfrm>
            <a:off x="5358384" y="3017520"/>
            <a:ext cx="914400" cy="292608"/>
          </a:xfrm>
          <a:prstGeom prst="rect">
            <a:avLst/>
          </a:prstGeom>
          <a:noFill/>
          <a:ln/>
        </p:spPr>
        <p:txBody>
          <a:bodyPr wrap="square" lIns="0" tIns="0" rIns="0" bIns="0" rtlCol="0" anchor="ctr"/>
          <a:lstStyle/>
          <a:p>
            <a:pPr algn="ctr" indent="0" marL="0">
              <a:buNone/>
            </a:pPr>
            <a:r>
              <a:rPr lang="en-US" sz="1100" b="1" dirty="0">
                <a:solidFill>
                  <a:srgbClr val="8B5CF6"/>
                </a:solidFill>
              </a:rPr>
              <a:t>관리자</a:t>
            </a:r>
            <a:endParaRPr lang="en-US" sz="1100" dirty="0"/>
          </a:p>
        </p:txBody>
      </p:sp>
      <p:sp>
        <p:nvSpPr>
          <p:cNvPr id="21" name="Text 19"/>
          <p:cNvSpPr txBox="1"/>
          <p:nvPr/>
        </p:nvSpPr>
        <p:spPr>
          <a:xfrm>
            <a:off x="5358384" y="3474720"/>
            <a:ext cx="1554480" cy="548640"/>
          </a:xfrm>
          <a:prstGeom prst="rect">
            <a:avLst/>
          </a:prstGeom>
          <a:noFill/>
          <a:ln/>
        </p:spPr>
        <p:txBody>
          <a:bodyPr wrap="square" lIns="0" tIns="0" rIns="0" bIns="0" rtlCol="0" anchor="t"/>
          <a:lstStyle/>
          <a:p>
            <a:pPr indent="0" marL="0">
              <a:buNone/>
            </a:pPr>
            <a:r>
              <a:rPr lang="en-US" sz="1700" b="1" dirty="0">
                <a:solidFill>
                  <a:srgbClr val="F4F6FB"/>
                </a:solidFill>
              </a:rPr>
              <a:t>선택 · 확정</a:t>
            </a:r>
            <a:endParaRPr lang="en-US" sz="1700" dirty="0"/>
          </a:p>
        </p:txBody>
      </p:sp>
      <p:sp>
        <p:nvSpPr>
          <p:cNvPr id="22" name="Text 20"/>
          <p:cNvSpPr txBox="1"/>
          <p:nvPr/>
        </p:nvSpPr>
        <p:spPr>
          <a:xfrm>
            <a:off x="5358384" y="4069080"/>
            <a:ext cx="1554480" cy="2011680"/>
          </a:xfrm>
          <a:prstGeom prst="rect">
            <a:avLst/>
          </a:prstGeom>
          <a:noFill/>
          <a:ln/>
        </p:spPr>
        <p:txBody>
          <a:bodyPr wrap="square" lIns="0" tIns="0" rIns="0" bIns="0" rtlCol="0" anchor="t"/>
          <a:lstStyle/>
          <a:p>
            <a:pPr indent="0" marL="0">
              <a:buNone/>
            </a:pPr>
            <a:r>
              <a:rPr lang="en-US" sz="1100" dirty="0">
                <a:solidFill>
                  <a:srgbClr val="9AA5C0"/>
                </a:solidFill>
              </a:rPr>
              <a:t>후보를 체크하고 내용을 고친 뒤 요구사항 정의서를 확정</a:t>
            </a:r>
            <a:endParaRPr lang="en-US" sz="1100" dirty="0"/>
          </a:p>
        </p:txBody>
      </p:sp>
      <p:sp>
        <p:nvSpPr>
          <p:cNvPr id="23" name="card"/>
          <p:cNvSpPr/>
          <p:nvPr/>
        </p:nvSpPr>
        <p:spPr>
          <a:xfrm>
            <a:off x="7306056" y="2194560"/>
            <a:ext cx="2011680" cy="39319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4" name="Text 22"/>
          <p:cNvSpPr txBox="1"/>
          <p:nvPr/>
        </p:nvSpPr>
        <p:spPr>
          <a:xfrm>
            <a:off x="7580376" y="2331720"/>
            <a:ext cx="914400" cy="640080"/>
          </a:xfrm>
          <a:prstGeom prst="rect">
            <a:avLst/>
          </a:prstGeom>
          <a:noFill/>
          <a:ln/>
        </p:spPr>
        <p:txBody>
          <a:bodyPr wrap="square" lIns="0" tIns="0" rIns="0" bIns="0" rtlCol="0" anchor="t"/>
          <a:lstStyle/>
          <a:p>
            <a:pPr indent="0" marL="0">
              <a:buNone/>
            </a:pPr>
            <a:r>
              <a:rPr lang="en-US" sz="3400" b="1" dirty="0">
                <a:solidFill>
                  <a:srgbClr val="F472B6"/>
                </a:solidFill>
              </a:rPr>
              <a:t>4</a:t>
            </a:r>
            <a:endParaRPr lang="en-US" sz="3400" dirty="0"/>
          </a:p>
        </p:txBody>
      </p:sp>
      <p:sp>
        <p:nvSpPr>
          <p:cNvPr id="25" name="who"/>
          <p:cNvSpPr/>
          <p:nvPr/>
        </p:nvSpPr>
        <p:spPr>
          <a:xfrm>
            <a:off x="7580376" y="3017520"/>
            <a:ext cx="914400" cy="292608"/>
          </a:xfrm>
          <a:prstGeom prst="roundRect">
            <a:avLst>
              <a:gd name="adj" fmla="val 50000"/>
            </a:avLst>
          </a:prstGeom>
          <a:solidFill>
            <a:srgbClr val="F472B6">
              <a:alpha val="22000"/>
            </a:srgbClr>
          </a:solidFill>
          <a:ln w="9525">
            <a:solidFill>
              <a:srgbClr val="F472B6"/>
            </a:solidFill>
            <a:prstDash val="solid"/>
          </a:ln>
        </p:spPr>
      </p:sp>
      <p:sp>
        <p:nvSpPr>
          <p:cNvPr id="26" name="Text 24"/>
          <p:cNvSpPr txBox="1"/>
          <p:nvPr/>
        </p:nvSpPr>
        <p:spPr>
          <a:xfrm>
            <a:off x="7580376" y="3017520"/>
            <a:ext cx="914400" cy="292608"/>
          </a:xfrm>
          <a:prstGeom prst="rect">
            <a:avLst/>
          </a:prstGeom>
          <a:noFill/>
          <a:ln/>
        </p:spPr>
        <p:txBody>
          <a:bodyPr wrap="square" lIns="0" tIns="0" rIns="0" bIns="0" rtlCol="0" anchor="ctr"/>
          <a:lstStyle/>
          <a:p>
            <a:pPr algn="ctr" indent="0" marL="0">
              <a:buNone/>
            </a:pPr>
            <a:r>
              <a:rPr lang="en-US" sz="1100" b="1" dirty="0">
                <a:solidFill>
                  <a:srgbClr val="F472B6"/>
                </a:solidFill>
              </a:rPr>
              <a:t>AI</a:t>
            </a:r>
            <a:endParaRPr lang="en-US" sz="1100" dirty="0"/>
          </a:p>
        </p:txBody>
      </p:sp>
      <p:sp>
        <p:nvSpPr>
          <p:cNvPr id="27" name="Text 25"/>
          <p:cNvSpPr txBox="1"/>
          <p:nvPr/>
        </p:nvSpPr>
        <p:spPr>
          <a:xfrm>
            <a:off x="7580376" y="3474720"/>
            <a:ext cx="1554480" cy="548640"/>
          </a:xfrm>
          <a:prstGeom prst="rect">
            <a:avLst/>
          </a:prstGeom>
          <a:noFill/>
          <a:ln/>
        </p:spPr>
        <p:txBody>
          <a:bodyPr wrap="square" lIns="0" tIns="0" rIns="0" bIns="0" rtlCol="0" anchor="t"/>
          <a:lstStyle/>
          <a:p>
            <a:pPr indent="0" marL="0">
              <a:buNone/>
            </a:pPr>
            <a:r>
              <a:rPr lang="en-US" sz="1700" b="1" dirty="0">
                <a:solidFill>
                  <a:srgbClr val="F4F6FB"/>
                </a:solidFill>
              </a:rPr>
              <a:t>기능정의서 생성</a:t>
            </a:r>
            <a:endParaRPr lang="en-US" sz="1700" dirty="0"/>
          </a:p>
        </p:txBody>
      </p:sp>
      <p:sp>
        <p:nvSpPr>
          <p:cNvPr id="28" name="Text 26"/>
          <p:cNvSpPr txBox="1"/>
          <p:nvPr/>
        </p:nvSpPr>
        <p:spPr>
          <a:xfrm>
            <a:off x="7580376" y="4069080"/>
            <a:ext cx="1554480" cy="2011680"/>
          </a:xfrm>
          <a:prstGeom prst="rect">
            <a:avLst/>
          </a:prstGeom>
          <a:noFill/>
          <a:ln/>
        </p:spPr>
        <p:txBody>
          <a:bodyPr wrap="square" lIns="0" tIns="0" rIns="0" bIns="0" rtlCol="0" anchor="t"/>
          <a:lstStyle/>
          <a:p>
            <a:pPr indent="0" marL="0">
              <a:buNone/>
            </a:pPr>
            <a:r>
              <a:rPr lang="en-US" sz="1100" dirty="0">
                <a:solidFill>
                  <a:srgbClr val="9AA5C0"/>
                </a:solidFill>
              </a:rPr>
              <a:t>확정된 요구사항마다 기능 ID · 기능명 · 입출력 · 처리 규칙을 만들고 원 요구사항과 연결</a:t>
            </a:r>
            <a:endParaRPr lang="en-US" sz="1100" dirty="0"/>
          </a:p>
        </p:txBody>
      </p:sp>
      <p:sp>
        <p:nvSpPr>
          <p:cNvPr id="29" name="card"/>
          <p:cNvSpPr/>
          <p:nvPr/>
        </p:nvSpPr>
        <p:spPr>
          <a:xfrm>
            <a:off x="9528048" y="2194560"/>
            <a:ext cx="2011680" cy="3931920"/>
          </a:xfrm>
          <a:prstGeom prst="roundRect">
            <a:avLst>
              <a:gd name="adj" fmla="val 7273"/>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30" name="Text 28"/>
          <p:cNvSpPr txBox="1"/>
          <p:nvPr/>
        </p:nvSpPr>
        <p:spPr>
          <a:xfrm>
            <a:off x="9802368" y="2331720"/>
            <a:ext cx="914400" cy="640080"/>
          </a:xfrm>
          <a:prstGeom prst="rect">
            <a:avLst/>
          </a:prstGeom>
          <a:noFill/>
          <a:ln/>
        </p:spPr>
        <p:txBody>
          <a:bodyPr wrap="square" lIns="0" tIns="0" rIns="0" bIns="0" rtlCol="0" anchor="t"/>
          <a:lstStyle/>
          <a:p>
            <a:pPr indent="0" marL="0">
              <a:buNone/>
            </a:pPr>
            <a:r>
              <a:rPr lang="en-US" sz="3400" b="1" dirty="0">
                <a:solidFill>
                  <a:srgbClr val="2DD4BF"/>
                </a:solidFill>
              </a:rPr>
              <a:t>5</a:t>
            </a:r>
            <a:endParaRPr lang="en-US" sz="3400" dirty="0"/>
          </a:p>
        </p:txBody>
      </p:sp>
      <p:sp>
        <p:nvSpPr>
          <p:cNvPr id="31" name="who"/>
          <p:cNvSpPr/>
          <p:nvPr/>
        </p:nvSpPr>
        <p:spPr>
          <a:xfrm>
            <a:off x="9802368" y="3017520"/>
            <a:ext cx="914400" cy="292608"/>
          </a:xfrm>
          <a:prstGeom prst="roundRect">
            <a:avLst>
              <a:gd name="adj" fmla="val 50000"/>
            </a:avLst>
          </a:prstGeom>
          <a:solidFill>
            <a:srgbClr val="2DD4BF">
              <a:alpha val="22000"/>
            </a:srgbClr>
          </a:solidFill>
          <a:ln w="9525">
            <a:solidFill>
              <a:srgbClr val="2DD4BF"/>
            </a:solidFill>
            <a:prstDash val="solid"/>
          </a:ln>
        </p:spPr>
      </p:sp>
      <p:sp>
        <p:nvSpPr>
          <p:cNvPr id="32" name="Text 30"/>
          <p:cNvSpPr txBox="1"/>
          <p:nvPr/>
        </p:nvSpPr>
        <p:spPr>
          <a:xfrm>
            <a:off x="9802368" y="3017520"/>
            <a:ext cx="914400" cy="292608"/>
          </a:xfrm>
          <a:prstGeom prst="rect">
            <a:avLst/>
          </a:prstGeom>
          <a:noFill/>
          <a:ln/>
        </p:spPr>
        <p:txBody>
          <a:bodyPr wrap="square" lIns="0" tIns="0" rIns="0" bIns="0" rtlCol="0" anchor="ctr"/>
          <a:lstStyle/>
          <a:p>
            <a:pPr algn="ctr" indent="0" marL="0">
              <a:buNone/>
            </a:pPr>
            <a:r>
              <a:rPr lang="en-US" sz="1100" b="1" dirty="0">
                <a:solidFill>
                  <a:srgbClr val="2DD4BF"/>
                </a:solidFill>
              </a:rPr>
              <a:t>웹 · Excel</a:t>
            </a:r>
            <a:endParaRPr lang="en-US" sz="1100" dirty="0"/>
          </a:p>
        </p:txBody>
      </p:sp>
      <p:sp>
        <p:nvSpPr>
          <p:cNvPr id="33" name="Text 31"/>
          <p:cNvSpPr txBox="1"/>
          <p:nvPr/>
        </p:nvSpPr>
        <p:spPr>
          <a:xfrm>
            <a:off x="9802368" y="3474720"/>
            <a:ext cx="1554480" cy="548640"/>
          </a:xfrm>
          <a:prstGeom prst="rect">
            <a:avLst/>
          </a:prstGeom>
          <a:noFill/>
          <a:ln/>
        </p:spPr>
        <p:txBody>
          <a:bodyPr wrap="square" lIns="0" tIns="0" rIns="0" bIns="0" rtlCol="0" anchor="t"/>
          <a:lstStyle/>
          <a:p>
            <a:pPr indent="0" marL="0">
              <a:buNone/>
            </a:pPr>
            <a:r>
              <a:rPr lang="en-US" sz="1700" b="1" dirty="0">
                <a:solidFill>
                  <a:srgbClr val="F4F6FB"/>
                </a:solidFill>
              </a:rPr>
              <a:t>내보내기</a:t>
            </a:r>
            <a:endParaRPr lang="en-US" sz="1700" dirty="0"/>
          </a:p>
        </p:txBody>
      </p:sp>
      <p:sp>
        <p:nvSpPr>
          <p:cNvPr id="34" name="Text 32"/>
          <p:cNvSpPr txBox="1"/>
          <p:nvPr/>
        </p:nvSpPr>
        <p:spPr>
          <a:xfrm>
            <a:off x="9802368" y="4069080"/>
            <a:ext cx="1554480" cy="2011680"/>
          </a:xfrm>
          <a:prstGeom prst="rect">
            <a:avLst/>
          </a:prstGeom>
          <a:noFill/>
          <a:ln/>
        </p:spPr>
        <p:txBody>
          <a:bodyPr wrap="square" lIns="0" tIns="0" rIns="0" bIns="0" rtlCol="0" anchor="t"/>
          <a:lstStyle/>
          <a:p>
            <a:pPr indent="0" marL="0">
              <a:buNone/>
            </a:pPr>
            <a:r>
              <a:rPr lang="en-US" sz="1100" dirty="0">
                <a:solidFill>
                  <a:srgbClr val="9AA5C0"/>
                </a:solidFill>
              </a:rPr>
              <a:t>웹 화면에서 조회하고, 요구사항 정의서 · 기능정의서 · 추적표를 Excel로 다운로드</a:t>
            </a:r>
            <a:endParaRPr lang="en-US" sz="11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ag"/>
          <p:cNvSpPr/>
          <p:nvPr/>
        </p:nvSpPr>
        <p:spPr>
          <a:xfrm>
            <a:off x="640080" y="411480"/>
            <a:ext cx="2414016" cy="347472"/>
          </a:xfrm>
          <a:prstGeom prst="roundRect">
            <a:avLst>
              <a:gd name="adj" fmla="val 50000"/>
            </a:avLst>
          </a:prstGeom>
          <a:solidFill>
            <a:srgbClr val="2DD4BF">
              <a:alpha val="20000"/>
            </a:srgbClr>
          </a:solidFill>
          <a:ln w="9525">
            <a:solidFill>
              <a:srgbClr val="2DD4BF">
                <a:alpha val="60000"/>
              </a:srgbClr>
            </a:solidFill>
            <a:prstDash val="solid"/>
          </a:ln>
        </p:spPr>
      </p:sp>
      <p:sp>
        <p:nvSpPr>
          <p:cNvPr id="3" name="Text 1"/>
          <p:cNvSpPr txBox="1"/>
          <p:nvPr/>
        </p:nvSpPr>
        <p:spPr>
          <a:xfrm>
            <a:off x="640080" y="411480"/>
            <a:ext cx="2414016" cy="347472"/>
          </a:xfrm>
          <a:prstGeom prst="rect">
            <a:avLst/>
          </a:prstGeom>
          <a:noFill/>
          <a:ln/>
        </p:spPr>
        <p:txBody>
          <a:bodyPr wrap="square" lIns="0" tIns="0" rIns="0" bIns="0" rtlCol="0" anchor="ctr"/>
          <a:lstStyle/>
          <a:p>
            <a:pPr algn="ctr" indent="0" marL="0">
              <a:buNone/>
            </a:pPr>
            <a:r>
              <a:rPr lang="en-US" sz="1200" b="1" spc="200" kern="0" dirty="0">
                <a:solidFill>
                  <a:srgbClr val="2DD4BF"/>
                </a:solidFill>
              </a:rPr>
              <a:t>06 · SUB PROJECT</a:t>
            </a:r>
            <a:endParaRPr lang="en-US" sz="1200" dirty="0"/>
          </a:p>
        </p:txBody>
      </p:sp>
      <p:sp>
        <p:nvSpPr>
          <p:cNvPr id="4" name="title"/>
          <p:cNvSpPr txBox="1"/>
          <p:nvPr/>
        </p:nvSpPr>
        <p:spPr>
          <a:xfrm>
            <a:off x="640080" y="960120"/>
            <a:ext cx="10881360" cy="822960"/>
          </a:xfrm>
          <a:prstGeom prst="rect">
            <a:avLst/>
          </a:prstGeom>
          <a:noFill/>
          <a:ln/>
        </p:spPr>
        <p:txBody>
          <a:bodyPr wrap="square" lIns="0" tIns="0" rIns="0" bIns="0" rtlCol="0" anchor="t"/>
          <a:lstStyle/>
          <a:p>
            <a:pPr indent="0" marL="0">
              <a:buNone/>
            </a:pPr>
            <a:r>
              <a:rPr lang="en-US" sz="3800" b="1" dirty="0">
                <a:solidFill>
                  <a:srgbClr val="F4F6FB"/>
                </a:solidFill>
              </a:rPr>
              <a:t>매무새의 바닥은 Meerkit이 깐다</a:t>
            </a:r>
            <a:endParaRPr lang="en-US" sz="3800" dirty="0"/>
          </a:p>
        </p:txBody>
      </p:sp>
      <p:sp>
        <p:nvSpPr>
          <p:cNvPr id="5" name="card"/>
          <p:cNvSpPr/>
          <p:nvPr/>
        </p:nvSpPr>
        <p:spPr>
          <a:xfrm>
            <a:off x="640080" y="2194560"/>
            <a:ext cx="7498080"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4"/>
          <p:cNvSpPr txBox="1"/>
          <p:nvPr/>
        </p:nvSpPr>
        <p:spPr>
          <a:xfrm>
            <a:off x="914400" y="2194560"/>
            <a:ext cx="3657600" cy="868680"/>
          </a:xfrm>
          <a:prstGeom prst="rect">
            <a:avLst/>
          </a:prstGeom>
          <a:noFill/>
          <a:ln/>
        </p:spPr>
        <p:txBody>
          <a:bodyPr wrap="square" lIns="0" tIns="0" rIns="0" bIns="0" rtlCol="0" anchor="ctr"/>
          <a:lstStyle/>
          <a:p>
            <a:pPr indent="0" marL="0">
              <a:buNone/>
            </a:pPr>
            <a:r>
              <a:rPr lang="en-US" sz="1500" b="1" dirty="0">
                <a:solidFill>
                  <a:srgbClr val="F4F6FB"/>
                </a:solidFill>
              </a:rPr>
              <a:t>관리자만 프로젝트를 만들고 확정한다</a:t>
            </a:r>
            <a:endParaRPr lang="en-US" sz="1500" dirty="0"/>
          </a:p>
        </p:txBody>
      </p:sp>
      <p:sp>
        <p:nvSpPr>
          <p:cNvPr id="7" name="arrow"/>
          <p:cNvSpPr/>
          <p:nvPr/>
        </p:nvSpPr>
        <p:spPr>
          <a:xfrm>
            <a:off x="4572000" y="2628900"/>
            <a:ext cx="457200" cy="0"/>
          </a:xfrm>
          <a:prstGeom prst="line">
            <a:avLst/>
          </a:prstGeom>
          <a:noFill/>
          <a:ln w="25400">
            <a:solidFill>
              <a:srgbClr val="C58A4B"/>
            </a:solidFill>
            <a:prstDash val="solid"/>
            <a:tailEnd type="triangle"/>
          </a:ln>
        </p:spPr>
      </p:sp>
      <p:sp>
        <p:nvSpPr>
          <p:cNvPr id="8" name="chip"/>
          <p:cNvSpPr/>
          <p:nvPr/>
        </p:nvSpPr>
        <p:spPr>
          <a:xfrm>
            <a:off x="5166360" y="2304288"/>
            <a:ext cx="2788920" cy="649224"/>
          </a:xfrm>
          <a:prstGeom prst="roundRect">
            <a:avLst>
              <a:gd name="adj" fmla="val 49296"/>
            </a:avLst>
          </a:prstGeom>
          <a:solidFill>
            <a:srgbClr val="4F7CFF">
              <a:alpha val="25000"/>
            </a:srgbClr>
          </a:solidFill>
          <a:ln w="9525">
            <a:solidFill>
              <a:srgbClr val="4F7CFF"/>
            </a:solidFill>
            <a:prstDash val="solid"/>
          </a:ln>
        </p:spPr>
      </p:sp>
      <p:sp>
        <p:nvSpPr>
          <p:cNvPr id="9" name="Text 7"/>
          <p:cNvSpPr txBox="1"/>
          <p:nvPr/>
        </p:nvSpPr>
        <p:spPr>
          <a:xfrm>
            <a:off x="5166360" y="2304288"/>
            <a:ext cx="2788920" cy="649224"/>
          </a:xfrm>
          <a:prstGeom prst="rect">
            <a:avLst/>
          </a:prstGeom>
          <a:noFill/>
          <a:ln/>
        </p:spPr>
        <p:txBody>
          <a:bodyPr wrap="square" lIns="0" tIns="0" rIns="0" bIns="0" rtlCol="0" anchor="ctr"/>
          <a:lstStyle/>
          <a:p>
            <a:pPr algn="ctr" indent="0" marL="0">
              <a:buNone/>
            </a:pPr>
            <a:r>
              <a:rPr lang="en-US" sz="1200" b="1" dirty="0">
                <a:solidFill>
                  <a:srgbClr val="F4F6FB"/>
                </a:solidFill>
              </a:rPr>
              <a:t>가입 · 로그인 + 역할 관리</a:t>
            </a:r>
            <a:endParaRPr lang="en-US" sz="1200" dirty="0"/>
          </a:p>
        </p:txBody>
      </p:sp>
      <p:sp>
        <p:nvSpPr>
          <p:cNvPr id="10" name="card"/>
          <p:cNvSpPr/>
          <p:nvPr/>
        </p:nvSpPr>
        <p:spPr>
          <a:xfrm>
            <a:off x="640080" y="3200400"/>
            <a:ext cx="7498080"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1" name="Text 9"/>
          <p:cNvSpPr txBox="1"/>
          <p:nvPr/>
        </p:nvSpPr>
        <p:spPr>
          <a:xfrm>
            <a:off x="914400" y="3200400"/>
            <a:ext cx="3657600" cy="868680"/>
          </a:xfrm>
          <a:prstGeom prst="rect">
            <a:avLst/>
          </a:prstGeom>
          <a:noFill/>
          <a:ln/>
        </p:spPr>
        <p:txBody>
          <a:bodyPr wrap="square" lIns="0" tIns="0" rIns="0" bIns="0" rtlCol="0" anchor="ctr"/>
          <a:lstStyle/>
          <a:p>
            <a:pPr indent="0" marL="0">
              <a:buNone/>
            </a:pPr>
            <a:r>
              <a:rPr lang="en-US" sz="1500" b="1" dirty="0">
                <a:solidFill>
                  <a:srgbClr val="F4F6FB"/>
                </a:solidFill>
              </a:rPr>
              <a:t>고객 문서를 올린다</a:t>
            </a:r>
            <a:endParaRPr lang="en-US" sz="1500" dirty="0"/>
          </a:p>
        </p:txBody>
      </p:sp>
      <p:sp>
        <p:nvSpPr>
          <p:cNvPr id="12" name="arrow"/>
          <p:cNvSpPr/>
          <p:nvPr/>
        </p:nvSpPr>
        <p:spPr>
          <a:xfrm>
            <a:off x="4572000" y="3634740"/>
            <a:ext cx="457200" cy="0"/>
          </a:xfrm>
          <a:prstGeom prst="line">
            <a:avLst/>
          </a:prstGeom>
          <a:noFill/>
          <a:ln w="25400">
            <a:solidFill>
              <a:srgbClr val="C58A4B"/>
            </a:solidFill>
            <a:prstDash val="solid"/>
            <a:tailEnd type="triangle"/>
          </a:ln>
        </p:spPr>
      </p:sp>
      <p:sp>
        <p:nvSpPr>
          <p:cNvPr id="13" name="chip"/>
          <p:cNvSpPr/>
          <p:nvPr/>
        </p:nvSpPr>
        <p:spPr>
          <a:xfrm>
            <a:off x="5166360" y="3310128"/>
            <a:ext cx="2788920" cy="649224"/>
          </a:xfrm>
          <a:prstGeom prst="roundRect">
            <a:avLst>
              <a:gd name="adj" fmla="val 49296"/>
            </a:avLst>
          </a:prstGeom>
          <a:solidFill>
            <a:srgbClr val="8B5CF6">
              <a:alpha val="25000"/>
            </a:srgbClr>
          </a:solidFill>
          <a:ln w="9525">
            <a:solidFill>
              <a:srgbClr val="8B5CF6"/>
            </a:solidFill>
            <a:prstDash val="solid"/>
          </a:ln>
        </p:spPr>
      </p:sp>
      <p:sp>
        <p:nvSpPr>
          <p:cNvPr id="14" name="Text 12"/>
          <p:cNvSpPr txBox="1"/>
          <p:nvPr/>
        </p:nvSpPr>
        <p:spPr>
          <a:xfrm>
            <a:off x="5166360" y="3310128"/>
            <a:ext cx="2788920" cy="649224"/>
          </a:xfrm>
          <a:prstGeom prst="rect">
            <a:avLst/>
          </a:prstGeom>
          <a:noFill/>
          <a:ln/>
        </p:spPr>
        <p:txBody>
          <a:bodyPr wrap="square" lIns="0" tIns="0" rIns="0" bIns="0" rtlCol="0" anchor="ctr"/>
          <a:lstStyle/>
          <a:p>
            <a:pPr algn="ctr" indent="0" marL="0">
              <a:buNone/>
            </a:pPr>
            <a:r>
              <a:rPr lang="en-US" sz="1200" b="1" dirty="0">
                <a:solidFill>
                  <a:srgbClr val="F4F6FB"/>
                </a:solidFill>
              </a:rPr>
              <a:t>첨부파일 영역</a:t>
            </a:r>
            <a:endParaRPr lang="en-US" sz="1200" dirty="0"/>
          </a:p>
        </p:txBody>
      </p:sp>
      <p:sp>
        <p:nvSpPr>
          <p:cNvPr id="15" name="card"/>
          <p:cNvSpPr/>
          <p:nvPr/>
        </p:nvSpPr>
        <p:spPr>
          <a:xfrm>
            <a:off x="640080" y="4206240"/>
            <a:ext cx="7498080"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16" name="Text 14"/>
          <p:cNvSpPr txBox="1"/>
          <p:nvPr/>
        </p:nvSpPr>
        <p:spPr>
          <a:xfrm>
            <a:off x="914400" y="4206240"/>
            <a:ext cx="3657600" cy="868680"/>
          </a:xfrm>
          <a:prstGeom prst="rect">
            <a:avLst/>
          </a:prstGeom>
          <a:noFill/>
          <a:ln/>
        </p:spPr>
        <p:txBody>
          <a:bodyPr wrap="square" lIns="0" tIns="0" rIns="0" bIns="0" rtlCol="0" anchor="ctr"/>
          <a:lstStyle/>
          <a:p>
            <a:pPr indent="0" marL="0">
              <a:buNone/>
            </a:pPr>
            <a:r>
              <a:rPr lang="en-US" sz="1500" b="1" dirty="0">
                <a:solidFill>
                  <a:srgbClr val="F4F6FB"/>
                </a:solidFill>
              </a:rPr>
              <a:t>AI에게 분류 · 생성을 요청한다</a:t>
            </a:r>
            <a:endParaRPr lang="en-US" sz="1500" dirty="0"/>
          </a:p>
        </p:txBody>
      </p:sp>
      <p:sp>
        <p:nvSpPr>
          <p:cNvPr id="17" name="arrow"/>
          <p:cNvSpPr/>
          <p:nvPr/>
        </p:nvSpPr>
        <p:spPr>
          <a:xfrm>
            <a:off x="4572000" y="4640580"/>
            <a:ext cx="457200" cy="0"/>
          </a:xfrm>
          <a:prstGeom prst="line">
            <a:avLst/>
          </a:prstGeom>
          <a:noFill/>
          <a:ln w="25400">
            <a:solidFill>
              <a:srgbClr val="C58A4B"/>
            </a:solidFill>
            <a:prstDash val="solid"/>
            <a:tailEnd type="triangle"/>
          </a:ln>
        </p:spPr>
      </p:sp>
      <p:sp>
        <p:nvSpPr>
          <p:cNvPr id="18" name="chip"/>
          <p:cNvSpPr/>
          <p:nvPr/>
        </p:nvSpPr>
        <p:spPr>
          <a:xfrm>
            <a:off x="5166360" y="4315968"/>
            <a:ext cx="2788920" cy="649224"/>
          </a:xfrm>
          <a:prstGeom prst="roundRect">
            <a:avLst>
              <a:gd name="adj" fmla="val 49296"/>
            </a:avLst>
          </a:prstGeom>
          <a:solidFill>
            <a:srgbClr val="F472B6">
              <a:alpha val="25000"/>
            </a:srgbClr>
          </a:solidFill>
          <a:ln w="9525">
            <a:solidFill>
              <a:srgbClr val="F472B6"/>
            </a:solidFill>
            <a:prstDash val="solid"/>
          </a:ln>
        </p:spPr>
      </p:sp>
      <p:sp>
        <p:nvSpPr>
          <p:cNvPr id="19" name="Text 17"/>
          <p:cNvSpPr txBox="1"/>
          <p:nvPr/>
        </p:nvSpPr>
        <p:spPr>
          <a:xfrm>
            <a:off x="5166360" y="4315968"/>
            <a:ext cx="2788920" cy="649224"/>
          </a:xfrm>
          <a:prstGeom prst="rect">
            <a:avLst/>
          </a:prstGeom>
          <a:noFill/>
          <a:ln/>
        </p:spPr>
        <p:txBody>
          <a:bodyPr wrap="square" lIns="0" tIns="0" rIns="0" bIns="0" rtlCol="0" anchor="ctr"/>
          <a:lstStyle/>
          <a:p>
            <a:pPr algn="ctr" indent="0" marL="0">
              <a:buNone/>
            </a:pPr>
            <a:r>
              <a:rPr lang="en-US" sz="1200" b="1" dirty="0">
                <a:solidFill>
                  <a:srgbClr val="F4F6FB"/>
                </a:solidFill>
              </a:rPr>
              <a:t>AI 입력창 + 생각 중 표시</a:t>
            </a:r>
            <a:endParaRPr lang="en-US" sz="1200" dirty="0"/>
          </a:p>
        </p:txBody>
      </p:sp>
      <p:sp>
        <p:nvSpPr>
          <p:cNvPr id="20" name="card"/>
          <p:cNvSpPr/>
          <p:nvPr/>
        </p:nvSpPr>
        <p:spPr>
          <a:xfrm>
            <a:off x="640080" y="5212080"/>
            <a:ext cx="7498080" cy="868680"/>
          </a:xfrm>
          <a:prstGeom prst="roundRect">
            <a:avLst>
              <a:gd name="adj" fmla="val 16842"/>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21" name="Text 19"/>
          <p:cNvSpPr txBox="1"/>
          <p:nvPr/>
        </p:nvSpPr>
        <p:spPr>
          <a:xfrm>
            <a:off x="914400" y="5212080"/>
            <a:ext cx="3657600" cy="868680"/>
          </a:xfrm>
          <a:prstGeom prst="rect">
            <a:avLst/>
          </a:prstGeom>
          <a:noFill/>
          <a:ln/>
        </p:spPr>
        <p:txBody>
          <a:bodyPr wrap="square" lIns="0" tIns="0" rIns="0" bIns="0" rtlCol="0" anchor="ctr"/>
          <a:lstStyle/>
          <a:p>
            <a:pPr indent="0" marL="0">
              <a:buNone/>
            </a:pPr>
            <a:r>
              <a:rPr lang="en-US" sz="1500" b="1" dirty="0">
                <a:solidFill>
                  <a:srgbClr val="F4F6FB"/>
                </a:solidFill>
              </a:rPr>
              <a:t>서비스를 운영한다</a:t>
            </a:r>
            <a:endParaRPr lang="en-US" sz="1500" dirty="0"/>
          </a:p>
        </p:txBody>
      </p:sp>
      <p:sp>
        <p:nvSpPr>
          <p:cNvPr id="22" name="arrow"/>
          <p:cNvSpPr/>
          <p:nvPr/>
        </p:nvSpPr>
        <p:spPr>
          <a:xfrm>
            <a:off x="4572000" y="5646420"/>
            <a:ext cx="457200" cy="0"/>
          </a:xfrm>
          <a:prstGeom prst="line">
            <a:avLst/>
          </a:prstGeom>
          <a:noFill/>
          <a:ln w="25400">
            <a:solidFill>
              <a:srgbClr val="C58A4B"/>
            </a:solidFill>
            <a:prstDash val="solid"/>
            <a:tailEnd type="triangle"/>
          </a:ln>
        </p:spPr>
      </p:sp>
      <p:sp>
        <p:nvSpPr>
          <p:cNvPr id="23" name="chip"/>
          <p:cNvSpPr/>
          <p:nvPr/>
        </p:nvSpPr>
        <p:spPr>
          <a:xfrm>
            <a:off x="5166360" y="5321808"/>
            <a:ext cx="2788920" cy="649224"/>
          </a:xfrm>
          <a:prstGeom prst="roundRect">
            <a:avLst>
              <a:gd name="adj" fmla="val 49296"/>
            </a:avLst>
          </a:prstGeom>
          <a:solidFill>
            <a:srgbClr val="2DD4BF">
              <a:alpha val="25000"/>
            </a:srgbClr>
          </a:solidFill>
          <a:ln w="9525">
            <a:solidFill>
              <a:srgbClr val="2DD4BF"/>
            </a:solidFill>
            <a:prstDash val="solid"/>
          </a:ln>
        </p:spPr>
      </p:sp>
      <p:sp>
        <p:nvSpPr>
          <p:cNvPr id="24" name="Text 22"/>
          <p:cNvSpPr txBox="1"/>
          <p:nvPr/>
        </p:nvSpPr>
        <p:spPr>
          <a:xfrm>
            <a:off x="5166360" y="5321808"/>
            <a:ext cx="2788920" cy="649224"/>
          </a:xfrm>
          <a:prstGeom prst="rect">
            <a:avLst/>
          </a:prstGeom>
          <a:noFill/>
          <a:ln/>
        </p:spPr>
        <p:txBody>
          <a:bodyPr wrap="square" lIns="0" tIns="0" rIns="0" bIns="0" rtlCol="0" anchor="ctr"/>
          <a:lstStyle/>
          <a:p>
            <a:pPr algn="ctr" indent="0" marL="0">
              <a:buNone/>
            </a:pPr>
            <a:r>
              <a:rPr lang="en-US" sz="1200" b="1" dirty="0">
                <a:solidFill>
                  <a:srgbClr val="F4F6FB"/>
                </a:solidFill>
              </a:rPr>
              <a:t>관리자 화면 (멤버 · 역할)</a:t>
            </a:r>
            <a:endParaRPr lang="en-US" sz="1200" dirty="0"/>
          </a:p>
        </p:txBody>
      </p:sp>
      <p:sp>
        <p:nvSpPr>
          <p:cNvPr id="25" name="card"/>
          <p:cNvSpPr/>
          <p:nvPr/>
        </p:nvSpPr>
        <p:spPr>
          <a:xfrm>
            <a:off x="8412480" y="2194560"/>
            <a:ext cx="3136392" cy="3794760"/>
          </a:xfrm>
          <a:prstGeom prst="roundRect">
            <a:avLst>
              <a:gd name="adj" fmla="val 4665"/>
            </a:avLst>
          </a:prstGeom>
          <a:solidFill>
            <a:srgbClr val="1A2340"/>
          </a:solidFill>
          <a:ln w="9525">
            <a:solidFill>
              <a:srgbClr val="2DD4BF"/>
            </a:solidFill>
            <a:prstDash val="solid"/>
          </a:ln>
          <a:effectLst>
            <a:outerShdw sx="100000" sy="100000" kx="0" ky="0" algn="bl" rotWithShape="0" blurRad="152400" dist="38100" dir="5400000">
              <a:srgbClr val="000000">
                <a:alpha val="35000"/>
              </a:srgbClr>
            </a:outerShdw>
          </a:effectLst>
        </p:spPr>
      </p:sp>
      <p:sp>
        <p:nvSpPr>
          <p:cNvPr id="26" name="Text 24"/>
          <p:cNvSpPr txBox="1"/>
          <p:nvPr/>
        </p:nvSpPr>
        <p:spPr>
          <a:xfrm>
            <a:off x="8732520" y="2377440"/>
            <a:ext cx="2560320" cy="274320"/>
          </a:xfrm>
          <a:prstGeom prst="rect">
            <a:avLst/>
          </a:prstGeom>
          <a:noFill/>
          <a:ln/>
        </p:spPr>
        <p:txBody>
          <a:bodyPr wrap="square" lIns="0" tIns="0" rIns="0" bIns="0" rtlCol="0" anchor="t"/>
          <a:lstStyle/>
          <a:p>
            <a:pPr indent="0" marL="0">
              <a:buNone/>
            </a:pPr>
            <a:r>
              <a:rPr lang="en-US" sz="1100" b="1" spc="300" kern="0" dirty="0">
                <a:solidFill>
                  <a:srgbClr val="2DD4BF"/>
                </a:solidFill>
              </a:rPr>
              <a:t>그래서</a:t>
            </a:r>
            <a:endParaRPr lang="en-US" sz="1100" dirty="0"/>
          </a:p>
        </p:txBody>
      </p:sp>
      <p:sp>
        <p:nvSpPr>
          <p:cNvPr id="27" name="Text 25"/>
          <p:cNvSpPr txBox="1"/>
          <p:nvPr/>
        </p:nvSpPr>
        <p:spPr>
          <a:xfrm>
            <a:off x="8732520" y="2743200"/>
            <a:ext cx="2560320" cy="1005840"/>
          </a:xfrm>
          <a:prstGeom prst="rect">
            <a:avLst/>
          </a:prstGeom>
          <a:noFill/>
          <a:ln/>
        </p:spPr>
        <p:txBody>
          <a:bodyPr wrap="square" lIns="0" tIns="0" rIns="0" bIns="0" rtlCol="0" anchor="t"/>
          <a:lstStyle/>
          <a:p>
            <a:pPr indent="0" marL="0">
              <a:buNone/>
            </a:pPr>
            <a:r>
              <a:rPr lang="en-US" sz="2000" b="1" dirty="0">
                <a:solidFill>
                  <a:srgbClr val="F4F6FB"/>
                </a:solidFill>
              </a:rPr>
              <a:t>인증 · 권한 · 화면은 Meerkit이</a:t>
            </a:r>
            <a:endParaRPr lang="en-US" sz="2000" dirty="0"/>
          </a:p>
        </p:txBody>
      </p:sp>
      <p:sp>
        <p:nvSpPr>
          <p:cNvPr id="28" name="Text 26"/>
          <p:cNvSpPr txBox="1"/>
          <p:nvPr/>
        </p:nvSpPr>
        <p:spPr>
          <a:xfrm>
            <a:off x="8732520" y="3931920"/>
            <a:ext cx="2560320" cy="1005840"/>
          </a:xfrm>
          <a:prstGeom prst="rect">
            <a:avLst/>
          </a:prstGeom>
          <a:noFill/>
          <a:ln/>
        </p:spPr>
        <p:txBody>
          <a:bodyPr wrap="square" lIns="0" tIns="0" rIns="0" bIns="0" rtlCol="0" anchor="t"/>
          <a:lstStyle/>
          <a:p>
            <a:pPr indent="0" marL="0">
              <a:buNone/>
            </a:pPr>
            <a:r>
              <a:rPr lang="en-US" sz="1600" dirty="0">
                <a:solidFill>
                  <a:srgbClr val="C7D0E6"/>
                </a:solidFill>
              </a:rPr>
              <a:t>매무새는 문서를 다듬는 일에만 집중한다</a:t>
            </a:r>
            <a:endParaRPr lang="en-US" sz="1600" dirty="0"/>
          </a:p>
        </p:txBody>
      </p:sp>
      <p:sp>
        <p:nvSpPr>
          <p:cNvPr id="29" name="Text 27"/>
          <p:cNvSpPr txBox="1"/>
          <p:nvPr/>
        </p:nvSpPr>
        <p:spPr>
          <a:xfrm>
            <a:off x="8732520" y="5029200"/>
            <a:ext cx="2560320" cy="822960"/>
          </a:xfrm>
          <a:prstGeom prst="rect">
            <a:avLst/>
          </a:prstGeom>
          <a:noFill/>
          <a:ln/>
        </p:spPr>
        <p:txBody>
          <a:bodyPr wrap="square" lIns="0" tIns="0" rIns="0" bIns="0" rtlCol="0" anchor="t"/>
          <a:lstStyle/>
          <a:p>
            <a:pPr indent="0" marL="0">
              <a:buNone/>
            </a:pPr>
            <a:r>
              <a:rPr lang="en-US" sz="1200" dirty="0">
                <a:solidFill>
                  <a:srgbClr val="9AA5C0"/>
                </a:solidFill>
              </a:rPr>
              <a:t>공통 기반이 받쳐 주면, 서비스는 아이디어만 올리면 된다.</a:t>
            </a:r>
            <a:endParaRPr lang="en-US" sz="12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C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Meerkit logo">    </p:cNvPr>
          <p:cNvPicPr>
            <a:picLocks noChangeAspect="1"/>
          </p:cNvPicPr>
          <p:nvPr/>
        </p:nvPicPr>
        <p:blipFill>
          <a:blip r:embed="rId1"/>
          <a:stretch>
            <a:fillRect/>
          </a:stretch>
        </p:blipFill>
        <p:spPr>
          <a:xfrm>
            <a:off x="731520" y="640080"/>
            <a:ext cx="1005840" cy="1005840"/>
          </a:xfrm>
          <a:prstGeom prst="rect">
            <a:avLst/>
          </a:prstGeom>
        </p:spPr>
      </p:pic>
      <p:sp>
        <p:nvSpPr>
          <p:cNvPr id="3" name="Text 0"/>
          <p:cNvSpPr txBox="1"/>
          <p:nvPr/>
        </p:nvSpPr>
        <p:spPr>
          <a:xfrm>
            <a:off x="731520" y="1920240"/>
            <a:ext cx="10515600" cy="822960"/>
          </a:xfrm>
          <a:prstGeom prst="rect">
            <a:avLst/>
          </a:prstGeom>
          <a:noFill/>
          <a:ln/>
        </p:spPr>
        <p:txBody>
          <a:bodyPr wrap="square" lIns="0" tIns="0" rIns="0" bIns="0" rtlCol="0" anchor="t"/>
          <a:lstStyle/>
          <a:p>
            <a:pPr indent="0" marL="0">
              <a:buNone/>
            </a:pPr>
            <a:r>
              <a:rPr lang="en-US" sz="4000" b="1" dirty="0">
                <a:solidFill>
                  <a:srgbClr val="F4F6FB"/>
                </a:solidFill>
              </a:rPr>
              <a:t>AI 서비스의 뼈대는 킷이 준비하고,</a:t>
            </a:r>
            <a:endParaRPr lang="en-US" sz="4000" dirty="0"/>
          </a:p>
        </p:txBody>
      </p:sp>
      <p:sp>
        <p:nvSpPr>
          <p:cNvPr id="4" name="Text 1"/>
          <p:cNvSpPr txBox="1"/>
          <p:nvPr/>
        </p:nvSpPr>
        <p:spPr>
          <a:xfrm>
            <a:off x="731520" y="2697480"/>
            <a:ext cx="10515600" cy="822960"/>
          </a:xfrm>
          <a:prstGeom prst="rect">
            <a:avLst/>
          </a:prstGeom>
          <a:noFill/>
          <a:ln/>
        </p:spPr>
        <p:txBody>
          <a:bodyPr wrap="square" lIns="0" tIns="0" rIns="0" bIns="0" rtlCol="0" anchor="t"/>
          <a:lstStyle/>
          <a:p>
            <a:pPr indent="0" marL="0">
              <a:buNone/>
            </a:pPr>
            <a:r>
              <a:rPr lang="en-US" sz="4000" b="1" dirty="0">
                <a:solidFill>
                  <a:srgbClr val="2DD4BF"/>
                </a:solidFill>
              </a:rPr>
              <a:t>우리는 서비스 아이디어에만 집중한다.</a:t>
            </a:r>
            <a:endParaRPr lang="en-US" sz="4000" dirty="0"/>
          </a:p>
        </p:txBody>
      </p:sp>
      <p:sp>
        <p:nvSpPr>
          <p:cNvPr id="5" name="card"/>
          <p:cNvSpPr/>
          <p:nvPr/>
        </p:nvSpPr>
        <p:spPr>
          <a:xfrm>
            <a:off x="731520" y="4023360"/>
            <a:ext cx="10424160" cy="1463040"/>
          </a:xfrm>
          <a:prstGeom prst="roundRect">
            <a:avLst>
              <a:gd name="adj" fmla="val 10000"/>
            </a:avLst>
          </a:prstGeom>
          <a:solidFill>
            <a:srgbClr val="141B30"/>
          </a:solidFill>
          <a:ln w="9525">
            <a:solidFill>
              <a:srgbClr val="2A3556"/>
            </a:solidFill>
            <a:prstDash val="solid"/>
          </a:ln>
          <a:effectLst>
            <a:outerShdw sx="100000" sy="100000" kx="0" ky="0" algn="bl" rotWithShape="0" blurRad="152400" dist="38100" dir="5400000">
              <a:srgbClr val="000000">
                <a:alpha val="35000"/>
              </a:srgbClr>
            </a:outerShdw>
          </a:effectLst>
        </p:spPr>
      </p:sp>
      <p:sp>
        <p:nvSpPr>
          <p:cNvPr id="6" name="Text 3"/>
          <p:cNvSpPr txBox="1"/>
          <p:nvPr/>
        </p:nvSpPr>
        <p:spPr>
          <a:xfrm>
            <a:off x="1097280" y="4206240"/>
            <a:ext cx="9692640" cy="365760"/>
          </a:xfrm>
          <a:prstGeom prst="rect">
            <a:avLst/>
          </a:prstGeom>
          <a:noFill/>
          <a:ln/>
        </p:spPr>
        <p:txBody>
          <a:bodyPr wrap="square" lIns="0" tIns="0" rIns="0" bIns="0" rtlCol="0" anchor="t"/>
          <a:lstStyle/>
          <a:p>
            <a:pPr indent="0" marL="0">
              <a:buNone/>
            </a:pPr>
            <a:r>
              <a:rPr lang="en-US" sz="1400" b="1" spc="200" kern="0" dirty="0">
                <a:solidFill>
                  <a:srgbClr val="2DD4BF"/>
                </a:solidFill>
              </a:rPr>
              <a:t>서브 프로젝트 「매무새」</a:t>
            </a:r>
            <a:endParaRPr lang="en-US" sz="1400" dirty="0"/>
          </a:p>
        </p:txBody>
      </p:sp>
      <p:sp>
        <p:nvSpPr>
          <p:cNvPr id="7" name="Text 4"/>
          <p:cNvSpPr txBox="1"/>
          <p:nvPr/>
        </p:nvSpPr>
        <p:spPr>
          <a:xfrm>
            <a:off x="1097280" y="4663440"/>
            <a:ext cx="9692640" cy="640080"/>
          </a:xfrm>
          <a:prstGeom prst="rect">
            <a:avLst/>
          </a:prstGeom>
          <a:noFill/>
          <a:ln/>
        </p:spPr>
        <p:txBody>
          <a:bodyPr wrap="square" lIns="0" tIns="0" rIns="0" bIns="0" rtlCol="0" anchor="t"/>
          <a:lstStyle/>
          <a:p>
            <a:pPr indent="0" marL="0">
              <a:buNone/>
            </a:pPr>
            <a:r>
              <a:rPr lang="en-US" sz="2200" b="1" dirty="0">
                <a:solidFill>
                  <a:srgbClr val="F4F6FB"/>
                </a:solidFill>
              </a:rPr>
              <a:t>Meerkit 위에 얹어, 이 킷이 얼마나 완성도 있는 공통 기반인지 보여 줍니다.</a:t>
            </a:r>
            <a:endParaRPr lang="en-US" sz="2200" dirty="0"/>
          </a:p>
        </p:txBody>
      </p:sp>
      <p:sp>
        <p:nvSpPr>
          <p:cNvPr id="8" name="Text 5"/>
          <p:cNvSpPr txBox="1"/>
          <p:nvPr/>
        </p:nvSpPr>
        <p:spPr>
          <a:xfrm>
            <a:off x="731520" y="6035040"/>
            <a:ext cx="10058400" cy="320040"/>
          </a:xfrm>
          <a:prstGeom prst="rect">
            <a:avLst/>
          </a:prstGeom>
          <a:noFill/>
          <a:ln/>
        </p:spPr>
        <p:txBody>
          <a:bodyPr wrap="square" lIns="0" tIns="0" rIns="0" bIns="0" rtlCol="0" anchor="t"/>
          <a:lstStyle/>
          <a:p>
            <a:pPr indent="0" marL="0">
              <a:buNone/>
            </a:pPr>
            <a:r>
              <a:rPr lang="en-US" sz="1300" dirty="0">
                <a:solidFill>
                  <a:srgbClr val="9AA5C0"/>
                </a:solidFill>
              </a:rPr>
              <a:t>감사합니다   |   github.com/sensibly00-glitch/meerkit</a:t>
            </a:r>
            <a:endParaRPr lang="en-US" sz="1300" dirty="0"/>
          </a:p>
        </p:txBody>
      </p:sp>
    </p:spTree>
  </p:cSld>
  <p:clrMapOvr>
    <a:masterClrMapping/>
  </p:clrMapOvr>
</p:sld>
</file>

<file path=ppt/theme/theme1.xml><?xml version="1.0" encoding="utf-8"?>
<a:theme xmlns:a="http://schemas.openxmlformats.org/drawingml/2006/main" name="Meerkit">
  <a:themeElements>
    <a:clrScheme name="Meerkit">
      <a:dk1>
        <a:srgbClr val="0B1020"/>
      </a:dk1>
      <a:lt1>
        <a:srgbClr val="FFFFFF"/>
      </a:lt1>
      <a:dk2>
        <a:srgbClr val="141B30"/>
      </a:dk2>
      <a:lt2>
        <a:srgbClr val="F4F6FB"/>
      </a:lt2>
      <a:accent1>
        <a:srgbClr val="4F7CFF"/>
      </a:accent1>
      <a:accent2>
        <a:srgbClr val="8B5CF6"/>
      </a:accent2>
      <a:accent3>
        <a:srgbClr val="F472B6"/>
      </a:accent3>
      <a:accent4>
        <a:srgbClr val="2DD4BF"/>
      </a:accent4>
      <a:accent5>
        <a:srgbClr val="FBBF24"/>
      </a:accent5>
      <a:accent6>
        <a:srgbClr val="9AA5C0"/>
      </a:accent6>
      <a:hlink>
        <a:srgbClr val="4F7CFF"/>
      </a:hlink>
      <a:folHlink>
        <a:srgbClr val="8B5CF6"/>
      </a:folHlink>
    </a:clrScheme>
    <a:fontScheme name="Meerki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Meerkit</dc:title>
  <dc:subject>PptxGenJS Presentation</dc:subject>
  <dc:creator>Meerkit</dc:creator>
  <cp:lastModifiedBy>Meerkit</cp:lastModifiedBy>
  <cp:revision>1</cp:revision>
  <dcterms:created xsi:type="dcterms:W3CDTF">2026-10-22T08:03:33Z</dcterms:created>
  <dcterms:modified xsi:type="dcterms:W3CDTF">2026-10-22T08:03:33Z</dcterms:modified>
</cp:coreProperties>
</file>